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0" y="4572000"/>
            <a:ext cx="4572000" cy="4572000"/>
          </a:xfrm>
          <a:prstGeom prst="ellipse">
            <a:avLst/>
          </a:prstGeom>
          <a:solidFill>
            <a:srgbClr val="2563EB">
              <a:alpha val="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-2743200" y="-2743200"/>
            <a:ext cx="8229600" cy="822960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00400"/>
            <a:ext cx="7315200" cy="7315200"/>
          </a:xfrm>
          <a:prstGeom prst="ellipse">
            <a:avLst/>
          </a:prstGeom>
          <a:solidFill>
            <a:srgbClr val="2563EB">
              <a:alpha val="9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572000" y="-1828800"/>
            <a:ext cx="3657600" cy="3657600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0"/>
            <a:ext cx="2743" cy="68580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28800" y="0"/>
            <a:ext cx="2743" cy="68580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0" y="0"/>
            <a:ext cx="2743" cy="68580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657600" y="0"/>
            <a:ext cx="2743" cy="68580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0" y="0"/>
            <a:ext cx="2743" cy="68580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0" y="0"/>
            <a:ext cx="2743" cy="68580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0" y="0"/>
            <a:ext cx="2743" cy="68580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0" y="0"/>
            <a:ext cx="2743" cy="68580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229600" y="0"/>
            <a:ext cx="2743" cy="68580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0" y="0"/>
            <a:ext cx="2743" cy="68580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058400" y="0"/>
            <a:ext cx="2743" cy="68580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972800" y="0"/>
            <a:ext cx="2743" cy="68580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887200" y="0"/>
            <a:ext cx="2743" cy="68580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914400"/>
            <a:ext cx="12191695" cy="2743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1828800"/>
            <a:ext cx="12191695" cy="2743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2743200"/>
            <a:ext cx="12191695" cy="2743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657600"/>
            <a:ext cx="12191695" cy="2743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572000"/>
            <a:ext cx="12191695" cy="2743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5486400"/>
            <a:ext cx="12191695" cy="2743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6400800"/>
            <a:ext cx="12191695" cy="2743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0"/>
            <a:ext cx="6095848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1" name="Shape 29"/>
          <p:cNvSpPr/>
          <p:nvPr/>
        </p:nvSpPr>
        <p:spPr>
          <a:xfrm>
            <a:off x="6095848" y="0"/>
            <a:ext cx="6095848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1051560"/>
            <a:ext cx="2788920" cy="27432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10515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 Partner Program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作る人も、届ける人も。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731520" y="23774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エムスタ上で、新しい収益事業を始める。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731520" y="32004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1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アプリ制作・紹介・テンプレート販売を通じて、継続収益を生み出すためのパートナープログラムです。</a:t>
            </a:r>
            <a:endParaRPr lang="en-US" sz="11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1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制作会社・開発会社・デザイナーだけでなく、営業会社、業界メディア運営者、個人クリエイター、副業で新しい収益機会を探す方まで参加できます。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49808" y="4233672"/>
            <a:ext cx="2240280" cy="960120"/>
          </a:xfrm>
          <a:prstGeom prst="roundRect">
            <a:avLst>
              <a:gd name="adj" fmla="val 15238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31520" y="4206240"/>
            <a:ext cx="2240280" cy="960120"/>
          </a:xfrm>
          <a:prstGeom prst="roundRect">
            <a:avLst>
              <a:gd name="adj" fmla="val 15238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40664" y="4215384"/>
            <a:ext cx="2221992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43434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🛠</a:t>
            </a:r>
            <a:endParaRPr lang="en-US" sz="1900" dirty="0"/>
          </a:p>
        </p:txBody>
      </p:sp>
      <p:sp>
        <p:nvSpPr>
          <p:cNvPr id="41" name="Text 39"/>
          <p:cNvSpPr/>
          <p:nvPr/>
        </p:nvSpPr>
        <p:spPr>
          <a:xfrm>
            <a:off x="1417320" y="437083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417320" y="47091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アプリ制作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218688" y="4233672"/>
            <a:ext cx="2240280" cy="960120"/>
          </a:xfrm>
          <a:prstGeom prst="roundRect">
            <a:avLst>
              <a:gd name="adj" fmla="val 15238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3200400" y="4206240"/>
            <a:ext cx="2240280" cy="960120"/>
          </a:xfrm>
          <a:prstGeom prst="roundRect">
            <a:avLst>
              <a:gd name="adj" fmla="val 15238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09544" y="4215384"/>
            <a:ext cx="2221992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43434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📣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3886200" y="437083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紹介する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3886200" y="47091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紹介コード送客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687568" y="4233672"/>
            <a:ext cx="2240280" cy="960120"/>
          </a:xfrm>
          <a:prstGeom prst="roundRect">
            <a:avLst>
              <a:gd name="adj" fmla="val 15238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669280" y="4206240"/>
            <a:ext cx="2240280" cy="960120"/>
          </a:xfrm>
          <a:prstGeom prst="roundRect">
            <a:avLst>
              <a:gd name="adj" fmla="val 15238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78424" y="4215384"/>
            <a:ext cx="2221992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2" name="Text 50"/>
          <p:cNvSpPr/>
          <p:nvPr/>
        </p:nvSpPr>
        <p:spPr>
          <a:xfrm>
            <a:off x="5852160" y="43434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🏪</a:t>
            </a:r>
            <a:endParaRPr lang="en-US" sz="1900" dirty="0"/>
          </a:p>
        </p:txBody>
      </p:sp>
      <p:sp>
        <p:nvSpPr>
          <p:cNvPr id="53" name="Text 51"/>
          <p:cNvSpPr/>
          <p:nvPr/>
        </p:nvSpPr>
        <p:spPr>
          <a:xfrm>
            <a:off x="6355080" y="437083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売る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355080" y="47091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テンプレート販売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731520" y="548640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12284A"/>
          </a:solidFill>
          <a:ln w="7620">
            <a:solidFill>
              <a:srgbClr val="06B6D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31520" y="548640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登録費用 ¥0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474720" y="548640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12284A"/>
          </a:solidFill>
          <a:ln w="7620">
            <a:solidFill>
              <a:srgbClr val="06B6D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474720" y="548640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最大レベニューシェア 35%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217920" y="548640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12284A"/>
          </a:solidFill>
          <a:ln w="7620">
            <a:solidFill>
              <a:srgbClr val="06B6D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217920" y="548640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 / 紹介 / テンプレート販売に対応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8961120" y="548640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12284A"/>
          </a:solidFill>
          <a:ln w="7620">
            <a:solidFill>
              <a:srgbClr val="06B6D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961120" y="548640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 / iOS / Android 対応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4A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Confidential  ·  R117 Inc.  · 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1572768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OVERVIEW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この資料で分かること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31520" y="1554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1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エムスタを活用して、アプリ制作・紹介・テンプレート販売を収益化するための全体像をまとめています。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58952" y="2414016"/>
            <a:ext cx="3520440" cy="1783080"/>
          </a:xfrm>
          <a:prstGeom prst="roundRect">
            <a:avLst>
              <a:gd name="adj" fmla="val 8205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377440"/>
            <a:ext cx="352044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606040"/>
            <a:ext cx="594360" cy="59436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26060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dirty="0">
                <a:solidFill>
                  <a:srgbClr val="000000"/>
                </a:solidFill>
              </a:rPr>
              <a:t>🗺</a:t>
            </a:r>
            <a:endParaRPr lang="en-US" sz="1430" dirty="0"/>
          </a:p>
        </p:txBody>
      </p:sp>
      <p:sp>
        <p:nvSpPr>
          <p:cNvPr id="15" name="Text 13"/>
          <p:cNvSpPr/>
          <p:nvPr/>
        </p:nvSpPr>
        <p:spPr>
          <a:xfrm>
            <a:off x="3566160" y="25146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BEAF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691640" y="2743200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1691640" y="2743200"/>
            <a:ext cx="768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エムスタで始められる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アプリビジネスの全体像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53712" y="2414016"/>
            <a:ext cx="3520440" cy="1783080"/>
          </a:xfrm>
          <a:prstGeom prst="roundRect">
            <a:avLst>
              <a:gd name="adj" fmla="val 8205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26280" y="2377440"/>
            <a:ext cx="352044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4880" y="2606040"/>
            <a:ext cx="594360" cy="59436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26060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dirty="0">
                <a:solidFill>
                  <a:srgbClr val="000000"/>
                </a:solidFill>
              </a:rPr>
              <a:t>🧭</a:t>
            </a:r>
            <a:endParaRPr lang="en-US" sz="1430" dirty="0"/>
          </a:p>
        </p:txBody>
      </p:sp>
      <p:sp>
        <p:nvSpPr>
          <p:cNvPr id="23" name="Text 21"/>
          <p:cNvSpPr/>
          <p:nvPr/>
        </p:nvSpPr>
        <p:spPr>
          <a:xfrm>
            <a:off x="7360920" y="25146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BEAF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5486400" y="2743200"/>
            <a:ext cx="886968" cy="27432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0" y="2743200"/>
            <a:ext cx="886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参加方法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800600" y="3337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パートナー制度の種類と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自分に合う参加方法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348472" y="2414016"/>
            <a:ext cx="3520440" cy="1783080"/>
          </a:xfrm>
          <a:prstGeom prst="roundRect">
            <a:avLst>
              <a:gd name="adj" fmla="val 8205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8321040" y="2377440"/>
            <a:ext cx="352044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49640" y="2606040"/>
            <a:ext cx="594360" cy="59436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8549640" y="26060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dirty="0">
                <a:solidFill>
                  <a:srgbClr val="000000"/>
                </a:solidFill>
              </a:rPr>
              <a:t>💰</a:t>
            </a:r>
            <a:endParaRPr lang="en-US" sz="1430" dirty="0"/>
          </a:p>
        </p:txBody>
      </p:sp>
      <p:sp>
        <p:nvSpPr>
          <p:cNvPr id="31" name="Text 29"/>
          <p:cNvSpPr/>
          <p:nvPr/>
        </p:nvSpPr>
        <p:spPr>
          <a:xfrm>
            <a:off x="11155680" y="25146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BEAF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281160" y="2743200"/>
            <a:ext cx="649224" cy="27432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33" name="Text 31"/>
          <p:cNvSpPr/>
          <p:nvPr/>
        </p:nvSpPr>
        <p:spPr>
          <a:xfrm>
            <a:off x="9281160" y="2743200"/>
            <a:ext cx="649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8595360" y="3337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レベニューシェアと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収益シミュレーション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58952" y="4425696"/>
            <a:ext cx="3520440" cy="1783080"/>
          </a:xfrm>
          <a:prstGeom prst="roundRect">
            <a:avLst>
              <a:gd name="adj" fmla="val 8205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31520" y="4389120"/>
            <a:ext cx="352044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0120" y="4617720"/>
            <a:ext cx="594360" cy="59436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960120" y="46177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dirty="0">
                <a:solidFill>
                  <a:srgbClr val="000000"/>
                </a:solidFill>
              </a:rPr>
              <a:t>🔗</a:t>
            </a:r>
            <a:endParaRPr lang="en-US" sz="1430" dirty="0"/>
          </a:p>
        </p:txBody>
      </p:sp>
      <p:sp>
        <p:nvSpPr>
          <p:cNvPr id="39" name="Text 37"/>
          <p:cNvSpPr/>
          <p:nvPr/>
        </p:nvSpPr>
        <p:spPr>
          <a:xfrm>
            <a:off x="3566160" y="45262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BEAF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200" dirty="0"/>
          </a:p>
        </p:txBody>
      </p:sp>
      <p:sp>
        <p:nvSpPr>
          <p:cNvPr id="40" name="Shape 38"/>
          <p:cNvSpPr/>
          <p:nvPr/>
        </p:nvSpPr>
        <p:spPr>
          <a:xfrm>
            <a:off x="1691640" y="475488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41" name="Text 39"/>
          <p:cNvSpPr/>
          <p:nvPr/>
        </p:nvSpPr>
        <p:spPr>
          <a:xfrm>
            <a:off x="1691640" y="47548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組み込み方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005840" y="53492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既存事業・自社媒体への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組み込み方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53712" y="4425696"/>
            <a:ext cx="3520440" cy="1783080"/>
          </a:xfrm>
          <a:prstGeom prst="roundRect">
            <a:avLst>
              <a:gd name="adj" fmla="val 8205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526280" y="4389120"/>
            <a:ext cx="352044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54880" y="4617720"/>
            <a:ext cx="594360" cy="59436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4754880" y="46177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dirty="0">
                <a:solidFill>
                  <a:srgbClr val="000000"/>
                </a:solidFill>
              </a:rPr>
              <a:t>📅</a:t>
            </a:r>
            <a:endParaRPr lang="en-US" sz="1430" dirty="0"/>
          </a:p>
        </p:txBody>
      </p:sp>
      <p:sp>
        <p:nvSpPr>
          <p:cNvPr id="47" name="Text 45"/>
          <p:cNvSpPr/>
          <p:nvPr/>
        </p:nvSpPr>
        <p:spPr>
          <a:xfrm>
            <a:off x="7360920" y="45262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BEAF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2200" dirty="0"/>
          </a:p>
        </p:txBody>
      </p:sp>
      <p:sp>
        <p:nvSpPr>
          <p:cNvPr id="48" name="Shape 46"/>
          <p:cNvSpPr/>
          <p:nvPr/>
        </p:nvSpPr>
        <p:spPr>
          <a:xfrm>
            <a:off x="5486400" y="4754880"/>
            <a:ext cx="886968" cy="27432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49" name="Text 47"/>
          <p:cNvSpPr/>
          <p:nvPr/>
        </p:nvSpPr>
        <p:spPr>
          <a:xfrm>
            <a:off x="5486400" y="4754880"/>
            <a:ext cx="886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初月行動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800600" y="53492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登録後30日で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やるべきアクション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348472" y="4425696"/>
            <a:ext cx="3520440" cy="1783080"/>
          </a:xfrm>
          <a:prstGeom prst="roundRect">
            <a:avLst>
              <a:gd name="adj" fmla="val 8205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321040" y="4389120"/>
            <a:ext cx="352044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549640" y="4617720"/>
            <a:ext cx="594360" cy="59436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8549640" y="46177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dirty="0">
                <a:solidFill>
                  <a:srgbClr val="000000"/>
                </a:solidFill>
              </a:rPr>
              <a:t>🚀</a:t>
            </a:r>
            <a:endParaRPr lang="en-US" sz="1430" dirty="0"/>
          </a:p>
        </p:txBody>
      </p:sp>
      <p:sp>
        <p:nvSpPr>
          <p:cNvPr id="55" name="Text 53"/>
          <p:cNvSpPr/>
          <p:nvPr/>
        </p:nvSpPr>
        <p:spPr>
          <a:xfrm>
            <a:off x="11155680" y="45262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BEAF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2200" dirty="0"/>
          </a:p>
        </p:txBody>
      </p:sp>
      <p:sp>
        <p:nvSpPr>
          <p:cNvPr id="56" name="Shape 54"/>
          <p:cNvSpPr/>
          <p:nvPr/>
        </p:nvSpPr>
        <p:spPr>
          <a:xfrm>
            <a:off x="9281160" y="4754880"/>
            <a:ext cx="1124712" cy="27432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57" name="Text 55"/>
          <p:cNvSpPr/>
          <p:nvPr/>
        </p:nvSpPr>
        <p:spPr>
          <a:xfrm>
            <a:off x="9281160" y="4754880"/>
            <a:ext cx="1124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次のステップ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595360" y="53492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パートナー登録・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オンライン相談までの流れ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資料を読み終えたとき、「自分はどう動けばよいか」が判断できる状態を目指しています。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3364992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3273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MS STUDIO, WHY NOW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AI時代に、新しい仕事場と収益源をつくる。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31520" y="1554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1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これから重要になるのは、単に作業を請け負うことではなく、自分の強みを活かして、継続的な収益機会を持てる場所に参加することです。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58952" y="2414016"/>
            <a:ext cx="5212080" cy="3383280"/>
          </a:xfrm>
          <a:prstGeom prst="roundRect">
            <a:avLst>
              <a:gd name="adj" fmla="val 4324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377440"/>
            <a:ext cx="5212080" cy="338328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260604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5C6B7E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2606040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AI時代の変化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05840" y="30632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AIにより、制作業務の単価や役割が変化している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05840" y="35661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Web制作や単発案件だけでは、継続収益を作りにくい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05840" y="4069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副業・リモートで始められる収益機会への需要が拡大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05840" y="45720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制作できる人だけでなく、紹介できる人・届けられる人にも価値がある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05840" y="50749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業界知識や顧客接点を持つ人が、アプリビジネスに参加できる時代に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45352" y="2414016"/>
            <a:ext cx="5257800" cy="3383280"/>
          </a:xfrm>
          <a:prstGeom prst="roundRect">
            <a:avLst>
              <a:gd name="adj" fmla="val 4324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217920" y="2377440"/>
            <a:ext cx="5257800" cy="338328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92240" y="2606040"/>
            <a:ext cx="1719072" cy="274320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2606040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強みが収益機会へ変わる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492240" y="3108960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DBEAFE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0" y="31089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制作スキル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699248" y="3108960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DBEAFE"/>
          </a:solidFill>
          <a:ln/>
        </p:spPr>
      </p:sp>
      <p:sp>
        <p:nvSpPr>
          <p:cNvPr id="27" name="Text 25"/>
          <p:cNvSpPr/>
          <p:nvPr/>
        </p:nvSpPr>
        <p:spPr>
          <a:xfrm>
            <a:off x="7699248" y="31089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営業力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906256" y="3108960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DBEAFE"/>
          </a:solidFill>
          <a:ln/>
        </p:spPr>
      </p:sp>
      <p:sp>
        <p:nvSpPr>
          <p:cNvPr id="29" name="Text 27"/>
          <p:cNvSpPr/>
          <p:nvPr/>
        </p:nvSpPr>
        <p:spPr>
          <a:xfrm>
            <a:off x="8906256" y="31089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業界知識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113264" y="3108960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DBEAFE"/>
          </a:solidFill>
          <a:ln/>
        </p:spPr>
      </p:sp>
      <p:sp>
        <p:nvSpPr>
          <p:cNvPr id="31" name="Text 29"/>
          <p:cNvSpPr/>
          <p:nvPr/>
        </p:nvSpPr>
        <p:spPr>
          <a:xfrm>
            <a:off x="10113264" y="31089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発信力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641080" y="3520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949440" y="3886200"/>
            <a:ext cx="3840480" cy="502920"/>
          </a:xfrm>
          <a:prstGeom prst="roundRect">
            <a:avLst>
              <a:gd name="adj" fmla="val 21818"/>
            </a:avLst>
          </a:prstGeom>
          <a:solidFill>
            <a:srgbClr val="0A1A33"/>
          </a:solidFill>
          <a:ln/>
        </p:spPr>
      </p:sp>
      <p:sp>
        <p:nvSpPr>
          <p:cNvPr id="34" name="Text 32"/>
          <p:cNvSpPr/>
          <p:nvPr/>
        </p:nvSpPr>
        <p:spPr>
          <a:xfrm>
            <a:off x="6949440" y="38862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641080" y="440740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492240" y="4754880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7620">
            <a:solidFill>
              <a:srgbClr val="06B6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92240" y="475488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制作収益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699248" y="4754880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7620">
            <a:solidFill>
              <a:srgbClr val="06B6D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699248" y="475488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紹介収益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906256" y="4754880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7620">
            <a:solidFill>
              <a:srgbClr val="06B6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06256" y="475488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テンプレ販売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113264" y="4754880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7620">
            <a:solidFill>
              <a:srgbClr val="06B6D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113264" y="475488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継続レベニュー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492240" y="53035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制作スキル、営業力、業界知識、発信力を、アプリビジネスの収益機会へ。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371600" y="6080760"/>
            <a:ext cx="9418320" cy="457200"/>
          </a:xfrm>
          <a:prstGeom prst="roundRect">
            <a:avLst>
              <a:gd name="adj" fmla="val 50000"/>
            </a:avLst>
          </a:prstGeom>
          <a:solidFill>
            <a:srgbClr val="0A1A33"/>
          </a:solidFill>
          <a:ln/>
        </p:spPr>
      </p:sp>
      <p:sp>
        <p:nvSpPr>
          <p:cNvPr id="46" name="Text 44"/>
          <p:cNvSpPr/>
          <p:nvPr/>
        </p:nvSpPr>
        <p:spPr>
          <a:xfrm>
            <a:off x="1371600" y="608076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エムスタは、AI時代に自分の強みを収益機会へ変えるための、アプリビジネス基盤です。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212848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CHALLENGE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単発の仕事だけでは、収益が積み上がりにくい。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31520" y="1554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1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制作会社、営業会社、個人クリエイター、副業ワーカー。立場は違っても、多くの人が「一度きりの仕事」や「毎月ゼロからの獲得」に課題を感じています。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657600" y="22402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337560" y="265176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制作会社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983480" y="22402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📞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63440" y="265176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営業会社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309360" y="22402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🎨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989320" y="265176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個人クリエイター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635240" y="22402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🌙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315200" y="265176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副業ワーカー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758952" y="3054096"/>
            <a:ext cx="5212080" cy="3017520"/>
          </a:xfrm>
          <a:prstGeom prst="roundRect">
            <a:avLst>
              <a:gd name="adj" fmla="val 4848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" y="3017520"/>
            <a:ext cx="5212080" cy="301752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0664" y="3026664"/>
            <a:ext cx="5193792" cy="64008"/>
          </a:xfrm>
          <a:prstGeom prst="rect">
            <a:avLst/>
          </a:prstGeom>
          <a:solidFill>
            <a:srgbClr val="9AA8B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5840" y="32461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5C6B7E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32461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従来モデル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05840" y="3611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単発型 / 労働集約型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05840" y="4069080"/>
            <a:ext cx="4663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  案件が終わると売上も止まる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05840" y="4453128"/>
            <a:ext cx="4663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  毎月、新しい案件や顧客を探す必要がある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05840" y="4837176"/>
            <a:ext cx="4663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  自分の稼働時間に収益が依存しやすい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05840" y="5221224"/>
            <a:ext cx="4663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  制作や営業の成果が資産化しにくい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05840" y="5605272"/>
            <a:ext cx="4663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  副業でも、単価の低い作業に寄りやすい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45352" y="3054096"/>
            <a:ext cx="5257800" cy="3017520"/>
          </a:xfrm>
          <a:prstGeom prst="roundRect">
            <a:avLst>
              <a:gd name="adj" fmla="val 4848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217920" y="3017520"/>
            <a:ext cx="5257800" cy="301752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7064" y="3026664"/>
            <a:ext cx="5239512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3" name="Shape 31"/>
          <p:cNvSpPr/>
          <p:nvPr/>
        </p:nvSpPr>
        <p:spPr>
          <a:xfrm>
            <a:off x="6492240" y="324612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3246120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エムスタモデル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492240" y="3611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参加型 / 積み上げ型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492240" y="406908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制作費を得る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92240" y="445312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月額レベニューシェアを得る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92240" y="4837176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紹介コード経由の利用から継続収益を得る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92240" y="5221224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テンプレートや業界特化UIを販売する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92240" y="5605272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成功事例や紹介導線が次の信用になる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371600" y="6263640"/>
            <a:ext cx="9418320" cy="411480"/>
          </a:xfrm>
          <a:prstGeom prst="roundRect">
            <a:avLst>
              <a:gd name="adj" fmla="val 48889"/>
            </a:avLst>
          </a:prstGeom>
          <a:solidFill>
            <a:srgbClr val="06B6D4">
              <a:alpha val="12000"/>
            </a:srgbClr>
          </a:solidFill>
          <a:ln w="7620">
            <a:solidFill>
              <a:srgbClr val="06B6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371600" y="6263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一度きりの仕事を、継続収益と信用が積み上がる活動へ。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1956816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18653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NEW OPTIONS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アプリを「作る・紹介する・売る」を収益化できるプラットフォーム。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31520" y="1554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1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エムスタは、Web / iOS / Androidに対応したアプリをCMS付きで構築・運用できるプラットフォームです。パートナーは、自社の強みに合わせて、制作・紹介・テンプレート販売のいずれからでも参加できます。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58952" y="2596896"/>
            <a:ext cx="3520440" cy="3200400"/>
          </a:xfrm>
          <a:prstGeom prst="roundRect">
            <a:avLst>
              <a:gd name="adj" fmla="val 4571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560320"/>
            <a:ext cx="3520440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0664" y="2569464"/>
            <a:ext cx="35021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Shape 12"/>
          <p:cNvSpPr/>
          <p:nvPr/>
        </p:nvSpPr>
        <p:spPr>
          <a:xfrm>
            <a:off x="2057400" y="2788920"/>
            <a:ext cx="868680" cy="86868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2057400" y="2788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90" dirty="0">
                <a:solidFill>
                  <a:srgbClr val="000000"/>
                </a:solidFill>
              </a:rPr>
              <a:t>🛠</a:t>
            </a:r>
            <a:endParaRPr lang="en-US" sz="2090" dirty="0"/>
          </a:p>
        </p:txBody>
      </p:sp>
      <p:sp>
        <p:nvSpPr>
          <p:cNvPr id="16" name="Text 14"/>
          <p:cNvSpPr/>
          <p:nvPr/>
        </p:nvSpPr>
        <p:spPr>
          <a:xfrm>
            <a:off x="1005840" y="37947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005840" y="4251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アプリ制作を提案できる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1560" y="470916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0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クライアント向けに、会員アプリ、予約アプリ、情報発信アプリ、診断コンテンツなどを提案できます。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53712" y="2596896"/>
            <a:ext cx="3520440" cy="3200400"/>
          </a:xfrm>
          <a:prstGeom prst="roundRect">
            <a:avLst>
              <a:gd name="adj" fmla="val 4571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26280" y="2560320"/>
            <a:ext cx="3520440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35424" y="2569464"/>
            <a:ext cx="3502152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2" name="Shape 20"/>
          <p:cNvSpPr/>
          <p:nvPr/>
        </p:nvSpPr>
        <p:spPr>
          <a:xfrm>
            <a:off x="5852160" y="2788920"/>
            <a:ext cx="868680" cy="86868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852160" y="2788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90" dirty="0">
                <a:solidFill>
                  <a:srgbClr val="000000"/>
                </a:solidFill>
              </a:rPr>
              <a:t>📣</a:t>
            </a:r>
            <a:endParaRPr lang="en-US" sz="2090" dirty="0"/>
          </a:p>
        </p:txBody>
      </p:sp>
      <p:sp>
        <p:nvSpPr>
          <p:cNvPr id="24" name="Text 22"/>
          <p:cNvSpPr/>
          <p:nvPr/>
        </p:nvSpPr>
        <p:spPr>
          <a:xfrm>
            <a:off x="4800600" y="37947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B6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紹介する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4800600" y="4251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紹介コード経由で収益化できる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46320" y="470916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0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紹介コード経由で登録・利用開始されたアカウントの月額利用に応じて、レベニューシェアが発生します。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348472" y="2596896"/>
            <a:ext cx="3520440" cy="3200400"/>
          </a:xfrm>
          <a:prstGeom prst="roundRect">
            <a:avLst>
              <a:gd name="adj" fmla="val 4571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8321040" y="2560320"/>
            <a:ext cx="3520440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30184" y="2569464"/>
            <a:ext cx="350215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0" name="Shape 28"/>
          <p:cNvSpPr/>
          <p:nvPr/>
        </p:nvSpPr>
        <p:spPr>
          <a:xfrm>
            <a:off x="9646920" y="2788920"/>
            <a:ext cx="868680" cy="86868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9646920" y="2788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90" dirty="0">
                <a:solidFill>
                  <a:srgbClr val="000000"/>
                </a:solidFill>
              </a:rPr>
              <a:t>🏪</a:t>
            </a:r>
            <a:endParaRPr lang="en-US" sz="2090" dirty="0"/>
          </a:p>
        </p:txBody>
      </p:sp>
      <p:sp>
        <p:nvSpPr>
          <p:cNvPr id="32" name="Text 30"/>
          <p:cNvSpPr/>
          <p:nvPr/>
        </p:nvSpPr>
        <p:spPr>
          <a:xfrm>
            <a:off x="8595360" y="37947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売る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8595360" y="4251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テンプレート販売にも展開できる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41080" y="470916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0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業界特化UI、デザインテンプレート、コンテンツ構成などを資産化し、販売できます。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371600" y="6126480"/>
            <a:ext cx="9418320" cy="438912"/>
          </a:xfrm>
          <a:prstGeom prst="roundRect">
            <a:avLst>
              <a:gd name="adj" fmla="val 50000"/>
            </a:avLst>
          </a:prstGeom>
          <a:solidFill>
            <a:srgbClr val="0A1A33"/>
          </a:solidFill>
          <a:ln/>
        </p:spPr>
      </p:sp>
      <p:sp>
        <p:nvSpPr>
          <p:cNvPr id="36" name="Text 34"/>
          <p:cNvSpPr/>
          <p:nvPr/>
        </p:nvSpPr>
        <p:spPr>
          <a:xfrm>
            <a:off x="1371600" y="6126480"/>
            <a:ext cx="9418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制作力だけでなく、営業力・発信力・業界理解も、エムスタ上では収益機会になります。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0" y="4572000"/>
            <a:ext cx="4572000" cy="4572000"/>
          </a:xfrm>
          <a:prstGeom prst="ellipse">
            <a:avLst/>
          </a:prstGeom>
          <a:solidFill>
            <a:srgbClr val="2563EB">
              <a:alpha val="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4A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411480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22D3EE">
              <a:alpha val="1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411480"/>
            <a:ext cx="160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ECOSYSTEM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クライアント、パートナー、エンドユーザーが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共に価値を広げる仕組み。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31520" y="19202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エムスタは、アプリを作る人だけが得をする仕組みではありません。クライアントの事業が伸び、エンドユーザーとの接点が増え、</a:t>
            </a:r>
            <a:endParaRPr lang="en-US" sz="10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パートナーには制作収益と継続収益が積み上がる。その成功事例がまた次の案件や信用を生み、エムスタ経済圏として広がっていきます。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40280" y="3657600"/>
            <a:ext cx="1737360" cy="1737360"/>
          </a:xfrm>
          <a:prstGeom prst="ellipse">
            <a:avLst/>
          </a:prstGeom>
          <a:solidFill>
            <a:srgbClr val="06B6D4">
              <a:alpha val="2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40280" y="3657600"/>
            <a:ext cx="1737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経済圏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331720" y="2496312"/>
            <a:ext cx="1554480" cy="585216"/>
          </a:xfrm>
          <a:prstGeom prst="roundRect">
            <a:avLst>
              <a:gd name="adj" fmla="val 18750"/>
            </a:avLst>
          </a:prstGeom>
          <a:solidFill>
            <a:srgbClr val="12284A"/>
          </a:solidFill>
          <a:ln w="7620">
            <a:solidFill>
              <a:srgbClr val="2A4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31720" y="2496312"/>
            <a:ext cx="15544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🏢 クライアント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34840" y="4233672"/>
            <a:ext cx="1554480" cy="585216"/>
          </a:xfrm>
          <a:prstGeom prst="roundRect">
            <a:avLst>
              <a:gd name="adj" fmla="val 18750"/>
            </a:avLst>
          </a:prstGeom>
          <a:solidFill>
            <a:srgbClr val="12284A"/>
          </a:solidFill>
          <a:ln w="7620">
            <a:solidFill>
              <a:srgbClr val="2A4A7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34840" y="4233672"/>
            <a:ext cx="15544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🤝 パートナー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331720" y="5971032"/>
            <a:ext cx="1554480" cy="585216"/>
          </a:xfrm>
          <a:prstGeom prst="roundRect">
            <a:avLst>
              <a:gd name="adj" fmla="val 18750"/>
            </a:avLst>
          </a:prstGeom>
          <a:solidFill>
            <a:srgbClr val="12284A"/>
          </a:solidFill>
          <a:ln w="7620">
            <a:solidFill>
              <a:srgbClr val="2A4A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31720" y="5971032"/>
            <a:ext cx="15544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👥 エンドユーザー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28600" y="4233672"/>
            <a:ext cx="1554480" cy="585216"/>
          </a:xfrm>
          <a:prstGeom prst="roundRect">
            <a:avLst>
              <a:gd name="adj" fmla="val 18750"/>
            </a:avLst>
          </a:prstGeom>
          <a:solidFill>
            <a:srgbClr val="12284A"/>
          </a:solidFill>
          <a:ln w="7620">
            <a:solidFill>
              <a:srgbClr val="2A4A7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4233672"/>
            <a:ext cx="15544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⚙️ エムスタ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6355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共創 / 収益 / 信用 / 接点 / 事例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693408" y="2999232"/>
            <a:ext cx="4754880" cy="530352"/>
          </a:xfrm>
          <a:prstGeom prst="roundRect">
            <a:avLst>
              <a:gd name="adj" fmla="val 27586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6675120" y="2971800"/>
            <a:ext cx="4754880" cy="530352"/>
          </a:xfrm>
          <a:prstGeom prst="roundRect">
            <a:avLst>
              <a:gd name="adj" fmla="val 27586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0" y="3090672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0" y="3090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269480" y="2971800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クライアントの成功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812280" y="34290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6B6D4"/>
                </a:solidFill>
              </a:rPr>
              <a:t>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693408" y="3675888"/>
            <a:ext cx="4754880" cy="530352"/>
          </a:xfrm>
          <a:prstGeom prst="roundRect">
            <a:avLst>
              <a:gd name="adj" fmla="val 27586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675120" y="3648456"/>
            <a:ext cx="4754880" cy="530352"/>
          </a:xfrm>
          <a:prstGeom prst="roundRect">
            <a:avLst>
              <a:gd name="adj" fmla="val 27586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58000" y="3767328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0" y="376732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269480" y="3648456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パートナーの収益化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812280" y="410565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6B6D4"/>
                </a:solidFill>
              </a:rPr>
              <a:t>↓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693408" y="4352544"/>
            <a:ext cx="4754880" cy="530352"/>
          </a:xfrm>
          <a:prstGeom prst="roundRect">
            <a:avLst>
              <a:gd name="adj" fmla="val 27586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675120" y="4325112"/>
            <a:ext cx="4754880" cy="530352"/>
          </a:xfrm>
          <a:prstGeom prst="roundRect">
            <a:avLst>
              <a:gd name="adj" fmla="val 27586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58000" y="4443984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0" y="44439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269480" y="432511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エンドユーザーとの接点拡大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812280" y="478231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6B6D4"/>
                </a:solidFill>
              </a:rPr>
              <a:t>↓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693408" y="5029200"/>
            <a:ext cx="4754880" cy="530352"/>
          </a:xfrm>
          <a:prstGeom prst="roundRect">
            <a:avLst>
              <a:gd name="adj" fmla="val 27586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675120" y="5001768"/>
            <a:ext cx="4754880" cy="530352"/>
          </a:xfrm>
          <a:prstGeom prst="roundRect">
            <a:avLst>
              <a:gd name="adj" fmla="val 27586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0" y="5120640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4" name="Text 42"/>
          <p:cNvSpPr/>
          <p:nvPr/>
        </p:nvSpPr>
        <p:spPr>
          <a:xfrm>
            <a:off x="6858000" y="51206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269480" y="5001768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事例・信用の蓄積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812280" y="545896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6B6D4"/>
                </a:solidFill>
              </a:rPr>
              <a:t>↓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693408" y="5705856"/>
            <a:ext cx="4754880" cy="530352"/>
          </a:xfrm>
          <a:prstGeom prst="roundRect">
            <a:avLst>
              <a:gd name="adj" fmla="val 27586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675120" y="5678424"/>
            <a:ext cx="4754880" cy="530352"/>
          </a:xfrm>
          <a:prstGeom prst="roundRect">
            <a:avLst>
              <a:gd name="adj" fmla="val 27586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58000" y="5797296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0" name="Text 48"/>
          <p:cNvSpPr/>
          <p:nvPr/>
        </p:nvSpPr>
        <p:spPr>
          <a:xfrm>
            <a:off x="6858000" y="57972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269480" y="5678424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次の案件創出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6675120" y="6400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エムスタは、共に作り、共に広げ、共に潤うためのアプリビジネス基盤です。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468880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PARTNER PROGRAM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制作できる人も、紹介できる人も、届けられる人も参加できる。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31520" y="1554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1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 Partner Programでは、制作リソースだけでなく、顧客接点・営業ネットワーク・業界媒体・専門知識も価値になります。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58952" y="2505456"/>
            <a:ext cx="3520440" cy="3291840"/>
          </a:xfrm>
          <a:prstGeom prst="roundRect">
            <a:avLst>
              <a:gd name="adj" fmla="val 4444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468880"/>
            <a:ext cx="352044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0664" y="2478024"/>
            <a:ext cx="35021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5840" y="2697480"/>
            <a:ext cx="731520" cy="73152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697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60" dirty="0">
                <a:solidFill>
                  <a:srgbClr val="000000"/>
                </a:solidFill>
              </a:rPr>
              <a:t>💻</a:t>
            </a:r>
            <a:endParaRPr lang="en-US" sz="1760" dirty="0"/>
          </a:p>
        </p:txBody>
      </p:sp>
      <p:sp>
        <p:nvSpPr>
          <p:cNvPr id="16" name="Text 14"/>
          <p:cNvSpPr/>
          <p:nvPr/>
        </p:nvSpPr>
        <p:spPr>
          <a:xfrm>
            <a:off x="1005840" y="35661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制作パートナー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420624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0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クライアント向けにアプリを制作し、制作費と継続レベニューを得る。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05840" y="5303520"/>
            <a:ext cx="886968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5303520"/>
            <a:ext cx="886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制作会社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029968" y="5303520"/>
            <a:ext cx="886968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2029968" y="5303520"/>
            <a:ext cx="886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開発会社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054096" y="53035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3054096" y="53035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デザイナー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53712" y="2505456"/>
            <a:ext cx="3520440" cy="3291840"/>
          </a:xfrm>
          <a:prstGeom prst="roundRect">
            <a:avLst>
              <a:gd name="adj" fmla="val 4444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526280" y="2468880"/>
            <a:ext cx="352044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35424" y="2478024"/>
            <a:ext cx="3502152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7" name="Shape 25"/>
          <p:cNvSpPr/>
          <p:nvPr/>
        </p:nvSpPr>
        <p:spPr>
          <a:xfrm>
            <a:off x="4800600" y="2697480"/>
            <a:ext cx="731520" cy="73152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4800600" y="2697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60" dirty="0">
                <a:solidFill>
                  <a:srgbClr val="000000"/>
                </a:solidFill>
              </a:rPr>
              <a:t>📣</a:t>
            </a:r>
            <a:endParaRPr lang="en-US" sz="1760" dirty="0"/>
          </a:p>
        </p:txBody>
      </p:sp>
      <p:sp>
        <p:nvSpPr>
          <p:cNvPr id="29" name="Text 27"/>
          <p:cNvSpPr/>
          <p:nvPr/>
        </p:nvSpPr>
        <p:spPr>
          <a:xfrm>
            <a:off x="4800600" y="35661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セールス / 紹介パートナー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800600" y="420624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0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紹介コード・営業活動・自社媒体を通じてエムスタへ送客し、利用開始後の月額利用に応じてレベニューシェアを得る。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00600" y="5303520"/>
            <a:ext cx="886968" cy="27432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32" name="Text 30"/>
          <p:cNvSpPr/>
          <p:nvPr/>
        </p:nvSpPr>
        <p:spPr>
          <a:xfrm>
            <a:off x="4800600" y="5303520"/>
            <a:ext cx="886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営業会社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824728" y="5303520"/>
            <a:ext cx="1124712" cy="27432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34" name="Text 32"/>
          <p:cNvSpPr/>
          <p:nvPr/>
        </p:nvSpPr>
        <p:spPr>
          <a:xfrm>
            <a:off x="5824728" y="5303520"/>
            <a:ext cx="1124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メディア運営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848856" y="5303520"/>
            <a:ext cx="1124712" cy="27432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36" name="Text 34"/>
          <p:cNvSpPr/>
          <p:nvPr/>
        </p:nvSpPr>
        <p:spPr>
          <a:xfrm>
            <a:off x="6848856" y="5303520"/>
            <a:ext cx="1124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SNS発信者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348472" y="2505456"/>
            <a:ext cx="3520440" cy="3291840"/>
          </a:xfrm>
          <a:prstGeom prst="roundRect">
            <a:avLst>
              <a:gd name="adj" fmla="val 4444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321040" y="2468880"/>
            <a:ext cx="352044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330184" y="2478024"/>
            <a:ext cx="350215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0" name="Shape 38"/>
          <p:cNvSpPr/>
          <p:nvPr/>
        </p:nvSpPr>
        <p:spPr>
          <a:xfrm>
            <a:off x="8595360" y="2697480"/>
            <a:ext cx="731520" cy="73152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8595360" y="2697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60" dirty="0">
                <a:solidFill>
                  <a:srgbClr val="000000"/>
                </a:solidFill>
              </a:rPr>
              <a:t>🏪</a:t>
            </a:r>
            <a:endParaRPr lang="en-US" sz="1760" dirty="0"/>
          </a:p>
        </p:txBody>
      </p:sp>
      <p:sp>
        <p:nvSpPr>
          <p:cNvPr id="42" name="Text 40"/>
          <p:cNvSpPr/>
          <p:nvPr/>
        </p:nvSpPr>
        <p:spPr>
          <a:xfrm>
            <a:off x="8595360" y="35661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 / コンポーネント販売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595360" y="420624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0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業界特化UI・テンプレート・コンテンツ資産を販売し、制作工数を商品化する。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595360" y="53035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45" name="Text 43"/>
          <p:cNvSpPr/>
          <p:nvPr/>
        </p:nvSpPr>
        <p:spPr>
          <a:xfrm>
            <a:off x="8595360" y="53035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デザイナー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9619488" y="5303520"/>
            <a:ext cx="1124712" cy="2743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47" name="Text 45"/>
          <p:cNvSpPr/>
          <p:nvPr/>
        </p:nvSpPr>
        <p:spPr>
          <a:xfrm>
            <a:off x="9619488" y="5303520"/>
            <a:ext cx="1124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クリエイター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1371600" y="6126480"/>
            <a:ext cx="9418320" cy="438912"/>
          </a:xfrm>
          <a:prstGeom prst="roundRect">
            <a:avLst>
              <a:gd name="adj" fmla="val 50000"/>
            </a:avLst>
          </a:prstGeom>
          <a:solidFill>
            <a:srgbClr val="0A1A33"/>
          </a:solidFill>
          <a:ln/>
        </p:spPr>
      </p:sp>
      <p:sp>
        <p:nvSpPr>
          <p:cNvPr id="49" name="Text 47"/>
          <p:cNvSpPr/>
          <p:nvPr/>
        </p:nvSpPr>
        <p:spPr>
          <a:xfrm>
            <a:off x="1371600" y="6126480"/>
            <a:ext cx="9418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作る力、届ける力、業界に入り込む力。それぞれの強みが、エムスタ経済圏の価値になります。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468880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FIND YOUR ROUTE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あなたはどれに近いですか？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31520" y="1554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1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作る、紹介する、販売する。自分の強みから参加できます。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58952" y="2322576"/>
            <a:ext cx="3520440" cy="4114800"/>
          </a:xfrm>
          <a:prstGeom prst="roundRect">
            <a:avLst>
              <a:gd name="adj" fmla="val 4156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286000"/>
            <a:ext cx="3520440" cy="4114800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0664" y="2295144"/>
            <a:ext cx="35021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24688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💻  制作パートナー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32688" y="2962656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2563EB">
              <a:alpha val="14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29626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61872" y="29260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Web制作・デザイン・開発案件をすでに持っている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32688" y="3529584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2563EB">
              <a:alpha val="14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352958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261872" y="349300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既存顧客にアプリ制作を追加提案したい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32688" y="4096512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2563EB">
              <a:alpha val="14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932688" y="409651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61872" y="4059936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自社メニューにアプリ制作を加えたい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32688" y="4663440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2563EB">
              <a:alpha val="14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932688" y="466344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61872" y="462686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フルスクラッチでは予算が合わない案件の選択肢を持ちたい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53712" y="2322576"/>
            <a:ext cx="3520440" cy="4114800"/>
          </a:xfrm>
          <a:prstGeom prst="roundRect">
            <a:avLst>
              <a:gd name="adj" fmla="val 4156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526280" y="2286000"/>
            <a:ext cx="3520440" cy="4114800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35424" y="2295144"/>
            <a:ext cx="3502152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4688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B6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📣  セールス / 紹介パートナー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727448" y="2962656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06B6D4">
              <a:alpha val="14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727448" y="29626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56632" y="29260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自社メディア、SNS、業界コミュニティを持っている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27448" y="3529584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06B6D4">
              <a:alpha val="14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4727448" y="352958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56632" y="349300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特定業界への営業接点がある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27448" y="4096512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06B6D4">
              <a:alpha val="14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727448" y="409651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56632" y="4059936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制作は担わず、紹介や送客で収益化したい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27448" y="4663440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06B6D4">
              <a:alpha val="14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727448" y="466344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56632" y="462686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業界向けの記事・LP・紹介コンテンツを作れる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27448" y="523036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06B6D4">
              <a:alpha val="14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4727448" y="523036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56632" y="5193792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副業やリモートで始められる収益機会を探している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27448" y="5797296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06B6D4">
              <a:alpha val="14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4727448" y="579729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056632" y="57607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営業代理店・紹介事業として新しい商材を探している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48472" y="2322576"/>
            <a:ext cx="3520440" cy="4114800"/>
          </a:xfrm>
          <a:prstGeom prst="roundRect">
            <a:avLst>
              <a:gd name="adj" fmla="val 4156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321040" y="2286000"/>
            <a:ext cx="3520440" cy="4114800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330184" y="2295144"/>
            <a:ext cx="350215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2" name="Text 50"/>
          <p:cNvSpPr/>
          <p:nvPr/>
        </p:nvSpPr>
        <p:spPr>
          <a:xfrm>
            <a:off x="8549640" y="24688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5C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🏪  テンプレート販売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8522208" y="2962656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8B5CF6">
              <a:alpha val="14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8522208" y="29626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851392" y="29260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業界特化のUIやデザイン資産を持っている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522208" y="3529584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8B5CF6">
              <a:alpha val="14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8522208" y="352958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851392" y="349300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テンプレートやコンポーネントを商品化したい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522208" y="4096512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8B5CF6">
              <a:alpha val="14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8522208" y="409651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8851392" y="4059936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制作工数をストック型の販売資産に変えたい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522208" y="4663440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8B5CF6">
              <a:alpha val="14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8522208" y="466344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8851392" y="462686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デザインや構成ノウハウを、繰り返し売れる形にしたい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複数のルートを組み合わせることも可能です。迷う場合はオンライン相談で整理できます。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0" y="4572000"/>
            <a:ext cx="4572000" cy="4572000"/>
          </a:xfrm>
          <a:prstGeom prst="ellipse">
            <a:avLst/>
          </a:prstGeom>
          <a:solidFill>
            <a:srgbClr val="2563EB">
              <a:alpha val="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4A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411480"/>
            <a:ext cx="2212848" cy="292608"/>
          </a:xfrm>
          <a:prstGeom prst="roundRect">
            <a:avLst>
              <a:gd name="adj" fmla="val 50000"/>
            </a:avLst>
          </a:prstGeom>
          <a:solidFill>
            <a:srgbClr val="22D3EE">
              <a:alpha val="1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411480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SALES PARTNER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制作不要。紹介から始めるアプリビジネス。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731520" y="160020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1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エムスタのセールス / 紹介パートナーは、自社でアプリを制作しなくても参加できます。</a:t>
            </a:r>
            <a:endParaRPr lang="en-US" sz="11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1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紹介コードや自社媒体、営業ネットワークを活用してエムスタへ送客し、登録・利用開始されたアカウントの月額利用に応じてレベニューシェアを得られます。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" y="2724912"/>
            <a:ext cx="2011680" cy="1371600"/>
          </a:xfrm>
          <a:prstGeom prst="roundRect">
            <a:avLst>
              <a:gd name="adj" fmla="val 10667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2697480"/>
            <a:ext cx="2011680" cy="1371600"/>
          </a:xfrm>
          <a:prstGeom prst="roundRect">
            <a:avLst>
              <a:gd name="adj" fmla="val 10667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1520" y="33375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自社媒体 / SNS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営業接点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587752" y="320040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6B6D4"/>
                </a:solidFill>
              </a:rPr>
              <a:t>→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990088" y="2724912"/>
            <a:ext cx="2011680" cy="1371600"/>
          </a:xfrm>
          <a:prstGeom prst="roundRect">
            <a:avLst>
              <a:gd name="adj" fmla="val 10667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971800" y="2697480"/>
            <a:ext cx="2011680" cy="1371600"/>
          </a:xfrm>
          <a:prstGeom prst="roundRect">
            <a:avLst>
              <a:gd name="adj" fmla="val 10667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063240" y="33375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紹介コード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19472" y="320040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6B6D4"/>
                </a:solidFill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321808" y="2724912"/>
            <a:ext cx="2011680" cy="1371600"/>
          </a:xfrm>
          <a:prstGeom prst="roundRect">
            <a:avLst>
              <a:gd name="adj" fmla="val 10667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303520" y="2697480"/>
            <a:ext cx="2011680" cy="1371600"/>
          </a:xfrm>
          <a:prstGeom prst="roundRect">
            <a:avLst>
              <a:gd name="adj" fmla="val 10667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394960" y="33375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エムスタ登録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251192" y="320040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6B6D4"/>
                </a:solidFill>
              </a:rPr>
              <a:t>→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653528" y="2724912"/>
            <a:ext cx="2011680" cy="1371600"/>
          </a:xfrm>
          <a:prstGeom prst="roundRect">
            <a:avLst>
              <a:gd name="adj" fmla="val 10667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635240" y="2697480"/>
            <a:ext cx="2011680" cy="1371600"/>
          </a:xfrm>
          <a:prstGeom prst="roundRect">
            <a:avLst>
              <a:gd name="adj" fmla="val 10667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3524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726680" y="33375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利用開始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582912" y="320040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6B6D4"/>
                </a:solidFill>
              </a:rPr>
              <a:t>→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985248" y="2724912"/>
            <a:ext cx="2011680" cy="1371600"/>
          </a:xfrm>
          <a:prstGeom prst="roundRect">
            <a:avLst>
              <a:gd name="adj" fmla="val 10667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966960" y="2697480"/>
            <a:ext cx="2011680" cy="1371600"/>
          </a:xfrm>
          <a:prstGeom prst="roundRect">
            <a:avLst>
              <a:gd name="adj" fmla="val 10667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976104" y="2706624"/>
            <a:ext cx="1993392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5" name="Text 33"/>
          <p:cNvSpPr/>
          <p:nvPr/>
        </p:nvSpPr>
        <p:spPr>
          <a:xfrm>
            <a:off x="996696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💰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10058400" y="33375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月額利用に応じて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レベニューシェア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活用例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9808" y="4828032"/>
            <a:ext cx="3520440" cy="457200"/>
          </a:xfrm>
          <a:prstGeom prst="roundRect">
            <a:avLst>
              <a:gd name="adj" fmla="val 32000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31520" y="4800600"/>
            <a:ext cx="3520440" cy="457200"/>
          </a:xfrm>
          <a:prstGeom prst="roundRect">
            <a:avLst>
              <a:gd name="adj" fmla="val 32000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4800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自社サイトにエムスタ紹介記事を掲載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44568" y="4828032"/>
            <a:ext cx="3520440" cy="457200"/>
          </a:xfrm>
          <a:prstGeom prst="roundRect">
            <a:avLst>
              <a:gd name="adj" fmla="val 32000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526280" y="4800600"/>
            <a:ext cx="3520440" cy="457200"/>
          </a:xfrm>
          <a:prstGeom prst="roundRect">
            <a:avLst>
              <a:gd name="adj" fmla="val 32000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09160" y="4800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業界特化メディアで導入メリットを発信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339328" y="4828032"/>
            <a:ext cx="3520440" cy="457200"/>
          </a:xfrm>
          <a:prstGeom prst="roundRect">
            <a:avLst>
              <a:gd name="adj" fmla="val 32000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321040" y="4800600"/>
            <a:ext cx="3520440" cy="457200"/>
          </a:xfrm>
          <a:prstGeom prst="roundRect">
            <a:avLst>
              <a:gd name="adj" fmla="val 32000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03920" y="4800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SNSやメルマガで紹介コードを案内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49808" y="5394960"/>
            <a:ext cx="3520440" cy="457200"/>
          </a:xfrm>
          <a:prstGeom prst="roundRect">
            <a:avLst>
              <a:gd name="adj" fmla="val 32000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31520" y="5367528"/>
            <a:ext cx="3520440" cy="457200"/>
          </a:xfrm>
          <a:prstGeom prst="roundRect">
            <a:avLst>
              <a:gd name="adj" fmla="val 32000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536752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既存クライアントにエムスタを紹介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544568" y="5394960"/>
            <a:ext cx="3520440" cy="457200"/>
          </a:xfrm>
          <a:prstGeom prst="roundRect">
            <a:avLst>
              <a:gd name="adj" fmla="val 32000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526280" y="5367528"/>
            <a:ext cx="3520440" cy="457200"/>
          </a:xfrm>
          <a:prstGeom prst="roundRect">
            <a:avLst>
              <a:gd name="adj" fmla="val 32000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09160" y="536752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業界特化テンプレートと合わせて送客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1371600" y="6172200"/>
            <a:ext cx="9418320" cy="457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54" name="Text 52"/>
          <p:cNvSpPr/>
          <p:nvPr/>
        </p:nvSpPr>
        <p:spPr>
          <a:xfrm>
            <a:off x="1371600" y="617220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制作リソースがなくても、業界理解・発信力・顧客接点があれば、エムスタ経済圏に参加できます。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724912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REFERRAL STRATEGY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紹介で終わらせない。業界特化で送客を仕組みにする。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31520" y="1554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1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セールスパートナーは、単なる紹介者ではありません。業界課題を見つけ、エムスタの活用文脈を作り、見込み顧客を流入させる事業開発パートナーです。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58952" y="2505456"/>
            <a:ext cx="5257800" cy="1463040"/>
          </a:xfrm>
          <a:prstGeom prst="roundRect">
            <a:avLst>
              <a:gd name="adj" fmla="val 10000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468880"/>
            <a:ext cx="525780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0664" y="2478024"/>
            <a:ext cx="5239512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2743200"/>
            <a:ext cx="640080" cy="64008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2743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dirty="0">
                <a:solidFill>
                  <a:srgbClr val="000000"/>
                </a:solidFill>
              </a:rPr>
              <a:t>📰</a:t>
            </a:r>
            <a:endParaRPr lang="en-US" sz="1540" dirty="0"/>
          </a:p>
        </p:txBody>
      </p:sp>
      <p:sp>
        <p:nvSpPr>
          <p:cNvPr id="16" name="Text 14"/>
          <p:cNvSpPr/>
          <p:nvPr/>
        </p:nvSpPr>
        <p:spPr>
          <a:xfrm>
            <a:off x="1783080" y="26974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業界特化記事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783080" y="306324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美容サロン向けに「予約・クーポン・会員アプリ」の活用記事を作成し、紹介コードを掲載。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91072" y="2505456"/>
            <a:ext cx="5257800" cy="1463040"/>
          </a:xfrm>
          <a:prstGeom prst="roundRect">
            <a:avLst>
              <a:gd name="adj" fmla="val 10000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263640" y="2468880"/>
            <a:ext cx="525780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478024"/>
            <a:ext cx="523951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1" name="Shape 19"/>
          <p:cNvSpPr/>
          <p:nvPr/>
        </p:nvSpPr>
        <p:spPr>
          <a:xfrm>
            <a:off x="6492240" y="2743200"/>
            <a:ext cx="640080" cy="64008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2743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dirty="0">
                <a:solidFill>
                  <a:srgbClr val="000000"/>
                </a:solidFill>
              </a:rPr>
              <a:t>⚖️</a:t>
            </a:r>
            <a:endParaRPr lang="en-US" sz="1540" dirty="0"/>
          </a:p>
        </p:txBody>
      </p:sp>
      <p:sp>
        <p:nvSpPr>
          <p:cNvPr id="23" name="Text 21"/>
          <p:cNvSpPr/>
          <p:nvPr/>
        </p:nvSpPr>
        <p:spPr>
          <a:xfrm>
            <a:off x="7315200" y="26974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比較コンテンツ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0" y="306324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「LINE公式だけでは足りない会員接点」などのテーマで、エムスタ活用を紹介。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8952" y="4197096"/>
            <a:ext cx="5257800" cy="1463040"/>
          </a:xfrm>
          <a:prstGeom prst="roundRect">
            <a:avLst>
              <a:gd name="adj" fmla="val 10000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731520" y="4160520"/>
            <a:ext cx="525780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0664" y="4169664"/>
            <a:ext cx="523951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Shape 26"/>
          <p:cNvSpPr/>
          <p:nvPr/>
        </p:nvSpPr>
        <p:spPr>
          <a:xfrm>
            <a:off x="960120" y="4434840"/>
            <a:ext cx="640080" cy="64008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60120" y="4434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dirty="0">
                <a:solidFill>
                  <a:srgbClr val="000000"/>
                </a:solidFill>
              </a:rPr>
              <a:t>🧩</a:t>
            </a:r>
            <a:endParaRPr lang="en-US" sz="1540" dirty="0"/>
          </a:p>
        </p:txBody>
      </p:sp>
      <p:sp>
        <p:nvSpPr>
          <p:cNvPr id="30" name="Text 28"/>
          <p:cNvSpPr/>
          <p:nvPr/>
        </p:nvSpPr>
        <p:spPr>
          <a:xfrm>
            <a:off x="1783080" y="43891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テンプレート連動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783080" y="475488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業界特化UIやテンプレートを用意し、記事から導入相談へ誘導。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91072" y="4197096"/>
            <a:ext cx="5257800" cy="1463040"/>
          </a:xfrm>
          <a:prstGeom prst="roundRect">
            <a:avLst>
              <a:gd name="adj" fmla="val 10000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263640" y="4160520"/>
            <a:ext cx="525780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72784" y="4169664"/>
            <a:ext cx="5239512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5" name="Shape 33"/>
          <p:cNvSpPr/>
          <p:nvPr/>
        </p:nvSpPr>
        <p:spPr>
          <a:xfrm>
            <a:off x="6492240" y="4434840"/>
            <a:ext cx="640080" cy="640080"/>
          </a:xfrm>
          <a:prstGeom prst="ellipse">
            <a:avLst/>
          </a:prstGeom>
          <a:solidFill>
            <a:srgbClr val="10B981">
              <a:alpha val="12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6492240" y="4434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dirty="0">
                <a:solidFill>
                  <a:srgbClr val="000000"/>
                </a:solidFill>
              </a:rPr>
              <a:t>📊</a:t>
            </a:r>
            <a:endParaRPr lang="en-US" sz="1540" dirty="0"/>
          </a:p>
        </p:txBody>
      </p:sp>
      <p:sp>
        <p:nvSpPr>
          <p:cNvPr id="37" name="Text 35"/>
          <p:cNvSpPr/>
          <p:nvPr/>
        </p:nvSpPr>
        <p:spPr>
          <a:xfrm>
            <a:off x="7315200" y="43891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営業資料連動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0" y="475488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既存顧客向けの提案資料にエムスタを組み込み、制作はオフィシャル制作やエムスタFullへ接続。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560320" y="6080760"/>
            <a:ext cx="7040880" cy="502920"/>
          </a:xfrm>
          <a:prstGeom prst="roundRect">
            <a:avLst>
              <a:gd name="adj" fmla="val 49091"/>
            </a:avLst>
          </a:prstGeom>
          <a:solidFill>
            <a:srgbClr val="0A1A33"/>
          </a:solidFill>
          <a:ln/>
        </p:spPr>
      </p:sp>
      <p:sp>
        <p:nvSpPr>
          <p:cNvPr id="40" name="Text 38"/>
          <p:cNvSpPr/>
          <p:nvPr/>
        </p:nvSpPr>
        <p:spPr>
          <a:xfrm>
            <a:off x="2560320" y="608076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具体的な紹介導線・業界特化コンテンツの作り方・紹介コード活用戦略は、オンラインにて個別にご説明します  →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160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USE CASES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さまざまな業界に、アプリ活用の提案ができます。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758952" y="1819656"/>
            <a:ext cx="10698480" cy="713232"/>
          </a:xfrm>
          <a:prstGeom prst="roundRect">
            <a:avLst>
              <a:gd name="adj" fmla="val 20513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783080"/>
            <a:ext cx="1069848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0664" y="1792224"/>
            <a:ext cx="64008" cy="69494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5840" y="1892808"/>
            <a:ext cx="502920" cy="50292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18928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000000"/>
                </a:solidFill>
              </a:rPr>
              <a:t>🏪</a:t>
            </a:r>
            <a:endParaRPr lang="en-US" sz="1210" dirty="0"/>
          </a:p>
        </p:txBody>
      </p:sp>
      <p:sp>
        <p:nvSpPr>
          <p:cNvPr id="15" name="Text 13"/>
          <p:cNvSpPr/>
          <p:nvPr/>
        </p:nvSpPr>
        <p:spPr>
          <a:xfrm>
            <a:off x="1691640" y="1783080"/>
            <a:ext cx="2194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店舗向け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23360" y="1783080"/>
            <a:ext cx="7223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会員アプリ / クーポン / 予約 / 来店促進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8952" y="2660904"/>
            <a:ext cx="10698480" cy="713232"/>
          </a:xfrm>
          <a:prstGeom prst="roundRect">
            <a:avLst>
              <a:gd name="adj" fmla="val 20513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2624328"/>
            <a:ext cx="1069848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0664" y="2633472"/>
            <a:ext cx="64008" cy="69494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05840" y="2734056"/>
            <a:ext cx="502920" cy="50292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273405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000000"/>
                </a:solidFill>
              </a:rPr>
              <a:t>🎓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1691640" y="2624328"/>
            <a:ext cx="2194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スクール向け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023360" y="2624328"/>
            <a:ext cx="7223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生徒・保護者連絡 / 資料配布 / 学習コンテンツ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58952" y="3502152"/>
            <a:ext cx="10698480" cy="713232"/>
          </a:xfrm>
          <a:prstGeom prst="roundRect">
            <a:avLst>
              <a:gd name="adj" fmla="val 20513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" y="3465576"/>
            <a:ext cx="1069848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0664" y="3474720"/>
            <a:ext cx="64008" cy="69494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7" name="Shape 25"/>
          <p:cNvSpPr/>
          <p:nvPr/>
        </p:nvSpPr>
        <p:spPr>
          <a:xfrm>
            <a:off x="1005840" y="3575304"/>
            <a:ext cx="502920" cy="502920"/>
          </a:xfrm>
          <a:prstGeom prst="ellipse">
            <a:avLst/>
          </a:prstGeom>
          <a:solidFill>
            <a:srgbClr val="10B981">
              <a:alpha val="12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1005840" y="35753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000000"/>
                </a:solidFill>
              </a:rPr>
              <a:t>🏛</a:t>
            </a:r>
            <a:endParaRPr lang="en-US" sz="1210" dirty="0"/>
          </a:p>
        </p:txBody>
      </p:sp>
      <p:sp>
        <p:nvSpPr>
          <p:cNvPr id="29" name="Text 27"/>
          <p:cNvSpPr/>
          <p:nvPr/>
        </p:nvSpPr>
        <p:spPr>
          <a:xfrm>
            <a:off x="1691640" y="3465576"/>
            <a:ext cx="2194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団体・協会向け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023360" y="3465576"/>
            <a:ext cx="7223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会員管理 / 災害時連絡 / アンケート / 会報配信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8952" y="4343400"/>
            <a:ext cx="10698480" cy="713232"/>
          </a:xfrm>
          <a:prstGeom prst="roundRect">
            <a:avLst>
              <a:gd name="adj" fmla="val 20513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4306824"/>
            <a:ext cx="1069848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0664" y="4315968"/>
            <a:ext cx="64008" cy="69494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5840" y="4416552"/>
            <a:ext cx="502920" cy="50292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005840" y="4416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000000"/>
                </a:solidFill>
              </a:rPr>
              <a:t>💄</a:t>
            </a:r>
            <a:endParaRPr lang="en-US" sz="1210" dirty="0"/>
          </a:p>
        </p:txBody>
      </p:sp>
      <p:sp>
        <p:nvSpPr>
          <p:cNvPr id="36" name="Text 34"/>
          <p:cNvSpPr/>
          <p:nvPr/>
        </p:nvSpPr>
        <p:spPr>
          <a:xfrm>
            <a:off x="1691640" y="4306824"/>
            <a:ext cx="2194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美容・診断系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023360" y="4306824"/>
            <a:ext cx="7223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診断コンテンツ / 会員専用ページ / PDF出力 / カウンセリング導線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58952" y="5184648"/>
            <a:ext cx="10698480" cy="713232"/>
          </a:xfrm>
          <a:prstGeom prst="roundRect">
            <a:avLst>
              <a:gd name="adj" fmla="val 20513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31520" y="5148072"/>
            <a:ext cx="1069848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0664" y="5157216"/>
            <a:ext cx="64008" cy="694944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41" name="Shape 39"/>
          <p:cNvSpPr/>
          <p:nvPr/>
        </p:nvSpPr>
        <p:spPr>
          <a:xfrm>
            <a:off x="1005840" y="5257800"/>
            <a:ext cx="502920" cy="502920"/>
          </a:xfrm>
          <a:prstGeom prst="ellipse">
            <a:avLst/>
          </a:prstGeom>
          <a:solidFill>
            <a:srgbClr val="0A1A33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1005840" y="5257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000000"/>
                </a:solidFill>
              </a:rPr>
              <a:t>🏢</a:t>
            </a:r>
            <a:endParaRPr lang="en-US" sz="1210" dirty="0"/>
          </a:p>
        </p:txBody>
      </p:sp>
      <p:sp>
        <p:nvSpPr>
          <p:cNvPr id="43" name="Text 41"/>
          <p:cNvSpPr/>
          <p:nvPr/>
        </p:nvSpPr>
        <p:spPr>
          <a:xfrm>
            <a:off x="1691640" y="5148072"/>
            <a:ext cx="2194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企業向け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023360" y="5148072"/>
            <a:ext cx="7223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社内ポータル / 業務連絡 / ナレッジ共有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371600" y="6172200"/>
            <a:ext cx="9418320" cy="457200"/>
          </a:xfrm>
          <a:prstGeom prst="roundRect">
            <a:avLst>
              <a:gd name="adj" fmla="val 50000"/>
            </a:avLst>
          </a:prstGeom>
          <a:solidFill>
            <a:srgbClr val="0A1A33"/>
          </a:solidFill>
          <a:ln/>
        </p:spPr>
      </p:sp>
      <p:sp>
        <p:nvSpPr>
          <p:cNvPr id="46" name="Text 44"/>
          <p:cNvSpPr/>
          <p:nvPr/>
        </p:nvSpPr>
        <p:spPr>
          <a:xfrm>
            <a:off x="1371600" y="617220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エムスタは、業界ごとの「継続接点」をアプリで形にできます。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1956816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18653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今の仕事や活動に、エムスタを組み込む。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3108960" y="1554480"/>
            <a:ext cx="1783080" cy="411480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15544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既存活動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303520" y="1554480"/>
            <a:ext cx="1783080" cy="411480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0" y="15544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エムスタを組み込む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059168" y="155448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98080" y="1554480"/>
            <a:ext cx="1783080" cy="411480"/>
          </a:xfrm>
          <a:prstGeom prst="roundRect">
            <a:avLst>
              <a:gd name="adj" fmla="val 22222"/>
            </a:avLst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0" y="15544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収益化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8952" y="2322576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731520" y="228600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" y="2295144"/>
            <a:ext cx="35021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1" name="Shape 19"/>
          <p:cNvSpPr/>
          <p:nvPr/>
        </p:nvSpPr>
        <p:spPr>
          <a:xfrm>
            <a:off x="960120" y="2514600"/>
            <a:ext cx="548640" cy="54864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000000"/>
                </a:solidFill>
              </a:rPr>
              <a:t>🌐</a:t>
            </a:r>
            <a:endParaRPr lang="en-US" sz="1320" dirty="0"/>
          </a:p>
        </p:txBody>
      </p:sp>
      <p:sp>
        <p:nvSpPr>
          <p:cNvPr id="23" name="Text 21"/>
          <p:cNvSpPr/>
          <p:nvPr/>
        </p:nvSpPr>
        <p:spPr>
          <a:xfrm>
            <a:off x="1627632" y="254203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Web制作会社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87552" y="320040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ホームページ制作後の追加提案として、会員アプリ・予約・通知を提案。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53712" y="2322576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526280" y="228600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35424" y="2295144"/>
            <a:ext cx="35021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8" name="Shape 26"/>
          <p:cNvSpPr/>
          <p:nvPr/>
        </p:nvSpPr>
        <p:spPr>
          <a:xfrm>
            <a:off x="4754880" y="2514600"/>
            <a:ext cx="548640" cy="54864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000000"/>
                </a:solidFill>
              </a:rPr>
              <a:t>🎨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5422392" y="254203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デザイン会社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82312" y="320040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ブランドサイトだけでなく、顧客接点を持つアプリUI/UXまで提案。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348472" y="2322576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8321040" y="228600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330184" y="2295144"/>
            <a:ext cx="35021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5" name="Shape 33"/>
          <p:cNvSpPr/>
          <p:nvPr/>
        </p:nvSpPr>
        <p:spPr>
          <a:xfrm>
            <a:off x="8549640" y="2514600"/>
            <a:ext cx="548640" cy="54864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854964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000000"/>
                </a:solidFill>
              </a:rPr>
              <a:t>💻</a:t>
            </a:r>
            <a:endParaRPr lang="en-US" sz="1320" dirty="0"/>
          </a:p>
        </p:txBody>
      </p:sp>
      <p:sp>
        <p:nvSpPr>
          <p:cNvPr id="37" name="Text 35"/>
          <p:cNvSpPr/>
          <p:nvPr/>
        </p:nvSpPr>
        <p:spPr>
          <a:xfrm>
            <a:off x="9217152" y="254203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開発会社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7072" y="320040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フルスクラッチでは予算が合わない案件に、低コスト・短納期の選択肢として提案。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" y="4379976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31520" y="434340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0664" y="4352544"/>
            <a:ext cx="3502152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2" name="Shape 40"/>
          <p:cNvSpPr/>
          <p:nvPr/>
        </p:nvSpPr>
        <p:spPr>
          <a:xfrm>
            <a:off x="960120" y="4572000"/>
            <a:ext cx="548640" cy="54864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96012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000000"/>
                </a:solidFill>
              </a:rPr>
              <a:t>📞</a:t>
            </a:r>
            <a:endParaRPr lang="en-US" sz="1320" dirty="0"/>
          </a:p>
        </p:txBody>
      </p:sp>
      <p:sp>
        <p:nvSpPr>
          <p:cNvPr id="44" name="Text 42"/>
          <p:cNvSpPr/>
          <p:nvPr/>
        </p:nvSpPr>
        <p:spPr>
          <a:xfrm>
            <a:off x="1627632" y="459943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営業会社 / 代理店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987552" y="525780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既存クライアントへエムスタを紹介し、制作を持たずにレベニューシェアを得る。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53712" y="4379976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526280" y="434340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35424" y="4352544"/>
            <a:ext cx="3502152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9" name="Shape 47"/>
          <p:cNvSpPr/>
          <p:nvPr/>
        </p:nvSpPr>
        <p:spPr>
          <a:xfrm>
            <a:off x="4754880" y="4572000"/>
            <a:ext cx="548640" cy="54864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475488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000000"/>
                </a:solidFill>
              </a:rPr>
              <a:t>📣</a:t>
            </a:r>
            <a:endParaRPr lang="en-US" sz="1320" dirty="0"/>
          </a:p>
        </p:txBody>
      </p:sp>
      <p:sp>
        <p:nvSpPr>
          <p:cNvPr id="51" name="Text 49"/>
          <p:cNvSpPr/>
          <p:nvPr/>
        </p:nvSpPr>
        <p:spPr>
          <a:xfrm>
            <a:off x="5422392" y="459943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メディア運営者 / インフルエンサー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782312" y="525780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業界特化の記事やSNS発信から紹介コードへ誘導し、送客導線を収益化。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348472" y="4379976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321040" y="434340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30184" y="4352544"/>
            <a:ext cx="350215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6" name="Shape 54"/>
          <p:cNvSpPr/>
          <p:nvPr/>
        </p:nvSpPr>
        <p:spPr>
          <a:xfrm>
            <a:off x="8549640" y="4572000"/>
            <a:ext cx="548640" cy="54864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854964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000000"/>
                </a:solidFill>
              </a:rPr>
              <a:t>🌙</a:t>
            </a:r>
            <a:endParaRPr lang="en-US" sz="1320" dirty="0"/>
          </a:p>
        </p:txBody>
      </p:sp>
      <p:sp>
        <p:nvSpPr>
          <p:cNvPr id="58" name="Text 56"/>
          <p:cNvSpPr/>
          <p:nvPr/>
        </p:nvSpPr>
        <p:spPr>
          <a:xfrm>
            <a:off x="9217152" y="459943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個人クリエイター / 副業層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577072" y="525780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テンプレート販売、小規模アプリ制作、紹介活動から小さく始める。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エムスタは、新規事業としてだけでなく、既存の顧客接点・営業活動・制作メニュー・発信媒体に組み込むことで収益化できます。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0" y="4572000"/>
            <a:ext cx="4572000" cy="4572000"/>
          </a:xfrm>
          <a:prstGeom prst="ellipse">
            <a:avLst/>
          </a:prstGeom>
          <a:solidFill>
            <a:srgbClr val="2563EB">
              <a:alpha val="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4A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411480"/>
            <a:ext cx="2212848" cy="292608"/>
          </a:xfrm>
          <a:prstGeom prst="roundRect">
            <a:avLst>
              <a:gd name="adj" fmla="val 50000"/>
            </a:avLst>
          </a:prstGeom>
          <a:solidFill>
            <a:srgbClr val="22D3EE">
              <a:alpha val="1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411480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REVENUE MODEL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作るだけではない、4つの収益機会。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658368" y="2039112"/>
            <a:ext cx="2560320" cy="3383280"/>
          </a:xfrm>
          <a:prstGeom prst="roundRect">
            <a:avLst>
              <a:gd name="adj" fmla="val 5714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011680"/>
            <a:ext cx="2560320" cy="3383280"/>
          </a:xfrm>
          <a:prstGeom prst="roundRect">
            <a:avLst>
              <a:gd name="adj" fmla="val 5714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" y="2020824"/>
            <a:ext cx="254203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Shape 12"/>
          <p:cNvSpPr/>
          <p:nvPr/>
        </p:nvSpPr>
        <p:spPr>
          <a:xfrm>
            <a:off x="1554480" y="2286000"/>
            <a:ext cx="731520" cy="73152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554480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60" dirty="0">
                <a:solidFill>
                  <a:srgbClr val="000000"/>
                </a:solidFill>
              </a:rPr>
              <a:t>🛠</a:t>
            </a:r>
            <a:endParaRPr lang="en-US" sz="1760" dirty="0"/>
          </a:p>
        </p:txBody>
      </p:sp>
      <p:sp>
        <p:nvSpPr>
          <p:cNvPr id="16" name="Text 14"/>
          <p:cNvSpPr/>
          <p:nvPr/>
        </p:nvSpPr>
        <p:spPr>
          <a:xfrm>
            <a:off x="822960" y="21945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4A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008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Build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56616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制作費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2062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クライアント向けアプリ制作の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初期制作費。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47288" y="2039112"/>
            <a:ext cx="2560320" cy="3383280"/>
          </a:xfrm>
          <a:prstGeom prst="roundRect">
            <a:avLst>
              <a:gd name="adj" fmla="val 5714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429000" y="2011680"/>
            <a:ext cx="2560320" cy="3383280"/>
          </a:xfrm>
          <a:prstGeom prst="roundRect">
            <a:avLst>
              <a:gd name="adj" fmla="val 5714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38144" y="2020824"/>
            <a:ext cx="2542032" cy="6400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3" name="Shape 21"/>
          <p:cNvSpPr/>
          <p:nvPr/>
        </p:nvSpPr>
        <p:spPr>
          <a:xfrm>
            <a:off x="4343400" y="2286000"/>
            <a:ext cx="731520" cy="731520"/>
          </a:xfrm>
          <a:prstGeom prst="ellipse">
            <a:avLst/>
          </a:prstGeom>
          <a:solidFill>
            <a:srgbClr val="22D3EE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343400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60" dirty="0">
                <a:solidFill>
                  <a:srgbClr val="000000"/>
                </a:solidFill>
              </a:rPr>
              <a:t>📈</a:t>
            </a:r>
            <a:endParaRPr lang="en-US" sz="1760" dirty="0"/>
          </a:p>
        </p:txBody>
      </p:sp>
      <p:sp>
        <p:nvSpPr>
          <p:cNvPr id="25" name="Text 23"/>
          <p:cNvSpPr/>
          <p:nvPr/>
        </p:nvSpPr>
        <p:spPr>
          <a:xfrm>
            <a:off x="3611880" y="21945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4A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42900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Share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20440" y="356616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月額レベニューシェア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566160" y="42062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エンドクライアントの月額利用料に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応じた継続収益。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236208" y="2039112"/>
            <a:ext cx="2560320" cy="3383280"/>
          </a:xfrm>
          <a:prstGeom prst="roundRect">
            <a:avLst>
              <a:gd name="adj" fmla="val 5714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217920" y="2011680"/>
            <a:ext cx="2560320" cy="3383280"/>
          </a:xfrm>
          <a:prstGeom prst="roundRect">
            <a:avLst>
              <a:gd name="adj" fmla="val 5714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27064" y="2020824"/>
            <a:ext cx="2542032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2" name="Shape 30"/>
          <p:cNvSpPr/>
          <p:nvPr/>
        </p:nvSpPr>
        <p:spPr>
          <a:xfrm>
            <a:off x="7132320" y="2286000"/>
            <a:ext cx="731520" cy="73152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132320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60" dirty="0">
                <a:solidFill>
                  <a:srgbClr val="000000"/>
                </a:solidFill>
              </a:rPr>
              <a:t>📣</a:t>
            </a:r>
            <a:endParaRPr lang="en-US" sz="1760" dirty="0"/>
          </a:p>
        </p:txBody>
      </p:sp>
      <p:sp>
        <p:nvSpPr>
          <p:cNvPr id="34" name="Text 32"/>
          <p:cNvSpPr/>
          <p:nvPr/>
        </p:nvSpPr>
        <p:spPr>
          <a:xfrm>
            <a:off x="6400800" y="21945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4A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21792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6B6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Sell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09360" y="356616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 / 送客レベニュー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355080" y="42062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紹介コード経由で登録・利用開始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されたアカウントの月額利用に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応じた収益。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025128" y="2039112"/>
            <a:ext cx="2560320" cy="3383280"/>
          </a:xfrm>
          <a:prstGeom prst="roundRect">
            <a:avLst>
              <a:gd name="adj" fmla="val 5714"/>
            </a:avLst>
          </a:prstGeom>
          <a:solidFill>
            <a:srgbClr val="000000">
              <a:alpha val="1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006840" y="2011680"/>
            <a:ext cx="2560320" cy="3383280"/>
          </a:xfrm>
          <a:prstGeom prst="roundRect">
            <a:avLst>
              <a:gd name="adj" fmla="val 5714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15984" y="2020824"/>
            <a:ext cx="254203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1" name="Shape 39"/>
          <p:cNvSpPr/>
          <p:nvPr/>
        </p:nvSpPr>
        <p:spPr>
          <a:xfrm>
            <a:off x="9921240" y="2286000"/>
            <a:ext cx="731520" cy="73152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9921240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60" dirty="0">
                <a:solidFill>
                  <a:srgbClr val="000000"/>
                </a:solidFill>
              </a:rPr>
              <a:t>🏪</a:t>
            </a:r>
            <a:endParaRPr lang="en-US" sz="1760" dirty="0"/>
          </a:p>
        </p:txBody>
      </p:sp>
      <p:sp>
        <p:nvSpPr>
          <p:cNvPr id="43" name="Text 41"/>
          <p:cNvSpPr/>
          <p:nvPr/>
        </p:nvSpPr>
        <p:spPr>
          <a:xfrm>
            <a:off x="9189720" y="21945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4A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900684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B5C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Support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9098280" y="356616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テンプレート販売・追加支援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144000" y="42062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業界特化UI、コンポーネント、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追加制作、運用支援など。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371600" y="5760720"/>
            <a:ext cx="9418320" cy="777240"/>
          </a:xfrm>
          <a:prstGeom prst="roundRect">
            <a:avLst>
              <a:gd name="adj" fmla="val 18824"/>
            </a:avLst>
          </a:prstGeom>
          <a:solidFill>
            <a:srgbClr val="12284A"/>
          </a:solidFill>
          <a:ln w="8890">
            <a:solidFill>
              <a:srgbClr val="06B6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5760720"/>
            <a:ext cx="9418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制作できる人は制作で。紹介できる人は送客で。資産を持つ人は販売で。</a:t>
            </a:r>
            <a:endParaRPr lang="en-US" sz="115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それぞれの強みを収益化できます。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212848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REVENUE SHARE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公開アプリ数や貢献度に応じて、還元率が上がります。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005840" y="4219303"/>
            <a:ext cx="1828800" cy="1175657"/>
          </a:xfrm>
          <a:prstGeom prst="roundRect">
            <a:avLst>
              <a:gd name="adj" fmla="val 6222"/>
            </a:avLst>
          </a:prstGeom>
          <a:solidFill>
            <a:srgbClr val="B45309">
              <a:alpha val="88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652375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005840" y="4329031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★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4630783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Bronze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55046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RANK 01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154680" y="3827417"/>
            <a:ext cx="1828800" cy="1567543"/>
          </a:xfrm>
          <a:prstGeom prst="roundRect">
            <a:avLst>
              <a:gd name="adj" fmla="val 4667"/>
            </a:avLst>
          </a:prstGeom>
          <a:solidFill>
            <a:srgbClr val="64748B">
              <a:alpha val="88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3154680" y="3260489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154680" y="3937145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154680" y="4238897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Silver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154680" y="55046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RANK 02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303520" y="3435531"/>
            <a:ext cx="1828800" cy="1959429"/>
          </a:xfrm>
          <a:prstGeom prst="roundRect">
            <a:avLst>
              <a:gd name="adj" fmla="val 4000"/>
            </a:avLst>
          </a:prstGeom>
          <a:solidFill>
            <a:srgbClr val="F59E0B">
              <a:alpha val="88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0" y="2868603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25%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5303520" y="3545259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★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03520" y="3847011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Gold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03520" y="55046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RANK 03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452360" y="3043646"/>
            <a:ext cx="1828800" cy="2351314"/>
          </a:xfrm>
          <a:prstGeom prst="roundRect">
            <a:avLst>
              <a:gd name="adj" fmla="val 4000"/>
            </a:avLst>
          </a:prstGeom>
          <a:solidFill>
            <a:srgbClr val="0EA5E9">
              <a:alpha val="88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7452360" y="247671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A5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30%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452360" y="315337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452360" y="345512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Platinum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452360" y="55046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RANK 04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601200" y="2651760"/>
            <a:ext cx="1828800" cy="2743200"/>
          </a:xfrm>
          <a:prstGeom prst="roundRect">
            <a:avLst>
              <a:gd name="adj" fmla="val 4000"/>
            </a:avLst>
          </a:prstGeom>
          <a:solidFill>
            <a:srgbClr val="A855F7">
              <a:alpha val="88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0" y="208483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855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35%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9601200" y="27614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★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601200" y="3063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Legend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601200" y="55046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RANK 05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22960" y="5394960"/>
            <a:ext cx="10515600" cy="18288"/>
          </a:xfrm>
          <a:prstGeom prst="rect">
            <a:avLst/>
          </a:prstGeom>
          <a:solidFill>
            <a:srgbClr val="DCE6F0"/>
          </a:solidFill>
          <a:ln/>
        </p:spPr>
      </p:sp>
      <p:sp>
        <p:nvSpPr>
          <p:cNvPr id="36" name="Shape 34"/>
          <p:cNvSpPr/>
          <p:nvPr/>
        </p:nvSpPr>
        <p:spPr>
          <a:xfrm>
            <a:off x="731520" y="5943600"/>
            <a:ext cx="6949440" cy="685800"/>
          </a:xfrm>
          <a:prstGeom prst="roundRect">
            <a:avLst>
              <a:gd name="adj" fmla="val 18667"/>
            </a:avLst>
          </a:prstGeom>
          <a:solidFill>
            <a:srgbClr val="06B6D4">
              <a:alpha val="9000"/>
            </a:srgbClr>
          </a:solidFill>
          <a:ln w="7620">
            <a:solidFill>
              <a:srgbClr val="06B6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0120" y="594360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継続案件が増えるほど、毎月の収益基盤が積み上がります。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制作実績や紹介実績は、パートナーとしての信用にもつながります。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63840" y="594360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還元率・条件は契約内容やランク条件によって異なる場合があります。</a:t>
            </a:r>
            <a:endParaRPr lang="en-US" sz="7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詳細はパートナー登録後またはオンライン相談時にご案内します。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852928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761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REVENUE SIMULATION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案件数とランクに応じた収益イメージ。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758952" y="1728216"/>
            <a:ext cx="5257800" cy="1920240"/>
          </a:xfrm>
          <a:prstGeom prst="roundRect">
            <a:avLst>
              <a:gd name="adj" fmla="val 7619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691640"/>
            <a:ext cx="5257800" cy="19202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0664" y="1700784"/>
            <a:ext cx="523951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183794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Web制作会社 A社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023360" y="1856232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4023360" y="1856232"/>
            <a:ext cx="768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制作型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74920" y="1856232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5074920" y="185623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Gold / 25%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60120" y="216712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既存顧客に月5件提案。制作費 + 継続レベニューを獲得。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960120" y="2697480"/>
            <a:ext cx="4800600" cy="256032"/>
          </a:xfrm>
          <a:prstGeom prst="roundRect">
            <a:avLst>
              <a:gd name="adj" fmla="val 17857"/>
            </a:avLst>
          </a:prstGeom>
          <a:solidFill>
            <a:srgbClr val="F7FAFC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269748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制作売上 / 件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40480" y="26974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¥150,000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60120" y="2999232"/>
            <a:ext cx="4800600" cy="256032"/>
          </a:xfrm>
          <a:prstGeom prst="roundRect">
            <a:avLst>
              <a:gd name="adj" fmla="val 17857"/>
            </a:avLst>
          </a:prstGeom>
          <a:solidFill>
            <a:srgbClr val="F7FAFC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299923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継続レベニュー / 月（5件）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840480" y="29992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 ¥18,750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60120" y="3300984"/>
            <a:ext cx="4800600" cy="256032"/>
          </a:xfrm>
          <a:prstGeom prst="roundRect">
            <a:avLst>
              <a:gd name="adj" fmla="val 17857"/>
            </a:avLst>
          </a:prstGeom>
          <a:solidFill>
            <a:srgbClr val="CFFAFE"/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3300984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年間継続収益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840480" y="330098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 ¥225,000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91072" y="1728216"/>
            <a:ext cx="5257800" cy="1920240"/>
          </a:xfrm>
          <a:prstGeom prst="roundRect">
            <a:avLst>
              <a:gd name="adj" fmla="val 7619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263640" y="1691640"/>
            <a:ext cx="5257800" cy="19202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2784" y="1700784"/>
            <a:ext cx="523951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183794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フリーランス Bさん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9555480" y="1856232"/>
            <a:ext cx="1124712" cy="2743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33" name="Text 31"/>
          <p:cNvSpPr/>
          <p:nvPr/>
        </p:nvSpPr>
        <p:spPr>
          <a:xfrm>
            <a:off x="9555480" y="1856232"/>
            <a:ext cx="1124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制作+販売型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0607040" y="1856232"/>
            <a:ext cx="1837944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/>
        </p:spPr>
      </p:sp>
      <p:sp>
        <p:nvSpPr>
          <p:cNvPr id="35" name="Text 33"/>
          <p:cNvSpPr/>
          <p:nvPr/>
        </p:nvSpPr>
        <p:spPr>
          <a:xfrm>
            <a:off x="10607040" y="1856232"/>
            <a:ext cx="1837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Silver / 20%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492240" y="216712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月2件の小規模アプリ制作 + テンプレート販売で副収益化。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492240" y="2697480"/>
            <a:ext cx="4800600" cy="256032"/>
          </a:xfrm>
          <a:prstGeom prst="roundRect">
            <a:avLst>
              <a:gd name="adj" fmla="val 17857"/>
            </a:avLst>
          </a:prstGeom>
          <a:solidFill>
            <a:srgbClr val="F7FAFC"/>
          </a:solidFill>
          <a:ln/>
        </p:spPr>
      </p:sp>
      <p:sp>
        <p:nvSpPr>
          <p:cNvPr id="38" name="Text 36"/>
          <p:cNvSpPr/>
          <p:nvPr/>
        </p:nvSpPr>
        <p:spPr>
          <a:xfrm>
            <a:off x="6629400" y="269748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制作売上 / 月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9372600" y="26974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¥100,000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92240" y="2999232"/>
            <a:ext cx="4800600" cy="256032"/>
          </a:xfrm>
          <a:prstGeom prst="roundRect">
            <a:avLst>
              <a:gd name="adj" fmla="val 17857"/>
            </a:avLst>
          </a:prstGeom>
          <a:solidFill>
            <a:srgbClr val="F7FAFC"/>
          </a:solidFill>
          <a:ln/>
        </p:spPr>
      </p:sp>
      <p:sp>
        <p:nvSpPr>
          <p:cNvPr id="41" name="Text 39"/>
          <p:cNvSpPr/>
          <p:nvPr/>
        </p:nvSpPr>
        <p:spPr>
          <a:xfrm>
            <a:off x="6629400" y="299923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テンプレート販売 / 月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372600" y="29992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 ¥30,000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492240" y="3300984"/>
            <a:ext cx="4800600" cy="256032"/>
          </a:xfrm>
          <a:prstGeom prst="roundRect">
            <a:avLst>
              <a:gd name="adj" fmla="val 17857"/>
            </a:avLst>
          </a:prstGeom>
          <a:solidFill>
            <a:srgbClr val="CFFAFE"/>
          </a:solidFill>
          <a:ln/>
        </p:spPr>
      </p:sp>
      <p:sp>
        <p:nvSpPr>
          <p:cNvPr id="44" name="Text 42"/>
          <p:cNvSpPr/>
          <p:nvPr/>
        </p:nvSpPr>
        <p:spPr>
          <a:xfrm>
            <a:off x="6629400" y="3300984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継続レベニュー / 月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9372600" y="330098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 ¥6,000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58952" y="3877056"/>
            <a:ext cx="5257800" cy="1920240"/>
          </a:xfrm>
          <a:prstGeom prst="roundRect">
            <a:avLst>
              <a:gd name="adj" fmla="val 7619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31520" y="3840480"/>
            <a:ext cx="5257800" cy="19202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40664" y="3849624"/>
            <a:ext cx="5239512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9" name="Text 47"/>
          <p:cNvSpPr/>
          <p:nvPr/>
        </p:nvSpPr>
        <p:spPr>
          <a:xfrm>
            <a:off x="960120" y="39867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セールスパートナー Cさん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4023360" y="4005072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51" name="Text 49"/>
          <p:cNvSpPr/>
          <p:nvPr/>
        </p:nvSpPr>
        <p:spPr>
          <a:xfrm>
            <a:off x="4023360" y="4005072"/>
            <a:ext cx="768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紹介型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074920" y="4005072"/>
            <a:ext cx="1837944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/>
        </p:spPr>
      </p:sp>
      <p:sp>
        <p:nvSpPr>
          <p:cNvPr id="53" name="Text 51"/>
          <p:cNvSpPr/>
          <p:nvPr/>
        </p:nvSpPr>
        <p:spPr>
          <a:xfrm>
            <a:off x="5074920" y="4005072"/>
            <a:ext cx="1837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Silver / 20%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960120" y="431596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業界特化メディアやSNSから紹介コードへ送客。登録・利用開始されたアカウントの月額利用に応じて継続レベニューを獲得。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960120" y="4846320"/>
            <a:ext cx="4800600" cy="256032"/>
          </a:xfrm>
          <a:prstGeom prst="roundRect">
            <a:avLst>
              <a:gd name="adj" fmla="val 17857"/>
            </a:avLst>
          </a:prstGeom>
          <a:solidFill>
            <a:srgbClr val="F7FAFC"/>
          </a:solidFill>
          <a:ln/>
        </p:spPr>
      </p:sp>
      <p:sp>
        <p:nvSpPr>
          <p:cNvPr id="56" name="Text 54"/>
          <p:cNvSpPr/>
          <p:nvPr/>
        </p:nvSpPr>
        <p:spPr>
          <a:xfrm>
            <a:off x="1097280" y="48463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紹介経由アカウント（累計）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3840480" y="48463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20件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960120" y="5148072"/>
            <a:ext cx="4800600" cy="256032"/>
          </a:xfrm>
          <a:prstGeom prst="roundRect">
            <a:avLst>
              <a:gd name="adj" fmla="val 17857"/>
            </a:avLst>
          </a:prstGeom>
          <a:solidFill>
            <a:srgbClr val="F7FAFC"/>
          </a:solidFill>
          <a:ln/>
        </p:spPr>
      </p:sp>
      <p:sp>
        <p:nvSpPr>
          <p:cNvPr id="59" name="Text 57"/>
          <p:cNvSpPr/>
          <p:nvPr/>
        </p:nvSpPr>
        <p:spPr>
          <a:xfrm>
            <a:off x="1097280" y="514807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継続レベニュー / 月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840480" y="51480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 ¥20,000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960120" y="5449824"/>
            <a:ext cx="4800600" cy="256032"/>
          </a:xfrm>
          <a:prstGeom prst="roundRect">
            <a:avLst>
              <a:gd name="adj" fmla="val 17857"/>
            </a:avLst>
          </a:prstGeom>
          <a:solidFill>
            <a:srgbClr val="CFFAFE"/>
          </a:solidFill>
          <a:ln/>
        </p:spPr>
      </p:sp>
      <p:sp>
        <p:nvSpPr>
          <p:cNvPr id="62" name="Text 60"/>
          <p:cNvSpPr/>
          <p:nvPr/>
        </p:nvSpPr>
        <p:spPr>
          <a:xfrm>
            <a:off x="1097280" y="5449824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年間継続収益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3840480" y="544982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 ¥240,000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291072" y="3877056"/>
            <a:ext cx="5257800" cy="1920240"/>
          </a:xfrm>
          <a:prstGeom prst="roundRect">
            <a:avLst>
              <a:gd name="adj" fmla="val 7619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6263640" y="3840480"/>
            <a:ext cx="5257800" cy="19202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72784" y="3849624"/>
            <a:ext cx="523951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7" name="Text 65"/>
          <p:cNvSpPr/>
          <p:nvPr/>
        </p:nvSpPr>
        <p:spPr>
          <a:xfrm>
            <a:off x="6492240" y="39867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開発会社 D社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9555480" y="4005072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69" name="Text 67"/>
          <p:cNvSpPr/>
          <p:nvPr/>
        </p:nvSpPr>
        <p:spPr>
          <a:xfrm>
            <a:off x="9555480" y="4005072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制作型（大型）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10607040" y="4005072"/>
            <a:ext cx="2075688" cy="27432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</p:sp>
      <p:sp>
        <p:nvSpPr>
          <p:cNvPr id="71" name="Text 69"/>
          <p:cNvSpPr/>
          <p:nvPr/>
        </p:nvSpPr>
        <p:spPr>
          <a:xfrm>
            <a:off x="10607040" y="4005072"/>
            <a:ext cx="2075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Platinum / 30%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6492240" y="431596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大型案件やエムスタFull案件を含め、複数クライアントを継続運用。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6492240" y="4846320"/>
            <a:ext cx="4800600" cy="256032"/>
          </a:xfrm>
          <a:prstGeom prst="roundRect">
            <a:avLst>
              <a:gd name="adj" fmla="val 17857"/>
            </a:avLst>
          </a:prstGeom>
          <a:solidFill>
            <a:srgbClr val="F7FAFC"/>
          </a:solidFill>
          <a:ln/>
        </p:spPr>
      </p:sp>
      <p:sp>
        <p:nvSpPr>
          <p:cNvPr id="74" name="Text 72"/>
          <p:cNvSpPr/>
          <p:nvPr/>
        </p:nvSpPr>
        <p:spPr>
          <a:xfrm>
            <a:off x="6629400" y="48463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制作売上 / 月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9372600" y="48463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¥1,500,000+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6492240" y="5148072"/>
            <a:ext cx="4800600" cy="256032"/>
          </a:xfrm>
          <a:prstGeom prst="roundRect">
            <a:avLst>
              <a:gd name="adj" fmla="val 17857"/>
            </a:avLst>
          </a:prstGeom>
          <a:solidFill>
            <a:srgbClr val="F7FAFC"/>
          </a:solidFill>
          <a:ln/>
        </p:spPr>
      </p:sp>
      <p:sp>
        <p:nvSpPr>
          <p:cNvPr id="77" name="Text 75"/>
          <p:cNvSpPr/>
          <p:nvPr/>
        </p:nvSpPr>
        <p:spPr>
          <a:xfrm>
            <a:off x="6629400" y="514807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継続レベニュー / 月（30件）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9372600" y="51480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 ¥135,000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6492240" y="5449824"/>
            <a:ext cx="4800600" cy="256032"/>
          </a:xfrm>
          <a:prstGeom prst="roundRect">
            <a:avLst>
              <a:gd name="adj" fmla="val 17857"/>
            </a:avLst>
          </a:prstGeom>
          <a:solidFill>
            <a:srgbClr val="CFFAFE"/>
          </a:solidFill>
          <a:ln/>
        </p:spPr>
      </p:sp>
      <p:sp>
        <p:nvSpPr>
          <p:cNvPr id="80" name="Text 78"/>
          <p:cNvSpPr/>
          <p:nvPr/>
        </p:nvSpPr>
        <p:spPr>
          <a:xfrm>
            <a:off x="6629400" y="5449824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年間継続収益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9372600" y="544982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 ¥1,620,000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731520" y="6035040"/>
            <a:ext cx="5852160" cy="548640"/>
          </a:xfrm>
          <a:prstGeom prst="roundRect">
            <a:avLst>
              <a:gd name="adj" fmla="val 23333"/>
            </a:avLst>
          </a:prstGeom>
          <a:solidFill>
            <a:srgbClr val="06B6D4">
              <a:alpha val="9000"/>
            </a:srgbClr>
          </a:solidFill>
          <a:ln w="7620">
            <a:solidFill>
              <a:srgbClr val="06B6D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14400" y="6035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収益は、案件単価だけでなく、継続利用と紹介の積み上げで育ちます。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6766560" y="5989320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6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【試算条件】1アプリあたりの月額利用料をもとに試算（Web / iOS / Android構成により変動）。還元率はパートナーランクに応じて変動。案件数・制作単価はモデルケースです。継続率は仮定であり、実際の収益を保証するものではありません。</a:t>
            </a:r>
            <a:endParaRPr lang="en-US" sz="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212848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FIRST 30 DAYS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登録後30日で、最初の収益導線をつくる。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731520" y="148132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1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パートナー登録はゴールではありません。重要なのは、登録後に自分の強みに合った活動を開始することです。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58952" y="2185416"/>
            <a:ext cx="5257800" cy="868680"/>
          </a:xfrm>
          <a:prstGeom prst="roundRect">
            <a:avLst>
              <a:gd name="adj" fmla="val 16842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148840"/>
            <a:ext cx="5257800" cy="868680"/>
          </a:xfrm>
          <a:prstGeom prst="roundRect">
            <a:avLst>
              <a:gd name="adj" fmla="val 16842"/>
            </a:avLst>
          </a:prstGeom>
          <a:solidFill>
            <a:srgbClr val="F7FAFC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1720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0A1A33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331720"/>
            <a:ext cx="768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1週目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96596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登録・理解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965960" y="2542032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パートナー登録 / かんたんモード・プロモード確認 / 紹介コード・制度条件の確認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291072" y="2185416"/>
            <a:ext cx="5257800" cy="868680"/>
          </a:xfrm>
          <a:prstGeom prst="roundRect">
            <a:avLst>
              <a:gd name="adj" fmla="val 16842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263640" y="2148840"/>
            <a:ext cx="5257800" cy="868680"/>
          </a:xfrm>
          <a:prstGeom prst="roundRect">
            <a:avLst>
              <a:gd name="adj" fmla="val 16842"/>
            </a:avLst>
          </a:prstGeom>
          <a:solidFill>
            <a:srgbClr val="F7FAFC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2331720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0A1A33"/>
          </a:solidFill>
          <a:ln/>
        </p:spPr>
      </p:sp>
      <p:sp>
        <p:nvSpPr>
          <p:cNvPr id="20" name="Text 18"/>
          <p:cNvSpPr/>
          <p:nvPr/>
        </p:nvSpPr>
        <p:spPr>
          <a:xfrm>
            <a:off x="6446520" y="2331720"/>
            <a:ext cx="768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2週目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49808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参加ルートを決める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498080" y="2542032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制作する・紹介する・テンプレートを販売する / 自分に合う活動方針を整理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58952" y="3282696"/>
            <a:ext cx="3520440" cy="3154680"/>
          </a:xfrm>
          <a:prstGeom prst="roundRect">
            <a:avLst>
              <a:gd name="adj" fmla="val 4638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3246120"/>
            <a:ext cx="3520440" cy="3154680"/>
          </a:xfrm>
          <a:prstGeom prst="roundRect">
            <a:avLst>
              <a:gd name="adj" fmla="val 4638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0664" y="3255264"/>
            <a:ext cx="35021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340156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💻  制作パートナー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60120" y="3794760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" y="3794760"/>
            <a:ext cx="768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3週目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05840" y="4114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既存顧客への追加提案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05840" y="442569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サンプルアプリ作成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05840" y="4736592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見積りパターン整理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60120" y="5120640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" y="5120640"/>
            <a:ext cx="768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4週目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05840" y="544068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初回案件相談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05840" y="575157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導入設計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05840" y="6062472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制作開始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53712" y="3282696"/>
            <a:ext cx="3520440" cy="3154680"/>
          </a:xfrm>
          <a:prstGeom prst="roundRect">
            <a:avLst>
              <a:gd name="adj" fmla="val 4638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526280" y="3246120"/>
            <a:ext cx="3520440" cy="3154680"/>
          </a:xfrm>
          <a:prstGeom prst="roundRect">
            <a:avLst>
              <a:gd name="adj" fmla="val 4638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35424" y="3255264"/>
            <a:ext cx="3502152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0" name="Text 38"/>
          <p:cNvSpPr/>
          <p:nvPr/>
        </p:nvSpPr>
        <p:spPr>
          <a:xfrm>
            <a:off x="4754880" y="340156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B6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📣  セールス / 紹介パートナー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754880" y="3794760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42" name="Text 40"/>
          <p:cNvSpPr/>
          <p:nvPr/>
        </p:nvSpPr>
        <p:spPr>
          <a:xfrm>
            <a:off x="4754880" y="3794760"/>
            <a:ext cx="768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3週目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800600" y="4114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紹介記事・LP・SNS投稿を作成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800600" y="442569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紹介コード設置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800600" y="4736592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既存顧客・業界コミュニティへ案内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754880" y="5120640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47" name="Text 45"/>
          <p:cNvSpPr/>
          <p:nvPr/>
        </p:nvSpPr>
        <p:spPr>
          <a:xfrm>
            <a:off x="4754880" y="5120640"/>
            <a:ext cx="768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4週目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800600" y="544068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流入状況の確認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800600" y="575157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紹介導線の改善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800600" y="6062472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オンライン相談で業界特化戦略を整理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8348472" y="3282696"/>
            <a:ext cx="3520440" cy="3154680"/>
          </a:xfrm>
          <a:prstGeom prst="roundRect">
            <a:avLst>
              <a:gd name="adj" fmla="val 4638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321040" y="3246120"/>
            <a:ext cx="3520440" cy="3154680"/>
          </a:xfrm>
          <a:prstGeom prst="roundRect">
            <a:avLst>
              <a:gd name="adj" fmla="val 4638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330184" y="3255264"/>
            <a:ext cx="350215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4" name="Text 52"/>
          <p:cNvSpPr/>
          <p:nvPr/>
        </p:nvSpPr>
        <p:spPr>
          <a:xfrm>
            <a:off x="8549640" y="340156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5C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🏪  テンプレート販売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8549640" y="3794760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56" name="Text 54"/>
          <p:cNvSpPr/>
          <p:nvPr/>
        </p:nvSpPr>
        <p:spPr>
          <a:xfrm>
            <a:off x="8549640" y="3794760"/>
            <a:ext cx="768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3週目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595360" y="4114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業界特化UI・テンプレート案を作成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595360" y="442569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販売テーマを決定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8595360" y="4736592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サンプル構成を準備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549640" y="5120640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61" name="Text 59"/>
          <p:cNvSpPr/>
          <p:nvPr/>
        </p:nvSpPr>
        <p:spPr>
          <a:xfrm>
            <a:off x="8549640" y="5120640"/>
            <a:ext cx="768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4週目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595360" y="544068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販売準備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8595360" y="575157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紹介記事や導入文脈と連動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595360" y="6062472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•  初回公開・改善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どのルートでも、30日後には「最初の収益導線」が形になっている状態を目指します。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340864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2494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CASES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実際の活用事例から、提案の可能性を広げる。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758952" y="1819656"/>
            <a:ext cx="5257800" cy="4206240"/>
          </a:xfrm>
          <a:prstGeom prst="roundRect">
            <a:avLst>
              <a:gd name="adj" fmla="val 3478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783080"/>
            <a:ext cx="5257800" cy="42062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011680"/>
            <a:ext cx="4800600" cy="1691640"/>
          </a:xfrm>
          <a:prstGeom prst="roundRect">
            <a:avLst>
              <a:gd name="adj" fmla="val 5405"/>
            </a:avLst>
          </a:prstGeom>
          <a:solidFill>
            <a:srgbClr val="EEF4F9"/>
          </a:solidFill>
          <a:ln w="8890">
            <a:solidFill>
              <a:srgbClr val="DCE6F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60120" y="2011680"/>
            <a:ext cx="48006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60120" y="384048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84048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団体・会員向けアプリ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60120" y="41605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鳥取県歯科医師会様 / App歯っ鳥くん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60120" y="452628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災害時の安否確認から、日常の会員連絡までを支える情報インフラ。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60120" y="5029200"/>
            <a:ext cx="557784" cy="256032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029200"/>
            <a:ext cx="557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投稿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609344" y="5029200"/>
            <a:ext cx="1033272" cy="256032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/>
        </p:spPr>
      </p:sp>
      <p:sp>
        <p:nvSpPr>
          <p:cNvPr id="21" name="Text 19"/>
          <p:cNvSpPr/>
          <p:nvPr/>
        </p:nvSpPr>
        <p:spPr>
          <a:xfrm>
            <a:off x="1609344" y="5029200"/>
            <a:ext cx="10332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プッシュ通知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734056" y="502920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/>
        </p:spPr>
      </p:sp>
      <p:sp>
        <p:nvSpPr>
          <p:cNvPr id="23" name="Text 21"/>
          <p:cNvSpPr/>
          <p:nvPr/>
        </p:nvSpPr>
        <p:spPr>
          <a:xfrm>
            <a:off x="2734056" y="502920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739896" y="5029200"/>
            <a:ext cx="795528" cy="256032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/>
        </p:spPr>
      </p:sp>
      <p:sp>
        <p:nvSpPr>
          <p:cNvPr id="25" name="Text 23"/>
          <p:cNvSpPr/>
          <p:nvPr/>
        </p:nvSpPr>
        <p:spPr>
          <a:xfrm>
            <a:off x="3739896" y="5029200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会員管理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960120" y="5440680"/>
            <a:ext cx="4800600" cy="384048"/>
          </a:xfrm>
          <a:prstGeom prst="roundRect">
            <a:avLst>
              <a:gd name="adj" fmla="val 33333"/>
            </a:avLst>
          </a:prstGeom>
          <a:solidFill>
            <a:srgbClr val="06B6D4">
              <a:alpha val="9000"/>
            </a:srgbClr>
          </a:solidFill>
          <a:ln w="7620">
            <a:solidFill>
              <a:srgbClr val="06B6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5440680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公共性のある団体・協会向けアプリの参考事例。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91072" y="1819656"/>
            <a:ext cx="5257800" cy="4206240"/>
          </a:xfrm>
          <a:prstGeom prst="roundRect">
            <a:avLst>
              <a:gd name="adj" fmla="val 3478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263640" y="1783080"/>
            <a:ext cx="5257800" cy="42062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92240" y="2011680"/>
            <a:ext cx="4800600" cy="1691640"/>
          </a:xfrm>
          <a:prstGeom prst="roundRect">
            <a:avLst>
              <a:gd name="adj" fmla="val 5405"/>
            </a:avLst>
          </a:prstGeom>
          <a:solidFill>
            <a:srgbClr val="EEF4F9"/>
          </a:solidFill>
          <a:ln w="8890">
            <a:solidFill>
              <a:srgbClr val="DCE6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6492240" y="2011680"/>
            <a:ext cx="48006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92240" y="3840480"/>
            <a:ext cx="1837944" cy="2743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33" name="Text 31"/>
          <p:cNvSpPr/>
          <p:nvPr/>
        </p:nvSpPr>
        <p:spPr>
          <a:xfrm>
            <a:off x="6492240" y="3840480"/>
            <a:ext cx="1837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エムスタFull活用事例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492240" y="41605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アデジョ薬膳®様 / 体質診断コンテンツ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92240" y="452628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独自の体質診断メソッドを、認定講師が使える診断コンテンツへ。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492240" y="5029200"/>
            <a:ext cx="1033272" cy="256032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/>
        </p:spPr>
      </p:sp>
      <p:sp>
        <p:nvSpPr>
          <p:cNvPr id="37" name="Text 35"/>
          <p:cNvSpPr/>
          <p:nvPr/>
        </p:nvSpPr>
        <p:spPr>
          <a:xfrm>
            <a:off x="6492240" y="5029200"/>
            <a:ext cx="10332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診断ロジック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616952" y="502920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/>
        </p:spPr>
      </p:sp>
      <p:sp>
        <p:nvSpPr>
          <p:cNvPr id="39" name="Text 37"/>
          <p:cNvSpPr/>
          <p:nvPr/>
        </p:nvSpPr>
        <p:spPr>
          <a:xfrm>
            <a:off x="7616952" y="502920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PDF出力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622792" y="5029200"/>
            <a:ext cx="795528" cy="256032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/>
        </p:spPr>
      </p:sp>
      <p:sp>
        <p:nvSpPr>
          <p:cNvPr id="41" name="Text 39"/>
          <p:cNvSpPr/>
          <p:nvPr/>
        </p:nvSpPr>
        <p:spPr>
          <a:xfrm>
            <a:off x="8622792" y="5029200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会員管理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9509760" y="5029200"/>
            <a:ext cx="1152144" cy="256032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/>
        </p:spPr>
      </p:sp>
      <p:sp>
        <p:nvSpPr>
          <p:cNvPr id="43" name="Text 41"/>
          <p:cNvSpPr/>
          <p:nvPr/>
        </p:nvSpPr>
        <p:spPr>
          <a:xfrm>
            <a:off x="9509760" y="5029200"/>
            <a:ext cx="11521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独自コンテンツ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492240" y="5440680"/>
            <a:ext cx="4800600" cy="384048"/>
          </a:xfrm>
          <a:prstGeom prst="roundRect">
            <a:avLst>
              <a:gd name="adj" fmla="val 33333"/>
            </a:avLst>
          </a:prstGeom>
          <a:solidFill>
            <a:srgbClr val="06B6D4">
              <a:alpha val="9000"/>
            </a:srgbClr>
          </a:solidFill>
          <a:ln w="7620">
            <a:solidFill>
              <a:srgbClr val="06B6D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29400" y="5440680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独自メソッドや講座ビジネスのコンテンツ化事例。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このような案件を提案できます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1371600" y="6400800"/>
            <a:ext cx="9418320" cy="384048"/>
          </a:xfrm>
          <a:prstGeom prst="roundRect">
            <a:avLst>
              <a:gd name="adj" fmla="val 50000"/>
            </a:avLst>
          </a:prstGeom>
          <a:solidFill>
            <a:srgbClr val="0A1A33"/>
          </a:solidFill>
          <a:ln/>
        </p:spPr>
      </p:sp>
      <p:sp>
        <p:nvSpPr>
          <p:cNvPr id="48" name="Text 46"/>
          <p:cNvSpPr/>
          <p:nvPr/>
        </p:nvSpPr>
        <p:spPr>
          <a:xfrm>
            <a:off x="1371600" y="6400800"/>
            <a:ext cx="9418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公共性のある団体案件から、独自メソッドのコンテンツ化まで。エムスタは、多様な事業課題に応用できます。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1444752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13533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SUPPORT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自分で進められ、必要に応じて広げられる環境。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731520" y="1554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1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エムスタは、パートナーが自社の強みやリソースに合わせて活動できる環境を提供します。制作・紹介・販売、それぞれの参加方法に合わせて活用できます。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58952" y="2459736"/>
            <a:ext cx="3520440" cy="1554480"/>
          </a:xfrm>
          <a:prstGeom prst="roundRect">
            <a:avLst>
              <a:gd name="adj" fmla="val 9412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423160"/>
            <a:ext cx="3520440" cy="15544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0664" y="2432304"/>
            <a:ext cx="3502152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Shape 12"/>
          <p:cNvSpPr/>
          <p:nvPr/>
        </p:nvSpPr>
        <p:spPr>
          <a:xfrm>
            <a:off x="932688" y="2624328"/>
            <a:ext cx="502920" cy="502920"/>
          </a:xfrm>
          <a:prstGeom prst="ellipse">
            <a:avLst/>
          </a:prstGeom>
          <a:solidFill>
            <a:srgbClr val="10B981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26243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000000"/>
                </a:solidFill>
              </a:rPr>
              <a:t>🌱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1554480" y="26517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かんたんモード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60120" y="32004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初心者・副業層でも、ガイドに沿って小規模アプリ制作を始めやすいUI。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53712" y="2459736"/>
            <a:ext cx="3520440" cy="1554480"/>
          </a:xfrm>
          <a:prstGeom prst="roundRect">
            <a:avLst>
              <a:gd name="adj" fmla="val 9412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526280" y="2423160"/>
            <a:ext cx="3520440" cy="15544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35424" y="2432304"/>
            <a:ext cx="35021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1" name="Shape 19"/>
          <p:cNvSpPr/>
          <p:nvPr/>
        </p:nvSpPr>
        <p:spPr>
          <a:xfrm>
            <a:off x="4727448" y="2624328"/>
            <a:ext cx="502920" cy="50292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727448" y="26243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000000"/>
                </a:solidFill>
              </a:rPr>
              <a:t>⚡</a:t>
            </a:r>
            <a:endParaRPr lang="en-US" sz="1210" dirty="0"/>
          </a:p>
        </p:txBody>
      </p:sp>
      <p:sp>
        <p:nvSpPr>
          <p:cNvPr id="23" name="Text 21"/>
          <p:cNvSpPr/>
          <p:nvPr/>
        </p:nvSpPr>
        <p:spPr>
          <a:xfrm>
            <a:off x="5349240" y="26517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プロモード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32004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制作会社・開発会社・デザイナーが、より柔軟に案件へ対応できる編集環境。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348472" y="2459736"/>
            <a:ext cx="3520440" cy="1554480"/>
          </a:xfrm>
          <a:prstGeom prst="roundRect">
            <a:avLst>
              <a:gd name="adj" fmla="val 9412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8321040" y="2423160"/>
            <a:ext cx="3520440" cy="15544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30184" y="2432304"/>
            <a:ext cx="3502152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Shape 26"/>
          <p:cNvSpPr/>
          <p:nvPr/>
        </p:nvSpPr>
        <p:spPr>
          <a:xfrm>
            <a:off x="8522208" y="2624328"/>
            <a:ext cx="502920" cy="50292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8522208" y="26243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000000"/>
                </a:solidFill>
              </a:rPr>
              <a:t>🔑</a:t>
            </a:r>
            <a:endParaRPr lang="en-US" sz="1210" dirty="0"/>
          </a:p>
        </p:txBody>
      </p:sp>
      <p:sp>
        <p:nvSpPr>
          <p:cNvPr id="30" name="Text 28"/>
          <p:cNvSpPr/>
          <p:nvPr/>
        </p:nvSpPr>
        <p:spPr>
          <a:xfrm>
            <a:off x="9144000" y="26517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紹介コード / セールス導線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49640" y="32004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自社媒体・SNS・営業活動からエムスタへ送客し、紹介経由の収益化を目指せる仕組み。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58952" y="4242816"/>
            <a:ext cx="3520440" cy="1554480"/>
          </a:xfrm>
          <a:prstGeom prst="roundRect">
            <a:avLst>
              <a:gd name="adj" fmla="val 9412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31520" y="4206240"/>
            <a:ext cx="3520440" cy="15544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40664" y="4215384"/>
            <a:ext cx="3502152" cy="6400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5" name="Shape 33"/>
          <p:cNvSpPr/>
          <p:nvPr/>
        </p:nvSpPr>
        <p:spPr>
          <a:xfrm>
            <a:off x="932688" y="4407408"/>
            <a:ext cx="502920" cy="502920"/>
          </a:xfrm>
          <a:prstGeom prst="ellipse">
            <a:avLst/>
          </a:prstGeom>
          <a:solidFill>
            <a:srgbClr val="0E7490">
              <a:alpha val="12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932688" y="44074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000000"/>
                </a:solidFill>
              </a:rPr>
              <a:t>⚙️</a:t>
            </a:r>
            <a:endParaRPr lang="en-US" sz="1210" dirty="0"/>
          </a:p>
        </p:txBody>
      </p:sp>
      <p:sp>
        <p:nvSpPr>
          <p:cNvPr id="37" name="Text 35"/>
          <p:cNvSpPr/>
          <p:nvPr/>
        </p:nvSpPr>
        <p:spPr>
          <a:xfrm>
            <a:off x="1554480" y="44348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CMS標準搭載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60120" y="49834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納品後もクライアント自身が情報更新しやすく、継続運用しやすい設計。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553712" y="4242816"/>
            <a:ext cx="3520440" cy="1554480"/>
          </a:xfrm>
          <a:prstGeom prst="roundRect">
            <a:avLst>
              <a:gd name="adj" fmla="val 9412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26280" y="4206240"/>
            <a:ext cx="3520440" cy="15544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35424" y="4215384"/>
            <a:ext cx="3502152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727448" y="4407408"/>
            <a:ext cx="502920" cy="50292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4727448" y="44074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000000"/>
                </a:solidFill>
              </a:rPr>
              <a:t>🧩</a:t>
            </a:r>
            <a:endParaRPr lang="en-US" sz="1210" dirty="0"/>
          </a:p>
        </p:txBody>
      </p:sp>
      <p:sp>
        <p:nvSpPr>
          <p:cNvPr id="44" name="Text 42"/>
          <p:cNvSpPr/>
          <p:nvPr/>
        </p:nvSpPr>
        <p:spPr>
          <a:xfrm>
            <a:off x="5349240" y="44348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テンプレート活用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754880" y="49834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業界特化の型を活用し、制作スピードと提案力を向上。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8348472" y="4242816"/>
            <a:ext cx="3520440" cy="1554480"/>
          </a:xfrm>
          <a:prstGeom prst="roundRect">
            <a:avLst>
              <a:gd name="adj" fmla="val 9412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321040" y="4206240"/>
            <a:ext cx="3520440" cy="15544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330184" y="4215384"/>
            <a:ext cx="3502152" cy="64008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49" name="Shape 47"/>
          <p:cNvSpPr/>
          <p:nvPr/>
        </p:nvSpPr>
        <p:spPr>
          <a:xfrm>
            <a:off x="8522208" y="4407408"/>
            <a:ext cx="502920" cy="502920"/>
          </a:xfrm>
          <a:prstGeom prst="ellipse">
            <a:avLst/>
          </a:prstGeom>
          <a:solidFill>
            <a:srgbClr val="0A1A33">
              <a:alpha val="12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8522208" y="44074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000000"/>
                </a:solidFill>
              </a:rPr>
              <a:t>🏗</a:t>
            </a:r>
            <a:endParaRPr lang="en-US" sz="1210" dirty="0"/>
          </a:p>
        </p:txBody>
      </p:sp>
      <p:sp>
        <p:nvSpPr>
          <p:cNvPr id="51" name="Text 49"/>
          <p:cNvSpPr/>
          <p:nvPr/>
        </p:nvSpPr>
        <p:spPr>
          <a:xfrm>
            <a:off x="9144000" y="44348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オフィシャル制作 / エムスタFull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549640" y="49834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自社制作工数を削減したい場合や、より高度な実装要件に対応したい場合の選択肢。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914400" y="6126480"/>
            <a:ext cx="10332720" cy="438912"/>
          </a:xfrm>
          <a:prstGeom prst="roundRect">
            <a:avLst>
              <a:gd name="adj" fmla="val 50000"/>
            </a:avLst>
          </a:prstGeom>
          <a:solidFill>
            <a:srgbClr val="0A1A33"/>
          </a:solidFill>
          <a:ln/>
        </p:spPr>
      </p:sp>
      <p:sp>
        <p:nvSpPr>
          <p:cNvPr id="54" name="Text 52"/>
          <p:cNvSpPr/>
          <p:nvPr/>
        </p:nvSpPr>
        <p:spPr>
          <a:xfrm>
            <a:off x="914400" y="6126480"/>
            <a:ext cx="10332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自社で作る。紹介する。テンプレートを売る。必要に応じてオフィシャル制作を活用する。複数の関わり方を選べるパートナー基盤です。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2724912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PRICING STRUCTURE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料金構造とレベニューシェア対象。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31520" y="1554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1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エンドクライアントの月額利用料に応じて、パートナーランク別のレベニューシェアが発生します。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58952" y="2414016"/>
            <a:ext cx="3657600" cy="3017520"/>
          </a:xfrm>
          <a:prstGeom prst="roundRect">
            <a:avLst>
              <a:gd name="adj" fmla="val 4848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377440"/>
            <a:ext cx="3657600" cy="301752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0664" y="2386584"/>
            <a:ext cx="363931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5603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エンドクライアント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月額利用料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3337560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333756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アカウント基本利用料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" y="3730752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373075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Webアプリ公開料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4123944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4123944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iOSアプリ公開料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14400" y="4517136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451713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Androidアプリ公開料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14400" y="4910328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91032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有償アドオン / 個別制作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26280" y="3611880"/>
            <a:ext cx="685800" cy="457200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/>
        </p:spPr>
      </p:sp>
      <p:sp>
        <p:nvSpPr>
          <p:cNvPr id="26" name="Text 24"/>
          <p:cNvSpPr/>
          <p:nvPr/>
        </p:nvSpPr>
        <p:spPr>
          <a:xfrm>
            <a:off x="4526280" y="361188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376672" y="2414016"/>
            <a:ext cx="2651760" cy="3017520"/>
          </a:xfrm>
          <a:prstGeom prst="roundRect">
            <a:avLst>
              <a:gd name="adj" fmla="val 5517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349240" y="2377440"/>
            <a:ext cx="2651760" cy="3017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58384" y="2386584"/>
            <a:ext cx="2633472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0" name="Text 28"/>
          <p:cNvSpPr/>
          <p:nvPr/>
        </p:nvSpPr>
        <p:spPr>
          <a:xfrm>
            <a:off x="5532120" y="25603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ランク別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レベニューシェア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32120" y="333756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Bronze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675120" y="3337560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15%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532120" y="37307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Silver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675120" y="3730752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20%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32120" y="412394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Gold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675120" y="4123944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25%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532120" y="45171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Platinum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675120" y="4517136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30%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532120" y="491032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Legend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675120" y="4910328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38160" y="3611880"/>
            <a:ext cx="685800" cy="457200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/>
        </p:spPr>
      </p:sp>
      <p:sp>
        <p:nvSpPr>
          <p:cNvPr id="42" name="Text 40"/>
          <p:cNvSpPr/>
          <p:nvPr/>
        </p:nvSpPr>
        <p:spPr>
          <a:xfrm>
            <a:off x="8138160" y="361188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8988552" y="2414016"/>
            <a:ext cx="2514600" cy="3017520"/>
          </a:xfrm>
          <a:prstGeom prst="roundRect">
            <a:avLst>
              <a:gd name="adj" fmla="val 5818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961120" y="2377440"/>
            <a:ext cx="2514600" cy="3017520"/>
          </a:xfrm>
          <a:prstGeom prst="roundRect">
            <a:avLst>
              <a:gd name="adj" fmla="val 5818"/>
            </a:avLst>
          </a:prstGeom>
          <a:solidFill>
            <a:srgbClr val="0A1A33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70264" y="2386584"/>
            <a:ext cx="2496312" cy="6400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6" name="Text 44"/>
          <p:cNvSpPr/>
          <p:nvPr/>
        </p:nvSpPr>
        <p:spPr>
          <a:xfrm>
            <a:off x="9144000" y="26060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パートナー収益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9144000" y="3337560"/>
            <a:ext cx="2148840" cy="384048"/>
          </a:xfrm>
          <a:prstGeom prst="roundRect">
            <a:avLst>
              <a:gd name="adj" fmla="val 19048"/>
            </a:avLst>
          </a:prstGeom>
          <a:solidFill>
            <a:srgbClr val="12284A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81160" y="333756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制作費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9144000" y="3794760"/>
            <a:ext cx="2148840" cy="384048"/>
          </a:xfrm>
          <a:prstGeom prst="roundRect">
            <a:avLst>
              <a:gd name="adj" fmla="val 19048"/>
            </a:avLst>
          </a:prstGeom>
          <a:solidFill>
            <a:srgbClr val="12284A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281160" y="379476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継続レベニュー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144000" y="4251960"/>
            <a:ext cx="2148840" cy="384048"/>
          </a:xfrm>
          <a:prstGeom prst="roundRect">
            <a:avLst>
              <a:gd name="adj" fmla="val 19048"/>
            </a:avLst>
          </a:prstGeom>
          <a:solidFill>
            <a:srgbClr val="12284A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81160" y="425196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紹介レベニュー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9144000" y="4709160"/>
            <a:ext cx="2148840" cy="384048"/>
          </a:xfrm>
          <a:prstGeom prst="roundRect">
            <a:avLst>
              <a:gd name="adj" fmla="val 19048"/>
            </a:avLst>
          </a:prstGeom>
          <a:solidFill>
            <a:srgbClr val="12284A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281160" y="470916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テンプレ販売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31520" y="5577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パートナー側の収益設計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31520" y="5897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制作費はパートナー側で設計可能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263640" y="5897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継続レベニューは月額利用に応じて発生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31520" y="61904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紹介コード経由の登録・利用開始もレベニューシェア対象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263640" y="61904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オフィシャル制作を活用し、営業・ディレクションに集中することも可能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731520" y="648309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詳細条件はパートナー登録後またはオンライン相談時に案内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6400800" y="653796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料金・還元条件は変更となる場合があります。最新条件は個別にご確認ください。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932688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8412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FAQ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よくある質問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758952" y="1728216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691640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182880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06B6D4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182880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25880" y="178308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制作経験がなくても参加できますか？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25880" y="2148840"/>
            <a:ext cx="4526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はい。紹介パートナーとして、自社媒体・SNS・営業活動から送客する参加方法があります。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291072" y="1728216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263640" y="1691640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28232" y="182880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DBEAFE"/>
          </a:solidFill>
          <a:ln/>
        </p:spPr>
      </p:sp>
      <p:sp>
        <p:nvSpPr>
          <p:cNvPr id="19" name="Text 17"/>
          <p:cNvSpPr/>
          <p:nvPr/>
        </p:nvSpPr>
        <p:spPr>
          <a:xfrm>
            <a:off x="6428232" y="182880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0" y="178308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Web制作しか経験がなくても参加できますか？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0" y="2148840"/>
            <a:ext cx="4526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はい。Web制作後の追加提案として、会員アプリ・予約・通知などを提案できます。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58952" y="2916936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31520" y="2880360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6112" y="301752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DBEAFE"/>
          </a:solidFill>
          <a:ln/>
        </p:spPr>
      </p:sp>
      <p:sp>
        <p:nvSpPr>
          <p:cNvPr id="25" name="Text 23"/>
          <p:cNvSpPr/>
          <p:nvPr/>
        </p:nvSpPr>
        <p:spPr>
          <a:xfrm>
            <a:off x="896112" y="301752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325880" y="297180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既存クライアントへの提案に使えますか？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325880" y="3337560"/>
            <a:ext cx="4526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はい。既存顧客へのアップセルや継続提案として活用できます。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91072" y="2916936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263640" y="2880360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28232" y="301752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DBEAFE"/>
          </a:solidFill>
          <a:ln/>
        </p:spPr>
      </p:sp>
      <p:sp>
        <p:nvSpPr>
          <p:cNvPr id="31" name="Text 29"/>
          <p:cNvSpPr/>
          <p:nvPr/>
        </p:nvSpPr>
        <p:spPr>
          <a:xfrm>
            <a:off x="6428232" y="301752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58000" y="297180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制作をすべて自社で行う必要がありますか？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58000" y="3337560"/>
            <a:ext cx="4526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いいえ。自社制作だけでなく、紹介パートナーとしての参加や、オフィシャル制作の活用も可能です。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58952" y="4105656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31520" y="4069080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" y="420624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06B6D4"/>
          </a:solidFill>
          <a:ln/>
        </p:spPr>
      </p:sp>
      <p:sp>
        <p:nvSpPr>
          <p:cNvPr id="37" name="Text 35"/>
          <p:cNvSpPr/>
          <p:nvPr/>
        </p:nvSpPr>
        <p:spPr>
          <a:xfrm>
            <a:off x="896112" y="42062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325880" y="416052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初心者・副業でも始められますか？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325880" y="4526280"/>
            <a:ext cx="4526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はい。かんたんモード、小規模アプリ制作、紹介活動、テンプレート販売などから始められます。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291072" y="4105656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63640" y="4069080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28232" y="420624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DBEAFE"/>
          </a:solidFill>
          <a:ln/>
        </p:spPr>
      </p:sp>
      <p:sp>
        <p:nvSpPr>
          <p:cNvPr id="43" name="Text 41"/>
          <p:cNvSpPr/>
          <p:nvPr/>
        </p:nvSpPr>
        <p:spPr>
          <a:xfrm>
            <a:off x="6428232" y="42062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858000" y="416052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テンプレート販売だけでも参加できますか？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858000" y="4526280"/>
            <a:ext cx="4526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はい。業界特化UIやテンプレート資産を販売する参加方法もあります。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58952" y="5294376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31520" y="5257800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96112" y="539496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DBEAFE"/>
          </a:solidFill>
          <a:ln/>
        </p:spPr>
      </p:sp>
      <p:sp>
        <p:nvSpPr>
          <p:cNvPr id="49" name="Text 47"/>
          <p:cNvSpPr/>
          <p:nvPr/>
        </p:nvSpPr>
        <p:spPr>
          <a:xfrm>
            <a:off x="896112" y="53949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1325880" y="534924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エムスタFull案件はどう扱いますか？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325880" y="5715000"/>
            <a:ext cx="4526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独自機能や高度な要件がある場合は、オフィシャル制作プランとして個別対応します。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291072" y="5294376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263640" y="5257800"/>
            <a:ext cx="5257800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28232" y="539496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06B6D4"/>
          </a:solidFill>
          <a:ln/>
        </p:spPr>
      </p:sp>
      <p:sp>
        <p:nvSpPr>
          <p:cNvPr id="55" name="Text 53"/>
          <p:cNvSpPr/>
          <p:nvPr/>
        </p:nvSpPr>
        <p:spPr>
          <a:xfrm>
            <a:off x="6428232" y="53949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6858000" y="534924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セールスパートナーとしての活動方法は相談できますか？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858000" y="5715000"/>
            <a:ext cx="4526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はい。紹介コードの活用、業界特化記事、営業導線、媒体設計などはオンラインにて個別にご相談いただけます。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31520" y="6537960"/>
            <a:ext cx="10698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枠線付きの質問は、特にお問い合わせの多い項目です。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A1A33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B6D4">
              <a:alpha val="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2563EB">
              <a:alpha val="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11480"/>
            <a:ext cx="160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0E74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NEXT STEP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8229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あなたに合う始め方を選んでください。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758952" y="1865376"/>
            <a:ext cx="5257800" cy="4206240"/>
          </a:xfrm>
          <a:prstGeom prst="roundRect">
            <a:avLst>
              <a:gd name="adj" fmla="val 3478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828800"/>
            <a:ext cx="5257800" cy="42062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0664" y="1837944"/>
            <a:ext cx="5239512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5840" y="205740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2057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選択肢 1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120640" y="2057400"/>
            <a:ext cx="594360" cy="59436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0" y="20574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dirty="0">
                <a:solidFill>
                  <a:srgbClr val="000000"/>
                </a:solidFill>
              </a:rPr>
              <a:t>🚀</a:t>
            </a:r>
            <a:endParaRPr lang="en-US" sz="1430" dirty="0"/>
          </a:p>
        </p:txBody>
      </p:sp>
      <p:sp>
        <p:nvSpPr>
          <p:cNvPr id="17" name="Text 15"/>
          <p:cNvSpPr/>
          <p:nvPr/>
        </p:nvSpPr>
        <p:spPr>
          <a:xfrm>
            <a:off x="1005840" y="242316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まず登録して始める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5840" y="288036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パートナーアカウントを作成し、エムスタ上でアプリビジネスを開始できます。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3429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向いている人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05840" y="374904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すぐに管理画面を触ってみたい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05840" y="413308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既に提案先や紹介先がある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05840" y="4517136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小さく始めてみたい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05840" y="4901184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紹介コードを活用して送客を始めたい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05840" y="5440680"/>
            <a:ext cx="4709160" cy="457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54406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パートナーアカウントを作成する  →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91072" y="1865376"/>
            <a:ext cx="5257800" cy="4206240"/>
          </a:xfrm>
          <a:prstGeom prst="roundRect">
            <a:avLst>
              <a:gd name="adj" fmla="val 3478"/>
            </a:avLst>
          </a:prstGeom>
          <a:solidFill>
            <a:srgbClr val="0A1A33">
              <a:alpha val="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263640" y="1828800"/>
            <a:ext cx="5257800" cy="42062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CE6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1837944"/>
            <a:ext cx="523951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37960" y="205740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30" name="Text 28"/>
          <p:cNvSpPr/>
          <p:nvPr/>
        </p:nvSpPr>
        <p:spPr>
          <a:xfrm>
            <a:off x="6537960" y="2057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選択肢 2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10652760" y="2057400"/>
            <a:ext cx="594360" cy="59436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10652760" y="20574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dirty="0">
                <a:solidFill>
                  <a:srgbClr val="000000"/>
                </a:solidFill>
              </a:rPr>
              <a:t>💬</a:t>
            </a:r>
            <a:endParaRPr lang="en-US" sz="1430" dirty="0"/>
          </a:p>
        </p:txBody>
      </p:sp>
      <p:sp>
        <p:nvSpPr>
          <p:cNvPr id="33" name="Text 31"/>
          <p:cNvSpPr/>
          <p:nvPr/>
        </p:nvSpPr>
        <p:spPr>
          <a:xfrm>
            <a:off x="6537960" y="242316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E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自社に合う活用方法を相談する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537960" y="288036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制作・紹介・販売のどこから始めるべきか、個別に整理します。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537960" y="3429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向いている人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537960" y="374904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既存事業への組み込み方を相談したい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537960" y="413308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業界特化の紹介戦略を作りたい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537960" y="4517136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セールスパートナーとしての導線設計を知りたい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537960" y="4901184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5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 エムスタFullやオフィシャル制作の活用可否を相談したい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537960" y="5440680"/>
            <a:ext cx="470916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41" name="Text 39"/>
          <p:cNvSpPr/>
          <p:nvPr/>
        </p:nvSpPr>
        <p:spPr>
          <a:xfrm>
            <a:off x="6537960" y="54406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オンラインで相談する  →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迷ったらオンライン相談がおすすめです。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84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6095848" y="0"/>
            <a:ext cx="6095848" cy="457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0" y="4572000"/>
            <a:ext cx="4572000" cy="4572000"/>
          </a:xfrm>
          <a:prstGeom prst="ellipse">
            <a:avLst/>
          </a:prstGeom>
          <a:solidFill>
            <a:srgbClr val="2563EB">
              <a:alpha val="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-2743200" y="-2743200"/>
            <a:ext cx="9144000" cy="914400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229600" y="3200400"/>
            <a:ext cx="8229600" cy="8229600"/>
          </a:xfrm>
          <a:prstGeom prst="ellipse">
            <a:avLst/>
          </a:prstGeom>
          <a:solidFill>
            <a:srgbClr val="2563EB">
              <a:alpha val="9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0" y="0"/>
            <a:ext cx="6095848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Shape 8"/>
          <p:cNvSpPr/>
          <p:nvPr/>
        </p:nvSpPr>
        <p:spPr>
          <a:xfrm>
            <a:off x="6095848" y="0"/>
            <a:ext cx="6095848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2801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あなたの強みを、</a:t>
            </a:r>
            <a:endParaRPr lang="en-US" sz="3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エムスタ経済圏の収益機会へ。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731520" y="30175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70000"/>
              </a:lnSpc>
              <a:buNone/>
            </a:pPr>
            <a:r>
              <a:rPr lang="en-US" sz="11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エムスタ Partner Programは、アプリ制作だけでなく、紹介・送客・テンプレート販売を通じて、</a:t>
            </a:r>
            <a:endParaRPr lang="en-US" sz="1150" dirty="0"/>
          </a:p>
          <a:p>
            <a:pPr algn="ctr" indent="0" marL="0">
              <a:lnSpc>
                <a:spcPct val="170000"/>
              </a:lnSpc>
              <a:buNone/>
            </a:pPr>
            <a:r>
              <a:rPr lang="en-US" sz="115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パートナー・クライアント・エンドユーザーが共に価値を広げていくための共創型プログラムです。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514600" y="4069080"/>
            <a:ext cx="3520440" cy="594360"/>
          </a:xfrm>
          <a:prstGeom prst="roundRect">
            <a:avLst>
              <a:gd name="adj" fmla="val 49231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4069080"/>
            <a:ext cx="3520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1A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パートナーアカウントを作成する  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55080" y="4069080"/>
            <a:ext cx="3520440" cy="594360"/>
          </a:xfrm>
          <a:prstGeom prst="roundRect">
            <a:avLst>
              <a:gd name="adj" fmla="val 49231"/>
            </a:avLst>
          </a:prstGeom>
          <a:solidFill>
            <a:srgbClr val="12284A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4069080"/>
            <a:ext cx="3520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オンラインで活用方法を相談する  →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49834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70000"/>
              </a:lnSpc>
              <a:buNone/>
            </a:pPr>
            <a:r>
              <a:rPr lang="en-US" sz="10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制作会社・開発会社・デザイナー・営業会社・業界メディア・個人クリエイター・副業で始めたい方まで。</a:t>
            </a:r>
            <a:endParaRPr lang="en-US" sz="1000" dirty="0"/>
          </a:p>
          <a:p>
            <a:pPr algn="ctr" indent="0" marL="0">
              <a:lnSpc>
                <a:spcPct val="170000"/>
              </a:lnSpc>
              <a:buNone/>
            </a:pPr>
            <a:r>
              <a:rPr lang="en-US" sz="1000" dirty="0">
                <a:solidFill>
                  <a:srgbClr val="8D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作る力、届ける力、業界に入り込む力を、エムスタ上で収益機会に変えていきましょう。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840480" y="5943600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12284A"/>
          </a:solidFill>
          <a:ln w="6350">
            <a:solidFill>
              <a:srgbClr val="2A4A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59436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https://msta.app/partners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4A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R117 Inc.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R117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エムスタ Partner Program 営業資料 V2</dc:title>
  <dc:subject>エムスタ Partner Program</dc:subject>
  <dc:creator>R117 Inc.</dc:creator>
  <cp:lastModifiedBy>R117 Inc.</cp:lastModifiedBy>
  <cp:revision>1</cp:revision>
  <dcterms:created xsi:type="dcterms:W3CDTF">2026-06-11T13:02:48Z</dcterms:created>
  <dcterms:modified xsi:type="dcterms:W3CDTF">2026-06-11T13:02:48Z</dcterms:modified>
</cp:coreProperties>
</file>