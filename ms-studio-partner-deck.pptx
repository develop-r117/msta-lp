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63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500" kern="0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MS Studio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Partner Program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3A3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アプリ制作を、あなたの新しいビジネスに。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11480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262626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114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レベニューシェア最大35%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0" y="411480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262626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4114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登録無料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760720" y="411480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262626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0" y="4114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CMS標準搭載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321040" y="411480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262626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4114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 / iOS / Android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5943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40080" y="6217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R117 Inc. /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3A3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EXECUTIVE 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この資料で分かること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881360" cy="548640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288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8288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MS Studioの製品概要と、他にはないCMSの強み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514600"/>
            <a:ext cx="108813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5146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5146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パートナー制度の全体像（制作 / 紹介 / テンプレート販売）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200400"/>
            <a:ext cx="10881360" cy="548640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004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32004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レベニューシェア制度と5段階ランク（最大35%還元）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886200"/>
            <a:ext cx="108813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8862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3886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3つのペルソナ別・収益シミュレーション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572000"/>
            <a:ext cx="10881360" cy="548640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5720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45720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マーケットプレイスやAI支援で広がる追加収益の機会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257800"/>
            <a:ext cx="108813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2578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52578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パートナー登録までの流れと、今すぐ始める方法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3A3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MARKET CHALLENGE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アプリ制作市場の課題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474720" cy="4114800"/>
          </a:xfrm>
          <a:prstGeom prst="rect">
            <a:avLst>
              <a:gd name="adj" fmla="val 3947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0116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💰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高コスト・長期間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2926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スクラッチ開発は数百万〜数千万円、半年以上かかるのが当たり前。中小企業や個人には手が届かない。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3474720" cy="4114800"/>
          </a:xfrm>
          <a:prstGeom prst="rect">
            <a:avLst>
              <a:gd name="adj" fmla="val 3947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89120" y="20116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🔒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663440" y="27432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作って終わり問題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63440" y="3291840"/>
            <a:ext cx="2926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リリース後の運用・更新が属人化し、コンテンツが止まる。制作会社への追加費用も膨らむ一方。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38160" y="1828800"/>
            <a:ext cx="3474720" cy="4114800"/>
          </a:xfrm>
          <a:prstGeom prst="rect">
            <a:avLst>
              <a:gd name="adj" fmla="val 3947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138160" y="20116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🔄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412480" y="27432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制作会社のビジネスモデル変革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12480" y="3291840"/>
            <a:ext cx="2926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AI時代に、受注→制作→納品の「フロー型」だけでは生き残れない。継続収益モデルが必須に。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0" y="6126480"/>
            <a:ext cx="758952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2286000" y="612648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MS Studioは、これらすべてを解決するプラットフォームです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3A3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PRODUCT 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MS Studioとは？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真のノーコード × 最強CMS を備えた、次世代型アプリ制作プラットフォーム。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Webアプリ・iOSアプリ・Androidアプリを、CMS付きで構築・運用できます。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926080"/>
            <a:ext cx="3474720" cy="3200400"/>
          </a:xfrm>
          <a:prstGeom prst="rect">
            <a:avLst>
              <a:gd name="adj" fmla="val 4286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3108960"/>
            <a:ext cx="2926080" cy="54864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3832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アプリを作る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93192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 / iOS / Androidに対応。標準機能を組み合わせて、低コスト・短納期でアプリを制作。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2926080"/>
            <a:ext cx="3474720" cy="3200400"/>
          </a:xfrm>
          <a:prstGeom prst="rect">
            <a:avLst>
              <a:gd name="adj" fmla="val 4286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3108960"/>
            <a:ext cx="2926080" cy="54864"/>
          </a:xfrm>
          <a:prstGeom prst="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33832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アプリを運用する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63440" y="393192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CMS標準搭載。投稿、通知、会員管理、予約、チャット等を管理画面から誰でも更新可能。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2926080"/>
            <a:ext cx="3474720" cy="3200400"/>
          </a:xfrm>
          <a:prstGeom prst="rect">
            <a:avLst>
              <a:gd name="adj" fmla="val 4286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0" y="3108960"/>
            <a:ext cx="2926080" cy="54864"/>
          </a:xfrm>
          <a:prstGeom prst="rect">
            <a:avLst>
              <a:gd name="adj" fmla="val 50000"/>
            </a:avLst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33832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アプリビジネスを作る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12480" y="393192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パートナー制度で制作会社・代理店・クリエイターがアプリビジネスを展開し継続収益を得られる。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3A3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CMS / DASHBOARD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アプリは、リリースしてからが本番。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MS Studioは、アプリを作るだけでなく、リリース後の更新・運用まで管理できるCMSを標準提供。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プログラミング不要で、管理画面から日々の情報更新や運用管理が可能です。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29260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投稿コンテンツの追加・編集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0" y="29260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09160" y="29260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固定ページの管理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138160" y="29260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458200" y="29260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プッシュ通知の配信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6576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3657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会員管理・セグメント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89120" y="36576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09160" y="3657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予約管理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138160" y="36576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58200" y="3657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チャット対応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43891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4389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アンケート配信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89120" y="43891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09160" y="4389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クーポン発行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138160" y="43891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58200" y="4389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ファイル管理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51206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0120" y="5120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アプリ画面のプレビュー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389120" y="51206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09160" y="5120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分析ダッシュボード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138160" y="51206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458200" y="5120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権限ロール設定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3A3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ALL-IN-ONE FEATURES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アプリ運用に必要な機能を、標準搭載。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3474720" cy="2286000"/>
          </a:xfrm>
          <a:prstGeom prst="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74520"/>
            <a:ext cx="3108960" cy="54864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57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情報発信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投稿コンテンツ  /  固定コンテンツ  /  プッシュ通知  /  ポップアップ  /  Webビュー  /  SNSリンク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89120" y="1737360"/>
            <a:ext cx="3474720" cy="2286000"/>
          </a:xfrm>
          <a:prstGeom prst="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874520"/>
            <a:ext cx="3108960" cy="54864"/>
          </a:xfrm>
          <a:prstGeom prst="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057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会員・ユーザー管理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63440" y="246888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会員管理  /  ログイン  /  権限管理  /  セグメント配信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138160" y="1737360"/>
            <a:ext cx="3474720" cy="2286000"/>
          </a:xfrm>
          <a:prstGeom prst="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21040" y="1874520"/>
            <a:ext cx="3108960" cy="54864"/>
          </a:xfrm>
          <a:prstGeom prst="rect">
            <a:avLst>
              <a:gd name="adj" fmla="val 50000"/>
            </a:avLst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0" y="2057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コミュニケーション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12480" y="246888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チャット  /  問い合わせ  /  アンケート  /  スタンプ  /  クーポン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4297680"/>
            <a:ext cx="3474720" cy="2286000"/>
          </a:xfrm>
          <a:prstGeom prst="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" y="4434840"/>
            <a:ext cx="3108960" cy="54864"/>
          </a:xfrm>
          <a:prstGeom prst="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6177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コンテンツ管理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502920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カタログ  /  フォトギャラリー  /  ムービー  /  ファイル管理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89120" y="4297680"/>
            <a:ext cx="3474720" cy="2286000"/>
          </a:xfrm>
          <a:prstGeom prst="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0" y="4434840"/>
            <a:ext cx="3108960" cy="54864"/>
          </a:xfrm>
          <a:prstGeom prst="rect">
            <a:avLst>
              <a:gd name="adj" fmla="val 50000"/>
            </a:avLst>
          </a:prstGeom>
          <a:solidFill>
            <a:srgbClr val="0891B2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46177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業務支援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63440" y="502920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シンプル予約  /  予約機能  /  マップ  /  分析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138160" y="4297680"/>
            <a:ext cx="3474720" cy="2286000"/>
          </a:xfrm>
          <a:prstGeom prst="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321040" y="4434840"/>
            <a:ext cx="3108960" cy="54864"/>
          </a:xfrm>
          <a:prstGeom prst="rect">
            <a:avLst>
              <a:gd name="adj" fmla="val 50000"/>
            </a:avLst>
          </a:prstGeom>
          <a:solidFill>
            <a:srgbClr val="171717"/>
          </a:solidFill>
          <a:ln/>
        </p:spPr>
      </p:sp>
      <p:sp>
        <p:nvSpPr>
          <p:cNvPr id="27" name="Text 25"/>
          <p:cNvSpPr/>
          <p:nvPr/>
        </p:nvSpPr>
        <p:spPr>
          <a:xfrm>
            <a:off x="8412480" y="46177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拡張機能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412480" y="502920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EC  /  AI画像生成  /  有償アドオン  /  カスタム機能  /  API連携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3A3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07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TWO MODES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初心者にも、プロにも。2つのモード。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212080" cy="4389120"/>
          </a:xfrm>
          <a:prstGeom prst="rect">
            <a:avLst>
              <a:gd name="adj" fmla="val 3125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011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かんたんモード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対象: 事業者 / 店舗担当者 / 非エンジニア / 一般の方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80000"/>
              </a:lnSpc>
              <a:spcAft>
                <a:spcPts val="400"/>
              </a:spcAft>
            </a:pPr>
            <a:r>
              <a:rPr lang="en-US" sz="1100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テンプレートを選んで、ガイドに沿って入力</a:t>
            </a:r>
            <a:endParaRPr lang="en-US" sz="1100" dirty="0"/>
          </a:p>
          <a:p>
            <a:pPr>
              <a:lnSpc>
                <a:spcPct val="180000"/>
              </a:lnSpc>
              <a:spcAft>
                <a:spcPts val="400"/>
              </a:spcAft>
            </a:pPr>
            <a:r>
              <a:rPr lang="en-US" sz="1100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専門知識不要でアプリ制作・運用が可能</a:t>
            </a:r>
            <a:endParaRPr lang="en-US" sz="1100" dirty="0"/>
          </a:p>
          <a:p>
            <a:pPr>
              <a:lnSpc>
                <a:spcPct val="180000"/>
              </a:lnSpc>
              <a:spcAft>
                <a:spcPts val="400"/>
              </a:spcAft>
            </a:pPr>
            <a:r>
              <a:rPr lang="en-US" sz="1100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リテラシーの壁を撤廃し、誰でも直感的に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1828800"/>
            <a:ext cx="5212080" cy="4389120"/>
          </a:xfrm>
          <a:prstGeom prst="rect">
            <a:avLst>
              <a:gd name="adj" fmla="val 3125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0" y="2011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プロモード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83680" y="2560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対象: 制作会社 / 開発会社 / デザイナー / 代理店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0" y="310896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80000"/>
              </a:lnSpc>
              <a:spcAft>
                <a:spcPts val="400"/>
              </a:spcAft>
            </a:pPr>
            <a:r>
              <a:rPr lang="en-US" sz="1100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詳細な画面設計・カスタムCSS・コード差し込み</a:t>
            </a:r>
            <a:endParaRPr lang="en-US" sz="1100" dirty="0"/>
          </a:p>
          <a:p>
            <a:pPr>
              <a:lnSpc>
                <a:spcPct val="180000"/>
              </a:lnSpc>
              <a:spcAft>
                <a:spcPts val="400"/>
              </a:spcAft>
            </a:pPr>
            <a:r>
              <a:rPr lang="en-US" sz="1100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テンプレート / コンポーネントの内製・販売</a:t>
            </a:r>
            <a:endParaRPr lang="en-US" sz="1100" dirty="0"/>
          </a:p>
          <a:p>
            <a:pPr>
              <a:lnSpc>
                <a:spcPct val="180000"/>
              </a:lnSpc>
              <a:spcAft>
                <a:spcPts val="400"/>
              </a:spcAft>
            </a:pPr>
            <a:r>
              <a:rPr lang="en-US" sz="1100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クライアント案件に最適な自由度の高い編集環境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6309360"/>
            <a:ext cx="5760720" cy="411480"/>
          </a:xfrm>
          <a:prstGeom prst="roundRect">
            <a:avLst>
              <a:gd name="adj" fmla="val 48889"/>
            </a:avLst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630936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パートナーの皆さまは「プロモード」でビジネスを展開いただけます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373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08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0A5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PARTNER PROGRAM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MS Studio上で、アプリビジネスを始める。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A3A3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制作会社、開発会社、デザイン会社、個人クリエイター、代理店は、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A3A3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MS Studioを活用してアプリ制作サービスを展開できます。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926080"/>
            <a:ext cx="5303520" cy="822960"/>
          </a:xfrm>
          <a:prstGeom prst="roundRect">
            <a:avLst>
              <a:gd name="adj" fmla="val 11111"/>
            </a:avLst>
          </a:prstGeom>
          <a:solidFill>
            <a:srgbClr val="262626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926080"/>
            <a:ext cx="365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29260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自社クライアント向けにアプリ制作ができる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2926080"/>
            <a:ext cx="5303520" cy="822960"/>
          </a:xfrm>
          <a:prstGeom prst="roundRect">
            <a:avLst>
              <a:gd name="adj" fmla="val 11111"/>
            </a:avLst>
          </a:prstGeom>
          <a:solidFill>
            <a:srgbClr val="262626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926080"/>
            <a:ext cx="365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0" y="29260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ライセンス利用料のレベニューシェアを受けられる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023360"/>
            <a:ext cx="5303520" cy="822960"/>
          </a:xfrm>
          <a:prstGeom prst="roundRect">
            <a:avLst>
              <a:gd name="adj" fmla="val 11111"/>
            </a:avLst>
          </a:prstGeom>
          <a:solidFill>
            <a:srgbClr val="262626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023360"/>
            <a:ext cx="365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40233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テンプレートやコンポーネントを販売できる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4023360"/>
            <a:ext cx="5303520" cy="822960"/>
          </a:xfrm>
          <a:prstGeom prst="roundRect">
            <a:avLst>
              <a:gd name="adj" fmla="val 11111"/>
            </a:avLst>
          </a:prstGeom>
          <a:solidFill>
            <a:srgbClr val="262626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4023360"/>
            <a:ext cx="365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0" y="40233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パートナーランクに応じて還元率が上がる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5120640"/>
            <a:ext cx="5303520" cy="822960"/>
          </a:xfrm>
          <a:prstGeom prst="roundRect">
            <a:avLst>
              <a:gd name="adj" fmla="val 11111"/>
            </a:avLst>
          </a:prstGeom>
          <a:solidFill>
            <a:srgbClr val="262626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120640"/>
            <a:ext cx="365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51206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エムスタ経済圏内で認知・信用力を獲得できる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09360" y="5120640"/>
            <a:ext cx="5303520" cy="822960"/>
          </a:xfrm>
          <a:prstGeom prst="roundRect">
            <a:avLst>
              <a:gd name="adj" fmla="val 11111"/>
            </a:avLst>
          </a:prstGeom>
          <a:solidFill>
            <a:srgbClr val="262626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5120640"/>
            <a:ext cx="365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0" y="51206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AI時代の新しい制作ビジネス環境として活用できる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3A3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09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PARTNER TYPES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3つのパートナー種別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474720" cy="4572000"/>
          </a:xfrm>
          <a:prstGeom prst="rect">
            <a:avLst>
              <a:gd name="adj" fmla="val 3947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965960"/>
            <a:ext cx="3108960" cy="54864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945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制作パートナー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制作会社 / 開発会社 / デザイナー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29718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プロモードを活用し、クライアント向けアプリを制作。自社の制作メニューに「アプリ制作」を追加できます。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40233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自社クライアント向けにアプリ制作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45262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プロモードで自由度の高い設計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5029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完成後の運用はクライアントがCMSで自走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0" y="1828800"/>
            <a:ext cx="3474720" cy="4572000"/>
          </a:xfrm>
          <a:prstGeom prst="rect">
            <a:avLst>
              <a:gd name="adj" fmla="val 3947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965960"/>
            <a:ext cx="3108960" cy="54864"/>
          </a:xfrm>
          <a:prstGeom prst="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21945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紹介パートナー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63440" y="2606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広告代理店 / 営業会社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63440" y="29718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紹介・販売・アフィリエイトプログラムとして参加できます。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63440" y="40233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紹介経由のアカウントから継続収益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63440" y="45262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代理店としてのレベニューシェア獲得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63440" y="5029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アフィリエイト経由の獲得も対応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38160" y="1828800"/>
            <a:ext cx="3474720" cy="4572000"/>
          </a:xfrm>
          <a:prstGeom prst="rect">
            <a:avLst>
              <a:gd name="adj" fmla="val 3947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321040" y="1965960"/>
            <a:ext cx="3108960" cy="54864"/>
          </a:xfrm>
          <a:prstGeom prst="rect">
            <a:avLst>
              <a:gd name="adj" fmla="val 50000"/>
            </a:avLst>
          </a:prstGeom>
          <a:solidFill>
            <a:srgbClr val="171717"/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0" y="21945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テンプレート/コンポーネント販売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412480" y="2606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デザイナー / クリエイター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412480" y="29718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自社で制作したデザインパッケージ、コンポーネント、コンテンツの型を販売できます。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412480" y="40233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テンプレート / コンポーネント販売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412480" y="45262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業界特化テンプレートも展開可能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412480" y="5029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マーケットプレイス上での流通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373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FDBF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REVENUE MODEL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なぜ「ストック収益」が重要なのか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212080" cy="411480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194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従来の制作会社モデル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フロー型（売り切り）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54480" y="32004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373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94560" y="32004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制作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834640" y="32004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373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32004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納品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0" y="32004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373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32004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終了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3931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✗ 案件が途切れると売上がゼロになる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" y="4434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✗ 毎月ゼロからの営業が必要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4937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✗ 運用フェーズの収益機会を逃している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309360" y="2011680"/>
            <a:ext cx="5212080" cy="411480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83680" y="2194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MS Studio パートナーモデル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83680" y="2606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フロー + ストックの二段構え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83680" y="3108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制作費（フロー収入）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83680" y="3474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83680" y="3749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月額レベニューシェア（ストック収入）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83680" y="4114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83680" y="4389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テンプレート販売（販売収入）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83680" y="5029200"/>
            <a:ext cx="4572000" cy="731520"/>
          </a:xfrm>
          <a:prstGeom prst="roundRect">
            <a:avLst>
              <a:gd name="adj" fmla="val 12500"/>
            </a:avLst>
          </a:prstGeom>
          <a:solidFill>
            <a:srgbClr val="FAFAFA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0" y="50292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D4E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案件を納品するたびに、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D4E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毎月の収益基盤が積み上がる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373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0A5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REVENUE SHARE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レベニューシェア ランク制度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A3A3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公開アプリ数や貢献度に応じて、ランクと還元率が自動的に向上していきます。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A3A3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やればやるほど、還元率が上がる仕組みです。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2011680" cy="2377440"/>
          </a:xfrm>
          <a:prstGeom prst="roundRect">
            <a:avLst>
              <a:gd name="adj" fmla="val 6818"/>
            </a:avLst>
          </a:prstGeom>
          <a:solidFill>
            <a:srgbClr val="262626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3200400"/>
            <a:ext cx="2011680" cy="73152"/>
          </a:xfrm>
          <a:prstGeom prst="rect">
            <a:avLst/>
          </a:prstGeom>
          <a:solidFill>
            <a:srgbClr val="92400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474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2400E"/>
                </a:solidFill>
              </a:rPr>
              <a:t>★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3931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Bronze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43891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2400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40080" y="4937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還元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26080" y="3200400"/>
            <a:ext cx="2011680" cy="2377440"/>
          </a:xfrm>
          <a:prstGeom prst="roundRect">
            <a:avLst>
              <a:gd name="adj" fmla="val 6818"/>
            </a:avLst>
          </a:prstGeom>
          <a:solidFill>
            <a:srgbClr val="262626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0" y="3200400"/>
            <a:ext cx="2011680" cy="73152"/>
          </a:xfrm>
          <a:prstGeom prst="rect">
            <a:avLst/>
          </a:prstGeom>
          <a:solidFill>
            <a:srgbClr val="71717A"/>
          </a:solidFill>
          <a:ln/>
        </p:spPr>
      </p:sp>
      <p:sp>
        <p:nvSpPr>
          <p:cNvPr id="14" name="Text 12"/>
          <p:cNvSpPr/>
          <p:nvPr/>
        </p:nvSpPr>
        <p:spPr>
          <a:xfrm>
            <a:off x="2926080" y="3474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1717A"/>
                </a:solidFill>
              </a:rPr>
              <a:t>★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926080" y="3931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Silver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926080" y="43891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171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20%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2926080" y="4937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還元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212080" y="3200400"/>
            <a:ext cx="2011680" cy="2377440"/>
          </a:xfrm>
          <a:prstGeom prst="roundRect">
            <a:avLst>
              <a:gd name="adj" fmla="val 6818"/>
            </a:avLst>
          </a:prstGeom>
          <a:solidFill>
            <a:srgbClr val="262626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12080" y="3200400"/>
            <a:ext cx="201168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5212080" y="3474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9E0B"/>
                </a:solidFill>
              </a:rPr>
              <a:t>★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212080" y="3931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Gold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12080" y="43891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25%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5212080" y="4937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還元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98080" y="3200400"/>
            <a:ext cx="2011680" cy="2377440"/>
          </a:xfrm>
          <a:prstGeom prst="roundRect">
            <a:avLst>
              <a:gd name="adj" fmla="val 6818"/>
            </a:avLst>
          </a:prstGeom>
          <a:solidFill>
            <a:srgbClr val="262626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0" y="3200400"/>
            <a:ext cx="201168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0" y="3474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6B6D4"/>
                </a:solidFill>
              </a:rPr>
              <a:t>★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498080" y="3931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Platinum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498080" y="43891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B6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30%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498080" y="4937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還元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784080" y="3200400"/>
            <a:ext cx="2011680" cy="2377440"/>
          </a:xfrm>
          <a:prstGeom prst="roundRect">
            <a:avLst>
              <a:gd name="adj" fmla="val 6818"/>
            </a:avLst>
          </a:prstGeom>
          <a:solidFill>
            <a:srgbClr val="262626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784080" y="3200400"/>
            <a:ext cx="2011680" cy="73152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2" name="Text 30"/>
          <p:cNvSpPr/>
          <p:nvPr/>
        </p:nvSpPr>
        <p:spPr>
          <a:xfrm>
            <a:off x="9784080" y="3474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855F7"/>
                </a:solidFill>
              </a:rPr>
              <a:t>★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9784080" y="3931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Legend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784080" y="43891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855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35%</a:t>
            </a:r>
            <a:endParaRPr lang="en-US" sz="3200" dirty="0"/>
          </a:p>
        </p:txBody>
      </p:sp>
      <p:sp>
        <p:nvSpPr>
          <p:cNvPr id="35" name="Text 33"/>
          <p:cNvSpPr/>
          <p:nvPr/>
        </p:nvSpPr>
        <p:spPr>
          <a:xfrm>
            <a:off x="9784080" y="4937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還元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42316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70916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99516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28116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エンドクライアントの月額課金に対して、上記の還元率が毎月パートナーに支払われます。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3A3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REVENUE CALCULATION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レベニューシェア 計算の仕組み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6583680" cy="3657600"/>
          </a:xfrm>
          <a:prstGeom prst="rect">
            <a:avLst>
              <a:gd name="adj" fmla="val 3750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011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1アプリあたりの月額課金構造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2606040"/>
            <a:ext cx="6035040" cy="50292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6060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アカウント基本利用料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0" y="26060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¥3,000 / 月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0" y="26060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必須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14400" y="3200400"/>
            <a:ext cx="60350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2004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 アプリ公開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0" y="32004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¥2,000 / URL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0" y="32004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Web公開時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14400" y="3794760"/>
            <a:ext cx="6035040" cy="50292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37947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iOS アプリ公開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40480" y="37947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¥5,000 / 月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0" y="37947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iOS公開時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14400" y="4389120"/>
            <a:ext cx="60350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43891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Android アプリ公開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40480" y="43891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¥5,000 / 月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69280" y="43891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Android公開時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14400" y="457200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例: Web + iOS の場合 → 月額 ¥10,000 / アプリ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493776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例: Web + iOS + Android → 月額 ¥15,000 / アプリ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680960" y="1828800"/>
            <a:ext cx="3840480" cy="3657600"/>
          </a:xfrm>
          <a:prstGeom prst="rect">
            <a:avLst>
              <a:gd name="adj" fmla="val 3750"/>
            </a:avLst>
          </a:prstGeom>
          <a:solidFill>
            <a:srgbClr val="171717"/>
          </a:solidFill>
          <a:ln w="6350">
            <a:solidFill>
              <a:srgbClr val="171717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955280" y="21031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373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計算式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955280" y="25603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月間レベニュー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955280" y="29260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A5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＝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955280" y="32918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公開アプリ数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955280" y="36118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A5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955280" y="39319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月額単価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955280" y="42519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A5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955280" y="45720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還元率 %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この月額課金に対して、パートナーランクの還元率%がレベニューシェアとして毎月支払われます。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3A3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REVENUE SIMULATION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収益シミュレーション: Web制作会社 A社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2011680" cy="320040"/>
          </a:xfrm>
          <a:prstGeom prst="roundRect">
            <a:avLst>
              <a:gd name="adj" fmla="val 48571"/>
            </a:avLst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Gold（25%還元）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月5件のクライアント案件をMS Studioで制作。アカウント基本利用料 + アプリ公開料が継続課金されるため、制作後も毎月レベニューシェアが発生。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6583680" cy="2011680"/>
          </a:xfrm>
          <a:prstGeom prst="rect">
            <a:avLst>
              <a:gd name="adj" fmla="val 6818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2788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373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収益内訳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3154680"/>
            <a:ext cx="6035040" cy="411480"/>
          </a:xfrm>
          <a:prstGeom prst="rect">
            <a:avLst>
              <a:gd name="adj" fmla="val 11111"/>
            </a:avLst>
          </a:prstGeom>
          <a:solidFill>
            <a:srgbClr val="FAFAFA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1546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制作売上 / 件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31546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¥150,000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" y="3657600"/>
            <a:ext cx="6035040" cy="411480"/>
          </a:xfrm>
          <a:prstGeom prst="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36576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継続レベニュー / 月（5件）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36576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 ¥18,750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14400" y="4160520"/>
            <a:ext cx="6035040" cy="411480"/>
          </a:xfrm>
          <a:prstGeom prst="rect">
            <a:avLst>
              <a:gd name="adj" fmla="val 11111"/>
            </a:avLst>
          </a:prstGeom>
          <a:solidFill>
            <a:srgbClr val="FAFAFA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41605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年間継続収益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41605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 ¥225,000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80960" y="2651760"/>
            <a:ext cx="3840480" cy="2011680"/>
          </a:xfrm>
          <a:prstGeom prst="rect">
            <a:avLst>
              <a:gd name="adj" fmla="val 6818"/>
            </a:avLst>
          </a:prstGeom>
          <a:solidFill>
            <a:srgbClr val="171717"/>
          </a:solidFill>
          <a:ln w="6350">
            <a:solidFill>
              <a:srgbClr val="171717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863840" y="27889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373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ストック収益の積み上がり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46720" y="32004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3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1年目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4000" y="32004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¥18,750/月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241280" y="32004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¥225,000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46720" y="36576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3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2年目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44000" y="36576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¥37,500/月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241280" y="36576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¥675,000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46720" y="41148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3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3年目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144000" y="41148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¥56,250/月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241280" y="41148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¥1,350,000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4937760"/>
            <a:ext cx="10881360" cy="731520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493776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制作単価に加えて、ストック型の継続収益が積み上がるモデル。1年後には月5万円超のストック収益に。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" y="5760720"/>
            <a:ext cx="10881360" cy="822960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22960" y="58521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373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1年目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1828800" y="5870448"/>
            <a:ext cx="1219200" cy="146304"/>
          </a:xfrm>
          <a:prstGeom prst="rect">
            <a:avLst>
              <a:gd name="adj" fmla="val 18750"/>
            </a:avLst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822960" y="6080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373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2年目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1828800" y="6099048"/>
            <a:ext cx="3657600" cy="146304"/>
          </a:xfrm>
          <a:prstGeom prst="rect">
            <a:avLst>
              <a:gd name="adj" fmla="val 18750"/>
            </a:avLst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822960" y="63093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373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3年目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1828800" y="6327648"/>
            <a:ext cx="7315200" cy="146304"/>
          </a:xfrm>
          <a:prstGeom prst="rect">
            <a:avLst>
              <a:gd name="adj" fmla="val 18750"/>
            </a:avLst>
          </a:prstGeom>
          <a:solidFill>
            <a:srgbClr val="F59E0B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3A3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REVENUE SIMULATION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収益シミュレーション: フリーランスデザイナー Bさん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2011680" cy="320040"/>
          </a:xfrm>
          <a:prstGeom prst="roundRect">
            <a:avLst>
              <a:gd name="adj" fmla="val 48571"/>
            </a:avLst>
          </a:prstGeom>
          <a:solidFill>
            <a:srgbClr val="71717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Silver（20%還元）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月2件のミニアプリ制作を受注。セルフ構築 + 3hパックを活用してスピード納品。テンプレートも2点販売中。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6583680" cy="2011680"/>
          </a:xfrm>
          <a:prstGeom prst="rect">
            <a:avLst>
              <a:gd name="adj" fmla="val 6818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2788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373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収益内訳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3154680"/>
            <a:ext cx="6035040" cy="411480"/>
          </a:xfrm>
          <a:prstGeom prst="rect">
            <a:avLst>
              <a:gd name="adj" fmla="val 11111"/>
            </a:avLst>
          </a:prstGeom>
          <a:solidFill>
            <a:srgbClr val="FAFAFA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1546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制作売上 / 月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31546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¥100,000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" y="3657600"/>
            <a:ext cx="6035040" cy="411480"/>
          </a:xfrm>
          <a:prstGeom prst="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36576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テンプレート販売 / 月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36576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 ¥30,000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14400" y="4160520"/>
            <a:ext cx="6035040" cy="411480"/>
          </a:xfrm>
          <a:prstGeom prst="rect">
            <a:avLst>
              <a:gd name="adj" fmla="val 11111"/>
            </a:avLst>
          </a:prstGeom>
          <a:solidFill>
            <a:srgbClr val="FAFAFA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41605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継続レベニュー / 月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41605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 ¥6,000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80960" y="2651760"/>
            <a:ext cx="3840480" cy="2011680"/>
          </a:xfrm>
          <a:prstGeom prst="rect">
            <a:avLst>
              <a:gd name="adj" fmla="val 6818"/>
            </a:avLst>
          </a:prstGeom>
          <a:solidFill>
            <a:srgbClr val="171717"/>
          </a:solidFill>
          <a:ln w="6350">
            <a:solidFill>
              <a:srgbClr val="171717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863840" y="27889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373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ストック収益の積み上がり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46720" y="32004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3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1年目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4000" y="32004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¥6,000/月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241280" y="32004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¥72,000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46720" y="36576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3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2年目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44000" y="36576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¥12,000/月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241280" y="36576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¥216,000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46720" y="41148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3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3年目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144000" y="41148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¥18,000/月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241280" y="41148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¥432,000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4937760"/>
            <a:ext cx="10881360" cy="731520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493776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テンプレート販売 × 継続シェアで、固定費をカバーする副収入源に。制作+販売+ストックの三本柱。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" y="5760720"/>
            <a:ext cx="10881360" cy="822960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22960" y="58521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373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1年目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1828800" y="5870448"/>
            <a:ext cx="1219200" cy="146304"/>
          </a:xfrm>
          <a:prstGeom prst="rect">
            <a:avLst>
              <a:gd name="adj" fmla="val 18750"/>
            </a:avLst>
          </a:prstGeom>
          <a:solidFill>
            <a:srgbClr val="71717A"/>
          </a:solidFill>
          <a:ln/>
        </p:spPr>
      </p:sp>
      <p:sp>
        <p:nvSpPr>
          <p:cNvPr id="35" name="Text 33"/>
          <p:cNvSpPr/>
          <p:nvPr/>
        </p:nvSpPr>
        <p:spPr>
          <a:xfrm>
            <a:off x="822960" y="6080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373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2年目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1828800" y="6099048"/>
            <a:ext cx="3657600" cy="146304"/>
          </a:xfrm>
          <a:prstGeom prst="rect">
            <a:avLst>
              <a:gd name="adj" fmla="val 18750"/>
            </a:avLst>
          </a:prstGeom>
          <a:solidFill>
            <a:srgbClr val="71717A"/>
          </a:solidFill>
          <a:ln/>
        </p:spPr>
      </p:sp>
      <p:sp>
        <p:nvSpPr>
          <p:cNvPr id="37" name="Text 35"/>
          <p:cNvSpPr/>
          <p:nvPr/>
        </p:nvSpPr>
        <p:spPr>
          <a:xfrm>
            <a:off x="822960" y="63093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373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3年目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1828800" y="6327648"/>
            <a:ext cx="7315200" cy="146304"/>
          </a:xfrm>
          <a:prstGeom prst="rect">
            <a:avLst>
              <a:gd name="adj" fmla="val 18750"/>
            </a:avLst>
          </a:prstGeom>
          <a:solidFill>
            <a:srgbClr val="71717A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3A3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REVENUE SIMULATION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収益シミュレーション: アプリ開発会社 C社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2011680" cy="320040"/>
          </a:xfrm>
          <a:prstGeom prst="roundRect">
            <a:avLst>
              <a:gd name="adj" fmla="val 48571"/>
            </a:avLst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Platinum（30%還元）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オフィシャル制作パートナーとして月10件以上を継続納品。エムスタFullでの大型案件も対応し、既存クライアントの運用も一括管理。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6583680" cy="2011680"/>
          </a:xfrm>
          <a:prstGeom prst="rect">
            <a:avLst>
              <a:gd name="adj" fmla="val 6818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2788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373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収益内訳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3154680"/>
            <a:ext cx="6035040" cy="411480"/>
          </a:xfrm>
          <a:prstGeom prst="rect">
            <a:avLst>
              <a:gd name="adj" fmla="val 11111"/>
            </a:avLst>
          </a:prstGeom>
          <a:solidFill>
            <a:srgbClr val="FAFAFA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1546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制作売上 / 月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31546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¥1,500,000+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" y="3657600"/>
            <a:ext cx="6035040" cy="411480"/>
          </a:xfrm>
          <a:prstGeom prst="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36576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継続レベニュー / 月（30件）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36576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 ¥135,000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14400" y="4160520"/>
            <a:ext cx="6035040" cy="411480"/>
          </a:xfrm>
          <a:prstGeom prst="rect">
            <a:avLst>
              <a:gd name="adj" fmla="val 11111"/>
            </a:avLst>
          </a:prstGeom>
          <a:solidFill>
            <a:srgbClr val="FAFAFA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41605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年間継続収益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41605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 ¥1,620,000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80960" y="2651760"/>
            <a:ext cx="3840480" cy="2011680"/>
          </a:xfrm>
          <a:prstGeom prst="rect">
            <a:avLst>
              <a:gd name="adj" fmla="val 6818"/>
            </a:avLst>
          </a:prstGeom>
          <a:solidFill>
            <a:srgbClr val="171717"/>
          </a:solidFill>
          <a:ln w="6350">
            <a:solidFill>
              <a:srgbClr val="171717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863840" y="27889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373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ストック収益の積み上がり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46720" y="32004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3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1年目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4000" y="32004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¥135,000/月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241280" y="32004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¥1,620,000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46720" y="36576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3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2年目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44000" y="36576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¥270,000/月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241280" y="36576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¥4,860,000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46720" y="41148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3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3年目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144000" y="41148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¥405,000/月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241280" y="41148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¥9,720,000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4937760"/>
            <a:ext cx="10881360" cy="731520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493776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制作実績の積み上げに比例して、ストック収益が事業の安定基盤に。3年目には月40万円超の安定収入。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" y="5760720"/>
            <a:ext cx="10881360" cy="822960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22960" y="58521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373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1年目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1828800" y="5870448"/>
            <a:ext cx="1219200" cy="146304"/>
          </a:xfrm>
          <a:prstGeom prst="rect">
            <a:avLst>
              <a:gd name="adj" fmla="val 18750"/>
            </a:avLst>
          </a:prstGeom>
          <a:solidFill>
            <a:srgbClr val="06B6D4"/>
          </a:solidFill>
          <a:ln/>
        </p:spPr>
      </p:sp>
      <p:sp>
        <p:nvSpPr>
          <p:cNvPr id="35" name="Text 33"/>
          <p:cNvSpPr/>
          <p:nvPr/>
        </p:nvSpPr>
        <p:spPr>
          <a:xfrm>
            <a:off x="822960" y="6080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373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2年目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1828800" y="6099048"/>
            <a:ext cx="3657600" cy="146304"/>
          </a:xfrm>
          <a:prstGeom prst="rect">
            <a:avLst>
              <a:gd name="adj" fmla="val 18750"/>
            </a:avLst>
          </a:prstGeom>
          <a:solidFill>
            <a:srgbClr val="06B6D4"/>
          </a:solidFill>
          <a:ln/>
        </p:spPr>
      </p:sp>
      <p:sp>
        <p:nvSpPr>
          <p:cNvPr id="37" name="Text 35"/>
          <p:cNvSpPr/>
          <p:nvPr/>
        </p:nvSpPr>
        <p:spPr>
          <a:xfrm>
            <a:off x="822960" y="63093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373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3年目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1828800" y="6327648"/>
            <a:ext cx="7315200" cy="146304"/>
          </a:xfrm>
          <a:prstGeom prst="rect">
            <a:avLst>
              <a:gd name="adj" fmla="val 18750"/>
            </a:avLst>
          </a:prstGeom>
          <a:solidFill>
            <a:srgbClr val="06B6D4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3A3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16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MARKETPLACE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テンプレート販売で、さらなる収益機会。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パートナーが制作した機能・テンプレート・デザインアセットをマーケットプレイスで販売。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制作費 + ストック + 販売収入の3つの収益源を実現できます。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310896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1089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有償アドオン機能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310896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31089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UIテンプレート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10896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31089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デザインテンプレート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0" y="310896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0" y="31089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コンテンツテンプレート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0233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業界特化テンプレート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0" y="402336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40233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パートナー開発の独自機能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402336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40233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API連携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5120640"/>
            <a:ext cx="5303520" cy="1097280"/>
          </a:xfrm>
          <a:prstGeom prst="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52120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373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ユーザー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14400" y="553212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必要な機能を、必要なタイミングで追加できる。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09360" y="5120640"/>
            <a:ext cx="5303520" cy="1097280"/>
          </a:xfrm>
          <a:prstGeom prst="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583680" y="52120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373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パートナー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83680" y="553212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自社の技術やデザインを、エムスタ上で販売できる。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3A3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17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 SUPPORT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AIが、制作と運用を支援する。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パートナーの制作効率を上げるAI支援機能を搭載。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同じ時間でより多くの案件を回せる = 収益増に直結します。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926080"/>
            <a:ext cx="3474720" cy="3474720"/>
          </a:xfrm>
          <a:prstGeom prst="rect">
            <a:avLst>
              <a:gd name="adj" fmla="val 3947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3063240"/>
            <a:ext cx="3108960" cy="54864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2918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制作支援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8404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企画整理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4343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画面構成提案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48463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コンテンツ構成提案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5349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UI生成支援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0" y="2926080"/>
            <a:ext cx="3474720" cy="3474720"/>
          </a:xfrm>
          <a:prstGeom prst="rect">
            <a:avLst>
              <a:gd name="adj" fmla="val 3947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3063240"/>
            <a:ext cx="3108960" cy="54864"/>
          </a:xfrm>
          <a:prstGeom prst="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32918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運用支援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63440" y="38404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投稿内容の整理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4343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プッシュ通知文面作成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48463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FAQ生成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5349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運用改善提案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8160" y="2926080"/>
            <a:ext cx="3474720" cy="3474720"/>
          </a:xfrm>
          <a:prstGeom prst="rect">
            <a:avLst>
              <a:gd name="adj" fmla="val 3947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21040" y="3063240"/>
            <a:ext cx="3108960" cy="54864"/>
          </a:xfrm>
          <a:prstGeom prst="rect">
            <a:avLst>
              <a:gd name="adj" fmla="val 50000"/>
            </a:avLst>
          </a:prstGeom>
          <a:solidFill>
            <a:srgbClr val="16A34A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0" y="32918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サポート支援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12480" y="38404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運用・操作マニュアル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12480" y="4343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申請準備サポート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12480" y="48463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初期設定ガイド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12480" y="5349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AIエージェント（予定）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3A3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18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TEAM MANAGEMENT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チームでも、組織でも、安全に運用できる。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クライアント納品後も安全に運用委譲。パートナーを巻き込んだ運用にも対応可能です。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926080"/>
            <a:ext cx="2011680" cy="2011680"/>
          </a:xfrm>
          <a:prstGeom prst="rect">
            <a:avLst>
              <a:gd name="adj" fmla="val 6818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0" y="3108960"/>
            <a:ext cx="548640" cy="548640"/>
          </a:xfrm>
          <a:prstGeom prst="circl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794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管理者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41605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すべての機能にアクセス可能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926080" y="2926080"/>
            <a:ext cx="2011680" cy="2011680"/>
          </a:xfrm>
          <a:prstGeom prst="rect">
            <a:avLst>
              <a:gd name="adj" fmla="val 6818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0" y="3108960"/>
            <a:ext cx="548640" cy="548640"/>
          </a:xfrm>
          <a:prstGeom prst="circle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0" y="3794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編集者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17520" y="41605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コンテンツ・画面の編集が可能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212080" y="2926080"/>
            <a:ext cx="2011680" cy="2011680"/>
          </a:xfrm>
          <a:prstGeom prst="rect">
            <a:avLst>
              <a:gd name="adj" fmla="val 6818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0" y="3108960"/>
            <a:ext cx="548640" cy="548640"/>
          </a:xfrm>
          <a:prstGeom prst="circle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5212080" y="3794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投稿者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03520" y="41605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投稿のみ可能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498080" y="2926080"/>
            <a:ext cx="2011680" cy="2011680"/>
          </a:xfrm>
          <a:prstGeom prst="rect">
            <a:avLst>
              <a:gd name="adj" fmla="val 6818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29600" y="3108960"/>
            <a:ext cx="548640" cy="548640"/>
          </a:xfrm>
          <a:prstGeom prst="circle">
            <a:avLst/>
          </a:prstGeom>
          <a:solidFill>
            <a:srgbClr val="737373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0" y="3794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閲覧者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589520" y="41605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閲覧のみ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784080" y="2926080"/>
            <a:ext cx="2011680" cy="2011680"/>
          </a:xfrm>
          <a:prstGeom prst="rect">
            <a:avLst>
              <a:gd name="adj" fmla="val 6818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515600" y="3108960"/>
            <a:ext cx="548640" cy="548640"/>
          </a:xfrm>
          <a:prstGeom prst="circle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9784080" y="3794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外部パートナー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875520" y="41605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制作パートナー向け権限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" y="5303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アカウント内に複数アプリを作成でき、アプリごとに権限を付与することも可能です。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3A3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19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USE CASES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パートナーが提案できる案件例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881360" cy="822960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28800"/>
            <a:ext cx="54864" cy="54864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8288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店舗・施設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26080" y="18288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会員アプリ / 予約 / クーポン / 来店管理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0" y="18288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💡 会員アプリで来店促進したい店舗に最適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788920"/>
            <a:ext cx="10881360" cy="822960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788920"/>
            <a:ext cx="54864" cy="54864"/>
          </a:xfrm>
          <a:prstGeom prst="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7889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教育・スクール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26080" y="278892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学習アプリ / お知らせ / 資料共有 / 出欠管理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46720" y="27889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💡 保護者への情報発信を効率化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3749040"/>
            <a:ext cx="10881360" cy="822960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749040"/>
            <a:ext cx="54864" cy="54864"/>
          </a:xfrm>
          <a:prstGeom prst="rect">
            <a:avLst>
              <a:gd name="adj" fmla="val 50000"/>
            </a:avLst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7490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医療・団体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26080" y="374904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情報インフラ / 災害時連絡 / アンケート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46720" y="37490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💡 会員への確実な情報伝達手段として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4709160"/>
            <a:ext cx="10881360" cy="822960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4709160"/>
            <a:ext cx="54864" cy="54864"/>
          </a:xfrm>
          <a:prstGeom prst="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47091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クリエイター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926080" y="47091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ファンコミュニティ / 限定情報 / イベント告知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046720" y="47091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💡 ファンとの接点をアプリで構築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5669280"/>
            <a:ext cx="10881360" cy="822960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5669280"/>
            <a:ext cx="54864" cy="54864"/>
          </a:xfrm>
          <a:prstGeom prst="rect">
            <a:avLst>
              <a:gd name="adj" fmla="val 50000"/>
            </a:avLst>
          </a:prstGeom>
          <a:solidFill>
            <a:srgbClr val="171717"/>
          </a:solidFill>
          <a:ln/>
        </p:spPr>
      </p:sp>
      <p:sp>
        <p:nvSpPr>
          <p:cNvPr id="27" name="Text 25"/>
          <p:cNvSpPr/>
          <p:nvPr/>
        </p:nvSpPr>
        <p:spPr>
          <a:xfrm>
            <a:off x="1005840" y="56692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企業・社内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926080" y="56692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社内ポータル / ナレッジ共有 / 業務連絡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046720" y="56692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💡 社内情報の集約とコミュニケーション強化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3A3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CUSTOMER CASES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導入事例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200400" cy="411480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クライアント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840480" y="1828800"/>
            <a:ext cx="1097280" cy="411480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8" name="Text 6"/>
          <p:cNvSpPr/>
          <p:nvPr/>
        </p:nvSpPr>
        <p:spPr>
          <a:xfrm>
            <a:off x="3977640" y="182880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業種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937760" y="1828800"/>
            <a:ext cx="3200400" cy="411480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10" name="Text 8"/>
          <p:cNvSpPr/>
          <p:nvPr/>
        </p:nvSpPr>
        <p:spPr>
          <a:xfrm>
            <a:off x="5074920" y="18288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活用機能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138160" y="1828800"/>
            <a:ext cx="3383280" cy="411480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18288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導入効果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2240280"/>
            <a:ext cx="3200400" cy="548640"/>
          </a:xfrm>
          <a:prstGeom prst="rect">
            <a:avLst/>
          </a:prstGeom>
          <a:solidFill>
            <a:srgbClr val="FAFAFA"/>
          </a:solidFill>
          <a:ln w="3810">
            <a:solidFill>
              <a:srgbClr val="E5E5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0" y="2240280"/>
            <a:ext cx="1097280" cy="548640"/>
          </a:xfrm>
          <a:prstGeom prst="rect">
            <a:avLst/>
          </a:prstGeom>
          <a:solidFill>
            <a:srgbClr val="FAFAFA"/>
          </a:solidFill>
          <a:ln w="3810">
            <a:solidFill>
              <a:srgbClr val="E5E5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37760" y="2240280"/>
            <a:ext cx="3200400" cy="548640"/>
          </a:xfrm>
          <a:prstGeom prst="rect">
            <a:avLst/>
          </a:prstGeom>
          <a:solidFill>
            <a:srgbClr val="FAFAFA"/>
          </a:solidFill>
          <a:ln w="3810">
            <a:solidFill>
              <a:srgbClr val="E5E5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2240280"/>
            <a:ext cx="3383280" cy="548640"/>
          </a:xfrm>
          <a:prstGeom prst="rect">
            <a:avLst/>
          </a:prstGeom>
          <a:solidFill>
            <a:srgbClr val="FAFAFA"/>
          </a:solidFill>
          <a:ln w="3810">
            <a:solidFill>
              <a:srgbClr val="E5E5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22402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鳥取県歯科医師会 / App歯っ鳥くん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977640" y="224028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医療・団体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74920" y="22402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会員管理 / 通知 / ファイル共有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75320" y="22402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情報共有スピード・到達率向上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0080" y="2880360"/>
            <a:ext cx="3200400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5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0480" y="2880360"/>
            <a:ext cx="1097280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5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37760" y="2880360"/>
            <a:ext cx="3200400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5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38160" y="2880360"/>
            <a:ext cx="3383280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5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28803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パンチョ 診断コンテンツ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977640" y="28803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店舗・施設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74920" y="28803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ポップアップ / アンケート / クーポン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75320" y="28803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来店動機創出・ファン層の見える化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40080" y="3520440"/>
            <a:ext cx="3200400" cy="548640"/>
          </a:xfrm>
          <a:prstGeom prst="rect">
            <a:avLst/>
          </a:prstGeom>
          <a:solidFill>
            <a:srgbClr val="FAFAFA"/>
          </a:solidFill>
          <a:ln w="3810">
            <a:solidFill>
              <a:srgbClr val="E5E5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0480" y="3520440"/>
            <a:ext cx="1097280" cy="548640"/>
          </a:xfrm>
          <a:prstGeom prst="rect">
            <a:avLst/>
          </a:prstGeom>
          <a:solidFill>
            <a:srgbClr val="FAFAFA"/>
          </a:solidFill>
          <a:ln w="3810">
            <a:solidFill>
              <a:srgbClr val="E5E5E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37760" y="3520440"/>
            <a:ext cx="3200400" cy="548640"/>
          </a:xfrm>
          <a:prstGeom prst="rect">
            <a:avLst/>
          </a:prstGeom>
          <a:solidFill>
            <a:srgbClr val="FAFAFA"/>
          </a:solidFill>
          <a:ln w="3810">
            <a:solidFill>
              <a:srgbClr val="E5E5E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38160" y="3520440"/>
            <a:ext cx="3383280" cy="548640"/>
          </a:xfrm>
          <a:prstGeom prst="rect">
            <a:avLst/>
          </a:prstGeom>
          <a:solidFill>
            <a:srgbClr val="FAFAFA"/>
          </a:solidFill>
          <a:ln w="3810">
            <a:solidFill>
              <a:srgbClr val="E5E5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35204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天天中文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977640" y="35204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教育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74920" y="35204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会員管理 / コンテンツ配信 / 通知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275320" y="35204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学習継続率向上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40080" y="4160520"/>
            <a:ext cx="3200400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5E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840480" y="4160520"/>
            <a:ext cx="1097280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5E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937760" y="4160520"/>
            <a:ext cx="3200400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5E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138160" y="4160520"/>
            <a:ext cx="3383280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5E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7240" y="41605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トラスポMAP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977640" y="41605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業務支援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074920" y="41605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マップ / 投稿 / 通知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275320" y="41605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現場情報共有スピード改善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40080" y="4800600"/>
            <a:ext cx="3200400" cy="548640"/>
          </a:xfrm>
          <a:prstGeom prst="rect">
            <a:avLst/>
          </a:prstGeom>
          <a:solidFill>
            <a:srgbClr val="FAFAFA"/>
          </a:solidFill>
          <a:ln w="3810">
            <a:solidFill>
              <a:srgbClr val="E5E5E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840480" y="4800600"/>
            <a:ext cx="1097280" cy="548640"/>
          </a:xfrm>
          <a:prstGeom prst="rect">
            <a:avLst/>
          </a:prstGeom>
          <a:solidFill>
            <a:srgbClr val="FAFAFA"/>
          </a:solidFill>
          <a:ln w="3810">
            <a:solidFill>
              <a:srgbClr val="E5E5E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937760" y="4800600"/>
            <a:ext cx="3200400" cy="548640"/>
          </a:xfrm>
          <a:prstGeom prst="rect">
            <a:avLst/>
          </a:prstGeom>
          <a:solidFill>
            <a:srgbClr val="FAFAFA"/>
          </a:solidFill>
          <a:ln w="3810">
            <a:solidFill>
              <a:srgbClr val="E5E5E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138160" y="4800600"/>
            <a:ext cx="3383280" cy="548640"/>
          </a:xfrm>
          <a:prstGeom prst="rect">
            <a:avLst/>
          </a:prstGeom>
          <a:solidFill>
            <a:srgbClr val="FAFAFA"/>
          </a:solidFill>
          <a:ln w="3810">
            <a:solidFill>
              <a:srgbClr val="E5E5E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77240" y="48006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FBスカウト公式アプリ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977640" y="48006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企業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074920" y="48006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会員管理 / 通知 / コンテンツ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8275320" y="48006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案件流通の透明性向上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40080" y="5440680"/>
            <a:ext cx="3200400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5E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840480" y="5440680"/>
            <a:ext cx="1097280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5E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937760" y="5440680"/>
            <a:ext cx="3200400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5E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138160" y="5440680"/>
            <a:ext cx="3383280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5E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77240" y="54406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たるファミ公式アプリ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3977640" y="544068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コミュニティ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074920" y="54406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会員限定 / 投稿 / 通知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8275320" y="54406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コアファン満足度向上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3A3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PRICING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エンドクライアントへの提案価格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212080" cy="411480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利用料金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2560320"/>
            <a:ext cx="4663440" cy="50292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5603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2週間無料トライアル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83280" y="25603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25603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373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クレジットカード不要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914400" y="3154680"/>
            <a:ext cx="46634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1546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アカウント基本利用料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83280" y="31546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¥3,000/月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31546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373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複数アプリ管理可能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914400" y="3749040"/>
            <a:ext cx="4663440" cy="50292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37490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Webアプリ公開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83280" y="37490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¥2,000/URL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0" y="374904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373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独自ドメイン接続可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914400" y="4343400"/>
            <a:ext cx="46634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43434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iOSアプリ公開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83280" y="43434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¥5,000/月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0" y="434340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373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App Store対応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914400" y="4937760"/>
            <a:ext cx="4663440" cy="50292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4" name="Text 22"/>
          <p:cNvSpPr/>
          <p:nvPr/>
        </p:nvSpPr>
        <p:spPr>
          <a:xfrm>
            <a:off x="1097280" y="49377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Androidアプリ公開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83280" y="49377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¥5,000/月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0" y="49377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373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Google Play対応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309360" y="1828800"/>
            <a:ext cx="5212080" cy="411480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制作サービス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583680" y="2651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オフィシャル制作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326880" y="2651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¥100,000〜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583680" y="30175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公式チームが企画〜構築を代行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583680" y="3886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3hパック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326880" y="3886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¥35,000 / 回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583680" y="42519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ローンチ記念半額（通常¥70,000）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当日オンラインで3時間リアルタイム制作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583680" y="5120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エムスタFull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326880" y="5120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個別お見積り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583680" y="54864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独自機能開発・高度UI/UX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既存アプリリプレイスに対応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40080" y="6126480"/>
            <a:ext cx="10881360" cy="45720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" y="61264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この月額課金に対してレベニューシェアが発生 → パートナーの継続収益に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3A3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GETTING STARTED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パートナー導入の流れ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最短即日でパートナー登録し、すぐに制作を開始できます。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51560" y="2926080"/>
            <a:ext cx="731520" cy="731520"/>
          </a:xfrm>
          <a:prstGeom prst="ellipse">
            <a:avLst/>
          </a:prstGeom>
          <a:solidFill>
            <a:srgbClr val="171717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926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74520" y="30175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37373"/>
                </a:solidFill>
              </a:rPr>
              <a:t>→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3840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お問い合わせ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42062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資料DLまたは</a:t>
            </a:r>
            <a:endParaRPr lang="en-US" sz="9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オンライン相談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971800" y="2926080"/>
            <a:ext cx="731520" cy="731520"/>
          </a:xfrm>
          <a:prstGeom prst="ellipse">
            <a:avLst/>
          </a:prstGeom>
          <a:solidFill>
            <a:srgbClr val="171717"/>
          </a:solidFill>
          <a:ln/>
        </p:spPr>
      </p:sp>
      <p:sp>
        <p:nvSpPr>
          <p:cNvPr id="12" name="Text 10"/>
          <p:cNvSpPr/>
          <p:nvPr/>
        </p:nvSpPr>
        <p:spPr>
          <a:xfrm>
            <a:off x="2971800" y="2926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94760" y="30175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37373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14600" y="3840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ヒアリング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14600" y="42062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貴社の事業内容と</a:t>
            </a:r>
            <a:endParaRPr lang="en-US" sz="9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活用方針をお伺い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92040" y="2926080"/>
            <a:ext cx="731520" cy="731520"/>
          </a:xfrm>
          <a:prstGeom prst="ellipse">
            <a:avLst/>
          </a:prstGeom>
          <a:solidFill>
            <a:srgbClr val="171717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926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715000" y="30175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37373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34840" y="3840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契約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34840" y="42062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パートナー契約の</a:t>
            </a:r>
            <a:endParaRPr lang="en-US" sz="9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締結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12280" y="2926080"/>
            <a:ext cx="731520" cy="731520"/>
          </a:xfrm>
          <a:prstGeom prst="ellipse">
            <a:avLst/>
          </a:prstGeom>
          <a:solidFill>
            <a:srgbClr val="171717"/>
          </a:solidFill>
          <a:ln/>
        </p:spPr>
      </p:sp>
      <p:sp>
        <p:nvSpPr>
          <p:cNvPr id="22" name="Text 20"/>
          <p:cNvSpPr/>
          <p:nvPr/>
        </p:nvSpPr>
        <p:spPr>
          <a:xfrm>
            <a:off x="6812280" y="2926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635240" y="30175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37373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55080" y="3840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アカウント発行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55080" y="42062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プロモード対応の</a:t>
            </a:r>
            <a:endParaRPr lang="en-US" sz="9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アカウントを発行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732520" y="2926080"/>
            <a:ext cx="731520" cy="731520"/>
          </a:xfrm>
          <a:prstGeom prst="ellipse">
            <a:avLst/>
          </a:prstGeom>
          <a:solidFill>
            <a:srgbClr val="171717"/>
          </a:solidFill>
          <a:ln/>
        </p:spPr>
      </p:sp>
      <p:sp>
        <p:nvSpPr>
          <p:cNvPr id="27" name="Text 25"/>
          <p:cNvSpPr/>
          <p:nvPr/>
        </p:nvSpPr>
        <p:spPr>
          <a:xfrm>
            <a:off x="8732520" y="2926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555480" y="30175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37373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75320" y="3840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制作開始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75320" y="42062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クライアント案件の</a:t>
            </a:r>
            <a:endParaRPr lang="en-US" sz="9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制作を開始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0652760" y="2926080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2" name="Text 30"/>
          <p:cNvSpPr/>
          <p:nvPr/>
        </p:nvSpPr>
        <p:spPr>
          <a:xfrm>
            <a:off x="10652760" y="2926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195560" y="3840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運用・収益化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195560" y="42062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レベニューシェアで</a:t>
            </a:r>
            <a:endParaRPr lang="en-US" sz="9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継続収益を獲得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3A3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FAQ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よくある質問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881360" cy="822960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87452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Q. 代理店として利用できますか？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A. はい。パートナー制度およびレベニューシェア制度をご用意しています。紹介パートナーとしての参加も可能です。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788920"/>
            <a:ext cx="10881360" cy="822960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283464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Q. パートナー登録に費用はかかりますか？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15468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A. パートナー登録は無料です。まずはオンライン相談で詳細をご確認ください。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3749040"/>
            <a:ext cx="10881360" cy="822960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379476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Q. 制作を依頼することもできますか？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411480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A. はい。オフィシャル制作（¥100,000〜）、即日3hパック（¥35,000）、スクラッチ対応のエムスタFullをご用意しています。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4709160"/>
            <a:ext cx="10881360" cy="822960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" y="475488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Q. 独自機能の開発はできますか？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507492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A. はい。エムスタFullにて個別要件に対応可能です。既存アプリのリプレイスにも対応します。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5669280"/>
            <a:ext cx="10881360" cy="822960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571500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17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Q. クライアントへの請求はどうなりますか？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603504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A. MS Studioの利用料金はエンドクライアントに直接請求されます。パートナーには月額課金に対するレベニューシェアが還元されます。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まずは、お気軽にご相談ください。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A3A3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パートナーになる最初のステップは、オンライン相談から。</a:t>
            </a:r>
            <a:endParaRPr lang="en-US" sz="13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A3A3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制度の詳細、収益モデル、貴社での活用方法など、何でもお気軽にご質問ください。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3474720"/>
            <a:ext cx="3474720" cy="1828800"/>
          </a:xfrm>
          <a:prstGeom prst="roundRect">
            <a:avLst>
              <a:gd name="adj" fmla="val 7500"/>
            </a:avLst>
          </a:prstGeom>
          <a:solidFill>
            <a:srgbClr val="262626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3474720"/>
            <a:ext cx="34747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7490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オンライン相談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2062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A3A3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Spirカレンダーから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A3A3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日程を選んで予約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89120" y="3474720"/>
            <a:ext cx="3474720" cy="1828800"/>
          </a:xfrm>
          <a:prstGeom prst="roundRect">
            <a:avLst>
              <a:gd name="adj" fmla="val 7500"/>
            </a:avLst>
          </a:prstGeom>
          <a:solidFill>
            <a:srgbClr val="262626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3474720"/>
            <a:ext cx="347472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37490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パートナー資料DL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63440" y="42062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A3A3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制度概要・収益モデルを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A3A3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まとめたPDF資料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138160" y="3474720"/>
            <a:ext cx="3474720" cy="1828800"/>
          </a:xfrm>
          <a:prstGeom prst="roundRect">
            <a:avLst>
              <a:gd name="adj" fmla="val 7500"/>
            </a:avLst>
          </a:prstGeom>
          <a:solidFill>
            <a:srgbClr val="262626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3474720"/>
            <a:ext cx="347472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0" y="37490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無料トライアル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12480" y="42062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A3A3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2週間無料で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A3A3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MS Studioを体験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5669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サイト: https://msta.app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5943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パートナー向け: https://msta.app/partners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6309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3737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R117 Inc.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R117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 Studio パートナー向け資料</dc:title>
  <dc:subject>MS Studio Partner Program</dc:subject>
  <dc:creator>R117 Inc.</dc:creator>
  <cp:lastModifiedBy>R117 Inc.</cp:lastModifiedBy>
  <cp:revision>1</cp:revision>
  <dcterms:created xsi:type="dcterms:W3CDTF">2026-05-21T10:01:04Z</dcterms:created>
  <dcterms:modified xsi:type="dcterms:W3CDTF">2026-05-21T10:01:04Z</dcterms:modified>
</cp:coreProperties>
</file>