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4" name="Shape 2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0" y="4572000"/>
            <a:ext cx="4572000" cy="4572000"/>
          </a:xfrm>
          <a:prstGeom prst="ellipse">
            <a:avLst/>
          </a:prstGeom>
          <a:solidFill>
            <a:srgbClr val="A78BFA">
              <a:alpha val="6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315200" y="-914400"/>
            <a:ext cx="2743200" cy="2743200"/>
          </a:xfrm>
          <a:prstGeom prst="ellipse">
            <a:avLst/>
          </a:prstGeom>
          <a:solidFill>
            <a:srgbClr val="3B82F6">
              <a:alpha val="4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-2743200" y="-2743200"/>
            <a:ext cx="8229600" cy="8229600"/>
          </a:xfrm>
          <a:prstGeom prst="ellipse">
            <a:avLst/>
          </a:prstGeom>
          <a:solidFill>
            <a:srgbClr val="2563EB">
              <a:alpha val="1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8229600" y="2743200"/>
            <a:ext cx="7315200" cy="7315200"/>
          </a:xfrm>
          <a:prstGeom prst="ellipse">
            <a:avLst/>
          </a:prstGeom>
          <a:solidFill>
            <a:srgbClr val="8B5CF6">
              <a:alpha val="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572000" y="-1828800"/>
            <a:ext cx="3657600" cy="36576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0"/>
            <a:ext cx="2743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0"/>
            <a:ext cx="2743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828800" y="0"/>
            <a:ext cx="2743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743200" y="0"/>
            <a:ext cx="2743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3657600" y="0"/>
            <a:ext cx="2743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4572000" y="0"/>
            <a:ext cx="2743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0" y="0"/>
            <a:ext cx="2743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0" y="0"/>
            <a:ext cx="2743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7315200" y="0"/>
            <a:ext cx="2743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8229600" y="0"/>
            <a:ext cx="2743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144000" y="0"/>
            <a:ext cx="2743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058400" y="0"/>
            <a:ext cx="2743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0972800" y="0"/>
            <a:ext cx="2743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887200" y="0"/>
            <a:ext cx="2743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274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914400"/>
            <a:ext cx="12191695" cy="274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1828800"/>
            <a:ext cx="12191695" cy="274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2743200"/>
            <a:ext cx="12191695" cy="274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3657600"/>
            <a:ext cx="12191695" cy="274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572000"/>
            <a:ext cx="12191695" cy="274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486400"/>
            <a:ext cx="12191695" cy="274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6400800"/>
            <a:ext cx="12191695" cy="274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0"/>
            <a:ext cx="6095848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3" name="Shape 31"/>
          <p:cNvSpPr/>
          <p:nvPr/>
        </p:nvSpPr>
        <p:spPr>
          <a:xfrm>
            <a:off x="6095848" y="0"/>
            <a:ext cx="6095848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4" name="Shape 32"/>
          <p:cNvSpPr/>
          <p:nvPr/>
        </p:nvSpPr>
        <p:spPr>
          <a:xfrm>
            <a:off x="731520" y="1645920"/>
            <a:ext cx="1444752" cy="27432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1645920"/>
            <a:ext cx="14447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MS STUDIO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31520" y="210312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Partner</a:t>
            </a:r>
            <a:endParaRPr lang="en-US" sz="5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Program</a:t>
            </a:r>
            <a:endParaRPr lang="en-US" sz="5400" dirty="0"/>
          </a:p>
        </p:txBody>
      </p:sp>
      <p:sp>
        <p:nvSpPr>
          <p:cNvPr id="37" name="Text 35"/>
          <p:cNvSpPr/>
          <p:nvPr/>
        </p:nvSpPr>
        <p:spPr>
          <a:xfrm>
            <a:off x="731520" y="40233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アプリ制作を、あなたの新しいビジネスに。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49808" y="4873752"/>
            <a:ext cx="3017520" cy="1097280"/>
          </a:xfrm>
          <a:prstGeom prst="roundRect">
            <a:avLst>
              <a:gd name="adj" fmla="val 15000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731520" y="4846320"/>
            <a:ext cx="3017520" cy="109728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40664" y="4846320"/>
            <a:ext cx="2999232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502920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レベニューシェア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005840" y="53035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最大 35%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4041648" y="4873752"/>
            <a:ext cx="3017520" cy="1097280"/>
          </a:xfrm>
          <a:prstGeom prst="roundRect">
            <a:avLst>
              <a:gd name="adj" fmla="val 15000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023360" y="4846320"/>
            <a:ext cx="3017520" cy="109728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032504" y="4846320"/>
            <a:ext cx="2999232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6" name="Text 44"/>
          <p:cNvSpPr/>
          <p:nvPr/>
        </p:nvSpPr>
        <p:spPr>
          <a:xfrm>
            <a:off x="4297680" y="502920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登録費用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297680" y="53035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¥0 無料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7333488" y="4873752"/>
            <a:ext cx="3017520" cy="1097280"/>
          </a:xfrm>
          <a:prstGeom prst="roundRect">
            <a:avLst>
              <a:gd name="adj" fmla="val 15000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315200" y="4846320"/>
            <a:ext cx="3017520" cy="109728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324344" y="4846320"/>
            <a:ext cx="2999232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1" name="Text 49"/>
          <p:cNvSpPr/>
          <p:nvPr/>
        </p:nvSpPr>
        <p:spPr>
          <a:xfrm>
            <a:off x="7589520" y="502920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対応プラットフォーム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7589520" y="53035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 / iOS / Android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731520" y="63093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Confidential  ·  R117 Inc.  ·  2026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2563EB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8B5CF6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2724912" cy="292608"/>
          </a:xfrm>
          <a:prstGeom prst="roundRect">
            <a:avLst>
              <a:gd name="adj" fmla="val 50000"/>
            </a:avLst>
          </a:prstGeom>
          <a:solidFill>
            <a:srgbClr val="2563EB">
              <a:alpha val="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2633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EXECUTIVE SUMMARY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この資料で分かること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758952" y="1956816"/>
            <a:ext cx="10698480" cy="640080"/>
          </a:xfrm>
          <a:prstGeom prst="roundRect">
            <a:avLst>
              <a:gd name="adj" fmla="val 25714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" y="1920240"/>
            <a:ext cx="10698480" cy="640080"/>
          </a:xfrm>
          <a:prstGeom prst="roundRect">
            <a:avLst>
              <a:gd name="adj" fmla="val 25714"/>
            </a:avLst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201168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DBEAFE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2011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📱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554480" y="192024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MS Studioの製品概要と、他にはないCMSの強み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60704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BEAF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58952" y="2734056"/>
            <a:ext cx="10698480" cy="640080"/>
          </a:xfrm>
          <a:prstGeom prst="roundRect">
            <a:avLst>
              <a:gd name="adj" fmla="val 25714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731520" y="2697480"/>
            <a:ext cx="10698480" cy="640080"/>
          </a:xfrm>
          <a:prstGeom prst="roundRect">
            <a:avLst>
              <a:gd name="adj" fmla="val 25714"/>
            </a:avLst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914400" y="278892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DBEAFE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2788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🤝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554480" y="269748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パートナー制度の全体像（制作 / 紹介 / テンプレート販売）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607040" y="2697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BEAF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58952" y="3511296"/>
            <a:ext cx="10698480" cy="640080"/>
          </a:xfrm>
          <a:prstGeom prst="roundRect">
            <a:avLst>
              <a:gd name="adj" fmla="val 25714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31520" y="3474720"/>
            <a:ext cx="10698480" cy="640080"/>
          </a:xfrm>
          <a:prstGeom prst="roundRect">
            <a:avLst>
              <a:gd name="adj" fmla="val 25714"/>
            </a:avLst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914400" y="356616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DBEAFE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3566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💰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554480" y="347472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レベニューシェア制度と5段階ランク（最大35%還元）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607040" y="3474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BEAF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758952" y="4288536"/>
            <a:ext cx="10698480" cy="640080"/>
          </a:xfrm>
          <a:prstGeom prst="roundRect">
            <a:avLst>
              <a:gd name="adj" fmla="val 25714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731520" y="4251960"/>
            <a:ext cx="10698480" cy="640080"/>
          </a:xfrm>
          <a:prstGeom prst="roundRect">
            <a:avLst>
              <a:gd name="adj" fmla="val 25714"/>
            </a:avLst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914400" y="43434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DBEAFE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4343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554480" y="425196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3つのペルソナ別・収益シミュレーション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607040" y="4251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BEAF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758952" y="5065776"/>
            <a:ext cx="10698480" cy="640080"/>
          </a:xfrm>
          <a:prstGeom prst="roundRect">
            <a:avLst>
              <a:gd name="adj" fmla="val 25714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31520" y="5029200"/>
            <a:ext cx="10698480" cy="640080"/>
          </a:xfrm>
          <a:prstGeom prst="roundRect">
            <a:avLst>
              <a:gd name="adj" fmla="val 25714"/>
            </a:avLst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914400" y="512064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DBEAFE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0" y="5120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🚀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554480" y="502920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マーケットプレイスやAI支援で広がる追加収益の機会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0607040" y="5029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BEAF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758952" y="5843016"/>
            <a:ext cx="10698480" cy="640080"/>
          </a:xfrm>
          <a:prstGeom prst="roundRect">
            <a:avLst>
              <a:gd name="adj" fmla="val 25714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31520" y="5806440"/>
            <a:ext cx="10698480" cy="640080"/>
          </a:xfrm>
          <a:prstGeom prst="roundRect">
            <a:avLst>
              <a:gd name="adj" fmla="val 25714"/>
            </a:avLst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914400" y="589788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DBEAFE"/>
          </a:solidFill>
          <a:ln/>
        </p:spPr>
      </p:sp>
      <p:sp>
        <p:nvSpPr>
          <p:cNvPr id="43" name="Text 41"/>
          <p:cNvSpPr/>
          <p:nvPr/>
        </p:nvSpPr>
        <p:spPr>
          <a:xfrm>
            <a:off x="914400" y="5897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1554480" y="580644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パートナー登録までの流れと、今すぐ始める方法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607040" y="5806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BEAF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2563EB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8B5CF6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2596896" cy="292608"/>
          </a:xfrm>
          <a:prstGeom prst="roundRect">
            <a:avLst>
              <a:gd name="adj" fmla="val 50000"/>
            </a:avLst>
          </a:prstGeom>
          <a:solidFill>
            <a:srgbClr val="2563EB">
              <a:alpha val="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MARKET CHALLENGE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アプリ制作市場の課題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758952" y="2048256"/>
            <a:ext cx="3520440" cy="3840480"/>
          </a:xfrm>
          <a:prstGeom prst="roundRect">
            <a:avLst>
              <a:gd name="adj" fmla="val 4675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" y="2011680"/>
            <a:ext cx="3520440" cy="38404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2057400" y="2331720"/>
            <a:ext cx="868680" cy="868680"/>
          </a:xfrm>
          <a:prstGeom prst="ellipse">
            <a:avLst/>
          </a:prstGeom>
          <a:solidFill>
            <a:srgbClr val="F43F5E">
              <a:alpha val="1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2057400" y="23317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90" dirty="0">
                <a:solidFill>
                  <a:srgbClr val="000000"/>
                </a:solidFill>
              </a:rPr>
              <a:t>💰</a:t>
            </a:r>
            <a:endParaRPr lang="en-US" sz="2090" dirty="0"/>
          </a:p>
        </p:txBody>
      </p:sp>
      <p:sp>
        <p:nvSpPr>
          <p:cNvPr id="14" name="Text 12"/>
          <p:cNvSpPr/>
          <p:nvPr/>
        </p:nvSpPr>
        <p:spPr>
          <a:xfrm>
            <a:off x="1005840" y="33375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高コスト・長期間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828800" y="3794760"/>
            <a:ext cx="1325880" cy="18288"/>
          </a:xfrm>
          <a:prstGeom prst="rect">
            <a:avLst/>
          </a:prstGeom>
          <a:solidFill>
            <a:srgbClr val="F43F5E">
              <a:alpha val="25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3931920"/>
            <a:ext cx="2880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スクラッチ開発は数百万〜数千万円、半年以上。</a:t>
            </a:r>
            <a:endParaRPr lang="en-US" sz="1100" dirty="0"/>
          </a:p>
          <a:p>
            <a:pPr algn="ctr"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中小企業や個人には手が届かない。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53712" y="2048256"/>
            <a:ext cx="3520440" cy="3840480"/>
          </a:xfrm>
          <a:prstGeom prst="roundRect">
            <a:avLst>
              <a:gd name="adj" fmla="val 4675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4526280" y="2011680"/>
            <a:ext cx="3520440" cy="38404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5852160" y="2331720"/>
            <a:ext cx="868680" cy="868680"/>
          </a:xfrm>
          <a:prstGeom prst="ellipse">
            <a:avLst/>
          </a:prstGeom>
          <a:solidFill>
            <a:srgbClr val="F59E0B">
              <a:alpha val="12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5852160" y="23317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90" dirty="0">
                <a:solidFill>
                  <a:srgbClr val="000000"/>
                </a:solidFill>
              </a:rPr>
              <a:t>🔒</a:t>
            </a:r>
            <a:endParaRPr lang="en-US" sz="2090" dirty="0"/>
          </a:p>
        </p:txBody>
      </p:sp>
      <p:sp>
        <p:nvSpPr>
          <p:cNvPr id="21" name="Text 19"/>
          <p:cNvSpPr/>
          <p:nvPr/>
        </p:nvSpPr>
        <p:spPr>
          <a:xfrm>
            <a:off x="4800600" y="33375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作って終わり問題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623560" y="3794760"/>
            <a:ext cx="1325880" cy="18288"/>
          </a:xfrm>
          <a:prstGeom prst="rect">
            <a:avLst/>
          </a:prstGeom>
          <a:solidFill>
            <a:srgbClr val="F59E0B">
              <a:alpha val="2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846320" y="3931920"/>
            <a:ext cx="2880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リリース後の運用・更新が属人化し、</a:t>
            </a:r>
            <a:endParaRPr lang="en-US" sz="1100" dirty="0"/>
          </a:p>
          <a:p>
            <a:pPr algn="ctr"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コンテンツが止まる。追加費用も膨らむ。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348472" y="2048256"/>
            <a:ext cx="3520440" cy="3840480"/>
          </a:xfrm>
          <a:prstGeom prst="roundRect">
            <a:avLst>
              <a:gd name="adj" fmla="val 4675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8321040" y="2011680"/>
            <a:ext cx="3520440" cy="38404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9646920" y="2331720"/>
            <a:ext cx="868680" cy="868680"/>
          </a:xfrm>
          <a:prstGeom prst="ellipse">
            <a:avLst/>
          </a:prstGeom>
          <a:solidFill>
            <a:srgbClr val="2563EB">
              <a:alpha val="12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9646920" y="23317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90" dirty="0">
                <a:solidFill>
                  <a:srgbClr val="000000"/>
                </a:solidFill>
              </a:rPr>
              <a:t>🔄</a:t>
            </a:r>
            <a:endParaRPr lang="en-US" sz="2090" dirty="0"/>
          </a:p>
        </p:txBody>
      </p:sp>
      <p:sp>
        <p:nvSpPr>
          <p:cNvPr id="28" name="Text 26"/>
          <p:cNvSpPr/>
          <p:nvPr/>
        </p:nvSpPr>
        <p:spPr>
          <a:xfrm>
            <a:off x="8595360" y="33375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ビジネスモデル変革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418320" y="3794760"/>
            <a:ext cx="1325880" cy="18288"/>
          </a:xfrm>
          <a:prstGeom prst="rect">
            <a:avLst/>
          </a:prstGeom>
          <a:solidFill>
            <a:srgbClr val="2563EB">
              <a:alpha val="25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8641080" y="3931920"/>
            <a:ext cx="2880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AI時代に受注→制作→納品のフロー型だけ</a:t>
            </a:r>
            <a:endParaRPr lang="en-US" sz="1100" dirty="0"/>
          </a:p>
          <a:p>
            <a:pPr algn="ctr"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では生き残れない。継続収益が必須に。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371600" y="6126480"/>
            <a:ext cx="9418320" cy="45720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/>
        </p:spPr>
      </p:sp>
      <p:sp>
        <p:nvSpPr>
          <p:cNvPr id="32" name="Text 30"/>
          <p:cNvSpPr/>
          <p:nvPr/>
        </p:nvSpPr>
        <p:spPr>
          <a:xfrm>
            <a:off x="1371600" y="612648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MS Studioは、これらすべてを解決するプラットフォームです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2563EB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8B5CF6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2596896" cy="292608"/>
          </a:xfrm>
          <a:prstGeom prst="roundRect">
            <a:avLst>
              <a:gd name="adj" fmla="val 50000"/>
            </a:avLst>
          </a:prstGeom>
          <a:solidFill>
            <a:srgbClr val="2563EB">
              <a:alpha val="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PRODUCT OVERVIEW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MS Studioとは？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31520" y="1600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真のノーコード × 最強CMS を備えた、次世代型アプリ制作プラットフォーム。</a:t>
            </a:r>
            <a:endParaRPr lang="en-US" sz="1200" dirty="0"/>
          </a:p>
          <a:p>
            <a:pPr indent="0" marL="0">
              <a:lnSpc>
                <a:spcPct val="17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Webアプリ・iOSアプリ・Androidアプリを、CMS付きで構築・運用できます。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58952" y="2871216"/>
            <a:ext cx="3520440" cy="3474720"/>
          </a:xfrm>
          <a:prstGeom prst="roundRect">
            <a:avLst>
              <a:gd name="adj" fmla="val 4737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2834640"/>
            <a:ext cx="3520440" cy="347472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740664" y="2843784"/>
            <a:ext cx="350215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Shape 12"/>
          <p:cNvSpPr/>
          <p:nvPr/>
        </p:nvSpPr>
        <p:spPr>
          <a:xfrm>
            <a:off x="2057400" y="3108960"/>
            <a:ext cx="868680" cy="868680"/>
          </a:xfrm>
          <a:prstGeom prst="ellipse">
            <a:avLst/>
          </a:prstGeom>
          <a:solidFill>
            <a:srgbClr val="2563EB">
              <a:alpha val="12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2057400" y="310896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90" dirty="0">
                <a:solidFill>
                  <a:srgbClr val="000000"/>
                </a:solidFill>
              </a:rPr>
              <a:t>🛠</a:t>
            </a:r>
            <a:endParaRPr lang="en-US" sz="2090" dirty="0"/>
          </a:p>
        </p:txBody>
      </p:sp>
      <p:sp>
        <p:nvSpPr>
          <p:cNvPr id="16" name="Text 14"/>
          <p:cNvSpPr/>
          <p:nvPr/>
        </p:nvSpPr>
        <p:spPr>
          <a:xfrm>
            <a:off x="1005840" y="411480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アプリを作る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51560" y="4617720"/>
            <a:ext cx="2880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7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 / iOS / Androidに対応。</a:t>
            </a:r>
            <a:endParaRPr lang="en-US" sz="1100" dirty="0"/>
          </a:p>
          <a:p>
            <a:pPr algn="ctr" indent="0" marL="0">
              <a:lnSpc>
                <a:spcPct val="17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標準機能を組み合わせて</a:t>
            </a:r>
            <a:endParaRPr lang="en-US" sz="1100" dirty="0"/>
          </a:p>
          <a:p>
            <a:pPr algn="ctr" indent="0" marL="0">
              <a:lnSpc>
                <a:spcPct val="17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低コスト・短納期で制作。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53712" y="2871216"/>
            <a:ext cx="3520440" cy="3474720"/>
          </a:xfrm>
          <a:prstGeom prst="roundRect">
            <a:avLst>
              <a:gd name="adj" fmla="val 4737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4526280" y="2834640"/>
            <a:ext cx="3520440" cy="347472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2843784"/>
            <a:ext cx="3502152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52160" y="3108960"/>
            <a:ext cx="868680" cy="86868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5852160" y="310896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90" dirty="0">
                <a:solidFill>
                  <a:srgbClr val="000000"/>
                </a:solidFill>
              </a:rPr>
              <a:t>⚙️</a:t>
            </a:r>
            <a:endParaRPr lang="en-US" sz="2090" dirty="0"/>
          </a:p>
        </p:txBody>
      </p:sp>
      <p:sp>
        <p:nvSpPr>
          <p:cNvPr id="23" name="Text 21"/>
          <p:cNvSpPr/>
          <p:nvPr/>
        </p:nvSpPr>
        <p:spPr>
          <a:xfrm>
            <a:off x="4800600" y="411480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アプリを運用する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846320" y="4617720"/>
            <a:ext cx="2880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7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CMS標準搭載。投稿、通知、</a:t>
            </a:r>
            <a:endParaRPr lang="en-US" sz="1100" dirty="0"/>
          </a:p>
          <a:p>
            <a:pPr algn="ctr" indent="0" marL="0">
              <a:lnSpc>
                <a:spcPct val="17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会員管理、予約、チャット等を</a:t>
            </a:r>
            <a:endParaRPr lang="en-US" sz="1100" dirty="0"/>
          </a:p>
          <a:p>
            <a:pPr algn="ctr" indent="0" marL="0">
              <a:lnSpc>
                <a:spcPct val="17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管理画面から誰でも更新可能。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348472" y="2871216"/>
            <a:ext cx="3520440" cy="3474720"/>
          </a:xfrm>
          <a:prstGeom prst="roundRect">
            <a:avLst>
              <a:gd name="adj" fmla="val 4737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8321040" y="2834640"/>
            <a:ext cx="3520440" cy="347472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8330184" y="2843784"/>
            <a:ext cx="3502152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Shape 26"/>
          <p:cNvSpPr/>
          <p:nvPr/>
        </p:nvSpPr>
        <p:spPr>
          <a:xfrm>
            <a:off x="9646920" y="3108960"/>
            <a:ext cx="868680" cy="868680"/>
          </a:xfrm>
          <a:prstGeom prst="ellipse">
            <a:avLst/>
          </a:prstGeom>
          <a:solidFill>
            <a:srgbClr val="10B981">
              <a:alpha val="12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9646920" y="310896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90" dirty="0">
                <a:solidFill>
                  <a:srgbClr val="000000"/>
                </a:solidFill>
              </a:rPr>
              <a:t>💼</a:t>
            </a:r>
            <a:endParaRPr lang="en-US" sz="2090" dirty="0"/>
          </a:p>
        </p:txBody>
      </p:sp>
      <p:sp>
        <p:nvSpPr>
          <p:cNvPr id="30" name="Text 28"/>
          <p:cNvSpPr/>
          <p:nvPr/>
        </p:nvSpPr>
        <p:spPr>
          <a:xfrm>
            <a:off x="8595360" y="411480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アプリビジネスを作る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641080" y="4617720"/>
            <a:ext cx="2880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7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パートナー制度で制作会社・</a:t>
            </a:r>
            <a:endParaRPr lang="en-US" sz="1100" dirty="0"/>
          </a:p>
          <a:p>
            <a:pPr algn="ctr" indent="0" marL="0">
              <a:lnSpc>
                <a:spcPct val="17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代理店・クリエイターが</a:t>
            </a:r>
            <a:endParaRPr lang="en-US" sz="1100" dirty="0"/>
          </a:p>
          <a:p>
            <a:pPr algn="ctr" indent="0" marL="0">
              <a:lnSpc>
                <a:spcPct val="17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継続収益を得られる。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2563EB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8B5CF6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2468880" cy="292608"/>
          </a:xfrm>
          <a:prstGeom prst="roundRect">
            <a:avLst>
              <a:gd name="adj" fmla="val 50000"/>
            </a:avLst>
          </a:prstGeom>
          <a:solidFill>
            <a:srgbClr val="2563EB">
              <a:alpha val="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CMS / DASHBOARD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アプリは、リリースしてからが本番。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31520" y="1600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リリース後の更新・運用まで管理できるCMSを標準提供。プログラミング不要。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58952" y="2596896"/>
            <a:ext cx="2606040" cy="1005840"/>
          </a:xfrm>
          <a:prstGeom prst="roundRect">
            <a:avLst>
              <a:gd name="adj" fmla="val 16364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2560320"/>
            <a:ext cx="2606040" cy="100584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278892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788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17320" y="269748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投稿コンテンツの追加・編集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593592" y="2596896"/>
            <a:ext cx="2606040" cy="1005840"/>
          </a:xfrm>
          <a:prstGeom prst="roundRect">
            <a:avLst>
              <a:gd name="adj" fmla="val 16364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566160" y="2560320"/>
            <a:ext cx="2606040" cy="100584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3749040" y="278892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/>
        </p:spPr>
      </p:sp>
      <p:sp>
        <p:nvSpPr>
          <p:cNvPr id="19" name="Text 17"/>
          <p:cNvSpPr/>
          <p:nvPr/>
        </p:nvSpPr>
        <p:spPr>
          <a:xfrm>
            <a:off x="3749040" y="2788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251960" y="269748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固定ページの管理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28232" y="2596896"/>
            <a:ext cx="2606040" cy="1005840"/>
          </a:xfrm>
          <a:prstGeom prst="roundRect">
            <a:avLst>
              <a:gd name="adj" fmla="val 16364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400800" y="2560320"/>
            <a:ext cx="2606040" cy="100584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583680" y="278892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0" y="2788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086600" y="269748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プッシュ通知の配信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262872" y="2596896"/>
            <a:ext cx="2606040" cy="1005840"/>
          </a:xfrm>
          <a:prstGeom prst="roundRect">
            <a:avLst>
              <a:gd name="adj" fmla="val 16364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9235440" y="2560320"/>
            <a:ext cx="2606040" cy="100584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9418320" y="278892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/>
        </p:spPr>
      </p:sp>
      <p:sp>
        <p:nvSpPr>
          <p:cNvPr id="29" name="Text 27"/>
          <p:cNvSpPr/>
          <p:nvPr/>
        </p:nvSpPr>
        <p:spPr>
          <a:xfrm>
            <a:off x="9418320" y="2788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921240" y="269748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会員管理・セグメント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58952" y="3831336"/>
            <a:ext cx="2606040" cy="1005840"/>
          </a:xfrm>
          <a:prstGeom prst="roundRect">
            <a:avLst>
              <a:gd name="adj" fmla="val 16364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731520" y="3794760"/>
            <a:ext cx="2606040" cy="100584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/>
        </p:spPr>
      </p:sp>
      <p:sp>
        <p:nvSpPr>
          <p:cNvPr id="33" name="Shape 31"/>
          <p:cNvSpPr/>
          <p:nvPr/>
        </p:nvSpPr>
        <p:spPr>
          <a:xfrm>
            <a:off x="914400" y="402336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0" y="4023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417320" y="393192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予約管理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593592" y="3831336"/>
            <a:ext cx="2606040" cy="1005840"/>
          </a:xfrm>
          <a:prstGeom prst="roundRect">
            <a:avLst>
              <a:gd name="adj" fmla="val 16364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566160" y="3794760"/>
            <a:ext cx="2606040" cy="100584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/>
        </p:spPr>
      </p:sp>
      <p:sp>
        <p:nvSpPr>
          <p:cNvPr id="38" name="Shape 36"/>
          <p:cNvSpPr/>
          <p:nvPr/>
        </p:nvSpPr>
        <p:spPr>
          <a:xfrm>
            <a:off x="3749040" y="402336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/>
        </p:spPr>
      </p:sp>
      <p:sp>
        <p:nvSpPr>
          <p:cNvPr id="39" name="Text 37"/>
          <p:cNvSpPr/>
          <p:nvPr/>
        </p:nvSpPr>
        <p:spPr>
          <a:xfrm>
            <a:off x="3749040" y="4023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4251960" y="393192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チャット対応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428232" y="3831336"/>
            <a:ext cx="2606040" cy="1005840"/>
          </a:xfrm>
          <a:prstGeom prst="roundRect">
            <a:avLst>
              <a:gd name="adj" fmla="val 16364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400800" y="3794760"/>
            <a:ext cx="2606040" cy="100584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/>
        </p:spPr>
      </p:sp>
      <p:sp>
        <p:nvSpPr>
          <p:cNvPr id="43" name="Shape 41"/>
          <p:cNvSpPr/>
          <p:nvPr/>
        </p:nvSpPr>
        <p:spPr>
          <a:xfrm>
            <a:off x="6583680" y="402336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/>
        </p:spPr>
      </p:sp>
      <p:sp>
        <p:nvSpPr>
          <p:cNvPr id="44" name="Text 42"/>
          <p:cNvSpPr/>
          <p:nvPr/>
        </p:nvSpPr>
        <p:spPr>
          <a:xfrm>
            <a:off x="6583680" y="4023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086600" y="393192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アンケート配信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9262872" y="3831336"/>
            <a:ext cx="2606040" cy="1005840"/>
          </a:xfrm>
          <a:prstGeom prst="roundRect">
            <a:avLst>
              <a:gd name="adj" fmla="val 16364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9235440" y="3794760"/>
            <a:ext cx="2606040" cy="100584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/>
        </p:spPr>
      </p:sp>
      <p:sp>
        <p:nvSpPr>
          <p:cNvPr id="48" name="Shape 46"/>
          <p:cNvSpPr/>
          <p:nvPr/>
        </p:nvSpPr>
        <p:spPr>
          <a:xfrm>
            <a:off x="9418320" y="402336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/>
        </p:spPr>
      </p:sp>
      <p:sp>
        <p:nvSpPr>
          <p:cNvPr id="49" name="Text 47"/>
          <p:cNvSpPr/>
          <p:nvPr/>
        </p:nvSpPr>
        <p:spPr>
          <a:xfrm>
            <a:off x="9418320" y="4023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9921240" y="393192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クーポン発行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758952" y="5065776"/>
            <a:ext cx="2606040" cy="1005840"/>
          </a:xfrm>
          <a:prstGeom prst="roundRect">
            <a:avLst>
              <a:gd name="adj" fmla="val 16364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31520" y="5029200"/>
            <a:ext cx="2606040" cy="100584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/>
        </p:spPr>
      </p:sp>
      <p:sp>
        <p:nvSpPr>
          <p:cNvPr id="53" name="Shape 51"/>
          <p:cNvSpPr/>
          <p:nvPr/>
        </p:nvSpPr>
        <p:spPr>
          <a:xfrm>
            <a:off x="914400" y="525780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/>
        </p:spPr>
      </p:sp>
      <p:sp>
        <p:nvSpPr>
          <p:cNvPr id="54" name="Text 52"/>
          <p:cNvSpPr/>
          <p:nvPr/>
        </p:nvSpPr>
        <p:spPr>
          <a:xfrm>
            <a:off x="914400" y="5257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1417320" y="516636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ファイル管理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3593592" y="5065776"/>
            <a:ext cx="2606040" cy="1005840"/>
          </a:xfrm>
          <a:prstGeom prst="roundRect">
            <a:avLst>
              <a:gd name="adj" fmla="val 16364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3566160" y="5029200"/>
            <a:ext cx="2606040" cy="100584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/>
        </p:spPr>
      </p:sp>
      <p:sp>
        <p:nvSpPr>
          <p:cNvPr id="58" name="Shape 56"/>
          <p:cNvSpPr/>
          <p:nvPr/>
        </p:nvSpPr>
        <p:spPr>
          <a:xfrm>
            <a:off x="3749040" y="525780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/>
        </p:spPr>
      </p:sp>
      <p:sp>
        <p:nvSpPr>
          <p:cNvPr id="59" name="Text 57"/>
          <p:cNvSpPr/>
          <p:nvPr/>
        </p:nvSpPr>
        <p:spPr>
          <a:xfrm>
            <a:off x="3749040" y="5257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4251960" y="516636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アプリ画面プレビュー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6428232" y="5065776"/>
            <a:ext cx="2606040" cy="1005840"/>
          </a:xfrm>
          <a:prstGeom prst="roundRect">
            <a:avLst>
              <a:gd name="adj" fmla="val 16364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6400800" y="5029200"/>
            <a:ext cx="2606040" cy="100584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6583680" y="525780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/>
        </p:spPr>
      </p:sp>
      <p:sp>
        <p:nvSpPr>
          <p:cNvPr id="64" name="Text 62"/>
          <p:cNvSpPr/>
          <p:nvPr/>
        </p:nvSpPr>
        <p:spPr>
          <a:xfrm>
            <a:off x="6583680" y="5257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400" dirty="0"/>
          </a:p>
        </p:txBody>
      </p:sp>
      <p:sp>
        <p:nvSpPr>
          <p:cNvPr id="65" name="Text 63"/>
          <p:cNvSpPr/>
          <p:nvPr/>
        </p:nvSpPr>
        <p:spPr>
          <a:xfrm>
            <a:off x="7086600" y="516636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分析ダッシュボード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9262872" y="5065776"/>
            <a:ext cx="2606040" cy="1005840"/>
          </a:xfrm>
          <a:prstGeom prst="roundRect">
            <a:avLst>
              <a:gd name="adj" fmla="val 16364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9235440" y="5029200"/>
            <a:ext cx="2606040" cy="100584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/>
        </p:spPr>
      </p:sp>
      <p:sp>
        <p:nvSpPr>
          <p:cNvPr id="68" name="Shape 66"/>
          <p:cNvSpPr/>
          <p:nvPr/>
        </p:nvSpPr>
        <p:spPr>
          <a:xfrm>
            <a:off x="9418320" y="525780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/>
        </p:spPr>
      </p:sp>
      <p:sp>
        <p:nvSpPr>
          <p:cNvPr id="69" name="Text 67"/>
          <p:cNvSpPr/>
          <p:nvPr/>
        </p:nvSpPr>
        <p:spPr>
          <a:xfrm>
            <a:off x="9418320" y="5257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400" dirty="0"/>
          </a:p>
        </p:txBody>
      </p:sp>
      <p:sp>
        <p:nvSpPr>
          <p:cNvPr id="70" name="Text 68"/>
          <p:cNvSpPr/>
          <p:nvPr/>
        </p:nvSpPr>
        <p:spPr>
          <a:xfrm>
            <a:off x="9921240" y="516636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権限ロール設定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2563EB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8B5CF6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2563EB">
              <a:alpha val="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ALL-IN-ONE FEATURES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アプリ運用に必要な機能を、標準搭載。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758952" y="1773936"/>
            <a:ext cx="3520440" cy="2331720"/>
          </a:xfrm>
          <a:prstGeom prst="roundRect">
            <a:avLst>
              <a:gd name="adj" fmla="val 7059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" y="1737360"/>
            <a:ext cx="3520440" cy="233172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740664" y="1746504"/>
            <a:ext cx="350215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1965960"/>
            <a:ext cx="548640" cy="548640"/>
          </a:xfrm>
          <a:prstGeom prst="ellipse">
            <a:avLst/>
          </a:prstGeom>
          <a:solidFill>
            <a:srgbClr val="2563EB">
              <a:alpha val="12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19659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20" dirty="0">
                <a:solidFill>
                  <a:srgbClr val="000000"/>
                </a:solidFill>
              </a:rPr>
              <a:t>📢</a:t>
            </a:r>
            <a:endParaRPr lang="en-US" sz="1320" dirty="0"/>
          </a:p>
        </p:txBody>
      </p:sp>
      <p:sp>
        <p:nvSpPr>
          <p:cNvPr id="15" name="Text 13"/>
          <p:cNvSpPr/>
          <p:nvPr/>
        </p:nvSpPr>
        <p:spPr>
          <a:xfrm>
            <a:off x="1600200" y="20116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情報発信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256032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投稿 / 固定コンテンツ / プッシュ通知</a:t>
            </a:r>
            <a:endParaRPr lang="en-US" sz="105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ポップアップ / Webビュー / SNSリンク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53712" y="1773936"/>
            <a:ext cx="3520440" cy="2331720"/>
          </a:xfrm>
          <a:prstGeom prst="roundRect">
            <a:avLst>
              <a:gd name="adj" fmla="val 7059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4526280" y="1737360"/>
            <a:ext cx="3520440" cy="233172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4535424" y="1746504"/>
            <a:ext cx="3502152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Shape 18"/>
          <p:cNvSpPr/>
          <p:nvPr/>
        </p:nvSpPr>
        <p:spPr>
          <a:xfrm>
            <a:off x="4709160" y="1965960"/>
            <a:ext cx="548640" cy="54864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709160" y="19659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20" dirty="0">
                <a:solidFill>
                  <a:srgbClr val="000000"/>
                </a:solidFill>
              </a:rPr>
              <a:t>👥</a:t>
            </a:r>
            <a:endParaRPr lang="en-US" sz="1320" dirty="0"/>
          </a:p>
        </p:txBody>
      </p:sp>
      <p:sp>
        <p:nvSpPr>
          <p:cNvPr id="22" name="Text 20"/>
          <p:cNvSpPr/>
          <p:nvPr/>
        </p:nvSpPr>
        <p:spPr>
          <a:xfrm>
            <a:off x="5394960" y="20116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会員・ユーザー管理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00600" y="256032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会員管理 / ログイン</a:t>
            </a:r>
            <a:endParaRPr lang="en-US" sz="105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権限管理 / セグメント配信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348472" y="1773936"/>
            <a:ext cx="3520440" cy="2331720"/>
          </a:xfrm>
          <a:prstGeom prst="roundRect">
            <a:avLst>
              <a:gd name="adj" fmla="val 7059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8321040" y="1737360"/>
            <a:ext cx="3520440" cy="233172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8330184" y="1746504"/>
            <a:ext cx="3502152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7" name="Shape 25"/>
          <p:cNvSpPr/>
          <p:nvPr/>
        </p:nvSpPr>
        <p:spPr>
          <a:xfrm>
            <a:off x="8503920" y="1965960"/>
            <a:ext cx="548640" cy="548640"/>
          </a:xfrm>
          <a:prstGeom prst="ellipse">
            <a:avLst/>
          </a:prstGeom>
          <a:solidFill>
            <a:srgbClr val="10B981">
              <a:alpha val="12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8503920" y="19659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20" dirty="0">
                <a:solidFill>
                  <a:srgbClr val="000000"/>
                </a:solidFill>
              </a:rPr>
              <a:t>💬</a:t>
            </a:r>
            <a:endParaRPr lang="en-US" sz="1320" dirty="0"/>
          </a:p>
        </p:txBody>
      </p:sp>
      <p:sp>
        <p:nvSpPr>
          <p:cNvPr id="29" name="Text 27"/>
          <p:cNvSpPr/>
          <p:nvPr/>
        </p:nvSpPr>
        <p:spPr>
          <a:xfrm>
            <a:off x="9189720" y="20116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コミュニケーション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595360" y="256032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チャット / 問い合わせ</a:t>
            </a:r>
            <a:endParaRPr lang="en-US" sz="105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アンケート / スタンプ / クーポン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58952" y="4379976"/>
            <a:ext cx="3520440" cy="2331720"/>
          </a:xfrm>
          <a:prstGeom prst="roundRect">
            <a:avLst>
              <a:gd name="adj" fmla="val 7059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731520" y="4343400"/>
            <a:ext cx="3520440" cy="233172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</p:spPr>
      </p:sp>
      <p:sp>
        <p:nvSpPr>
          <p:cNvPr id="33" name="Shape 31"/>
          <p:cNvSpPr/>
          <p:nvPr/>
        </p:nvSpPr>
        <p:spPr>
          <a:xfrm>
            <a:off x="740664" y="4352544"/>
            <a:ext cx="3502152" cy="6400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4" name="Shape 32"/>
          <p:cNvSpPr/>
          <p:nvPr/>
        </p:nvSpPr>
        <p:spPr>
          <a:xfrm>
            <a:off x="914400" y="4572000"/>
            <a:ext cx="548640" cy="548640"/>
          </a:xfrm>
          <a:prstGeom prst="ellipse">
            <a:avLst/>
          </a:prstGeom>
          <a:solidFill>
            <a:srgbClr val="EA580C">
              <a:alpha val="12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914400" y="4572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20" dirty="0">
                <a:solidFill>
                  <a:srgbClr val="000000"/>
                </a:solidFill>
              </a:rPr>
              <a:t>📁</a:t>
            </a:r>
            <a:endParaRPr lang="en-US" sz="1320" dirty="0"/>
          </a:p>
        </p:txBody>
      </p:sp>
      <p:sp>
        <p:nvSpPr>
          <p:cNvPr id="36" name="Text 34"/>
          <p:cNvSpPr/>
          <p:nvPr/>
        </p:nvSpPr>
        <p:spPr>
          <a:xfrm>
            <a:off x="1600200" y="4617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コンテンツ管理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005840" y="516636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カタログ / フォトギャラリー</a:t>
            </a:r>
            <a:endParaRPr lang="en-US" sz="105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ムービー / ファイル管理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553712" y="4379976"/>
            <a:ext cx="3520440" cy="2331720"/>
          </a:xfrm>
          <a:prstGeom prst="roundRect">
            <a:avLst>
              <a:gd name="adj" fmla="val 7059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526280" y="4343400"/>
            <a:ext cx="3520440" cy="233172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4535424" y="4352544"/>
            <a:ext cx="3502152" cy="64008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1" name="Shape 39"/>
          <p:cNvSpPr/>
          <p:nvPr/>
        </p:nvSpPr>
        <p:spPr>
          <a:xfrm>
            <a:off x="4709160" y="4572000"/>
            <a:ext cx="548640" cy="548640"/>
          </a:xfrm>
          <a:prstGeom prst="ellipse">
            <a:avLst/>
          </a:prstGeom>
          <a:solidFill>
            <a:srgbClr val="0EA5E9">
              <a:alpha val="12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4709160" y="4572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20" dirty="0">
                <a:solidFill>
                  <a:srgbClr val="000000"/>
                </a:solidFill>
              </a:rPr>
              <a:t>📋</a:t>
            </a:r>
            <a:endParaRPr lang="en-US" sz="1320" dirty="0"/>
          </a:p>
        </p:txBody>
      </p:sp>
      <p:sp>
        <p:nvSpPr>
          <p:cNvPr id="43" name="Text 41"/>
          <p:cNvSpPr/>
          <p:nvPr/>
        </p:nvSpPr>
        <p:spPr>
          <a:xfrm>
            <a:off x="5394960" y="4617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業務支援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800600" y="516636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シンプル予約 / 予約機能</a:t>
            </a:r>
            <a:endParaRPr lang="en-US" sz="105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マップコンテンツ / 分析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8348472" y="4379976"/>
            <a:ext cx="3520440" cy="2331720"/>
          </a:xfrm>
          <a:prstGeom prst="roundRect">
            <a:avLst>
              <a:gd name="adj" fmla="val 7059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321040" y="4343400"/>
            <a:ext cx="3520440" cy="233172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</p:spPr>
      </p:sp>
      <p:sp>
        <p:nvSpPr>
          <p:cNvPr id="47" name="Shape 45"/>
          <p:cNvSpPr/>
          <p:nvPr/>
        </p:nvSpPr>
        <p:spPr>
          <a:xfrm>
            <a:off x="8330184" y="4352544"/>
            <a:ext cx="3502152" cy="6400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8" name="Shape 46"/>
          <p:cNvSpPr/>
          <p:nvPr/>
        </p:nvSpPr>
        <p:spPr>
          <a:xfrm>
            <a:off x="8503920" y="4572000"/>
            <a:ext cx="548640" cy="548640"/>
          </a:xfrm>
          <a:prstGeom prst="ellipse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49" name="Text 47"/>
          <p:cNvSpPr/>
          <p:nvPr/>
        </p:nvSpPr>
        <p:spPr>
          <a:xfrm>
            <a:off x="8503920" y="4572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20" dirty="0">
                <a:solidFill>
                  <a:srgbClr val="000000"/>
                </a:solidFill>
              </a:rPr>
              <a:t>🔌</a:t>
            </a:r>
            <a:endParaRPr lang="en-US" sz="1320" dirty="0"/>
          </a:p>
        </p:txBody>
      </p:sp>
      <p:sp>
        <p:nvSpPr>
          <p:cNvPr id="50" name="Text 48"/>
          <p:cNvSpPr/>
          <p:nvPr/>
        </p:nvSpPr>
        <p:spPr>
          <a:xfrm>
            <a:off x="9189720" y="4617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拡張機能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595360" y="516636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 / AI画像生成 / 有償アドオン</a:t>
            </a:r>
            <a:endParaRPr lang="en-US" sz="105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カスタム機能 / API連携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2563EB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8B5CF6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1700784" cy="292608"/>
          </a:xfrm>
          <a:prstGeom prst="roundRect">
            <a:avLst>
              <a:gd name="adj" fmla="val 50000"/>
            </a:avLst>
          </a:prstGeom>
          <a:solidFill>
            <a:srgbClr val="2563EB">
              <a:alpha val="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160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TWO MODES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初心者にも、プロにも。2つのモード。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758952" y="2048256"/>
            <a:ext cx="5257800" cy="3931920"/>
          </a:xfrm>
          <a:prstGeom prst="roundRect">
            <a:avLst>
              <a:gd name="adj" fmla="val 4186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" y="2011680"/>
            <a:ext cx="5257800" cy="393192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740664" y="2020824"/>
            <a:ext cx="523951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5840" y="2286000"/>
            <a:ext cx="1444752" cy="27432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2286000"/>
            <a:ext cx="14447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EASY MODE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05840" y="26974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かんたんモード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0584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事業者 / 店舗担当者 / 非エンジニア / 一般の方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005840" y="3749040"/>
            <a:ext cx="4663440" cy="502920"/>
          </a:xfrm>
          <a:prstGeom prst="roundRect">
            <a:avLst>
              <a:gd name="adj" fmla="val 32727"/>
            </a:avLst>
          </a:prstGeom>
          <a:solidFill>
            <a:srgbClr val="2563EB">
              <a:alpha val="10000"/>
            </a:srgbClr>
          </a:solidFill>
          <a:ln w="889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88720" y="3749040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テンプレートを選んで、ガイドに沿って入力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005840" y="4343400"/>
            <a:ext cx="4663440" cy="502920"/>
          </a:xfrm>
          <a:prstGeom prst="roundRect">
            <a:avLst>
              <a:gd name="adj" fmla="val 32727"/>
            </a:avLst>
          </a:prstGeom>
          <a:solidFill>
            <a:srgbClr val="2563EB">
              <a:alpha val="10000"/>
            </a:srgbClr>
          </a:solidFill>
          <a:ln w="8890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0" y="4343400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専門知識不要でアプリ制作・運用が可能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005840" y="4937760"/>
            <a:ext cx="4663440" cy="502920"/>
          </a:xfrm>
          <a:prstGeom prst="roundRect">
            <a:avLst>
              <a:gd name="adj" fmla="val 32727"/>
            </a:avLst>
          </a:prstGeom>
          <a:solidFill>
            <a:srgbClr val="2563EB">
              <a:alpha val="10000"/>
            </a:srgbClr>
          </a:solidFill>
          <a:ln w="889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0" y="4937760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リテラシーの壁を撤廃し、誰でも直感的に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45352" y="2048256"/>
            <a:ext cx="5257800" cy="3931920"/>
          </a:xfrm>
          <a:prstGeom prst="roundRect">
            <a:avLst>
              <a:gd name="adj" fmla="val 4186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6217920" y="2011680"/>
            <a:ext cx="5257800" cy="393192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227064" y="2020824"/>
            <a:ext cx="5239512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6" name="Shape 24"/>
          <p:cNvSpPr/>
          <p:nvPr/>
        </p:nvSpPr>
        <p:spPr>
          <a:xfrm>
            <a:off x="6492240" y="2286000"/>
            <a:ext cx="1335024" cy="27432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2286000"/>
            <a:ext cx="13350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PRO MODE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492240" y="26974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プロモード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49224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制作会社 / 開発会社 / デザイナー / 代理店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92240" y="3749040"/>
            <a:ext cx="4663440" cy="502920"/>
          </a:xfrm>
          <a:prstGeom prst="roundRect">
            <a:avLst>
              <a:gd name="adj" fmla="val 32727"/>
            </a:avLst>
          </a:prstGeom>
          <a:solidFill>
            <a:srgbClr val="8B5CF6">
              <a:alpha val="10000"/>
            </a:srgbClr>
          </a:solidFill>
          <a:ln w="8890">
            <a:solidFill>
              <a:srgbClr val="8B5CF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0" y="3749040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詳細な画面設計・カスタムCSS・コード差し込み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92240" y="4343400"/>
            <a:ext cx="4663440" cy="502920"/>
          </a:xfrm>
          <a:prstGeom prst="roundRect">
            <a:avLst>
              <a:gd name="adj" fmla="val 32727"/>
            </a:avLst>
          </a:prstGeom>
          <a:solidFill>
            <a:srgbClr val="8B5CF6">
              <a:alpha val="10000"/>
            </a:srgbClr>
          </a:solidFill>
          <a:ln w="8890">
            <a:solidFill>
              <a:srgbClr val="8B5CF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75120" y="4343400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テンプレート / コンポーネントの内製・販売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492240" y="4937760"/>
            <a:ext cx="4663440" cy="502920"/>
          </a:xfrm>
          <a:prstGeom prst="roundRect">
            <a:avLst>
              <a:gd name="adj" fmla="val 32727"/>
            </a:avLst>
          </a:prstGeom>
          <a:solidFill>
            <a:srgbClr val="8B5CF6">
              <a:alpha val="10000"/>
            </a:srgbClr>
          </a:solidFill>
          <a:ln w="8890">
            <a:solidFill>
              <a:srgbClr val="8B5CF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75120" y="4937760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クライアント案件に最適な自由度の高い編集環境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926080" y="6172200"/>
            <a:ext cx="6309360" cy="411480"/>
          </a:xfrm>
          <a:prstGeom prst="roundRect">
            <a:avLst>
              <a:gd name="adj" fmla="val 40000"/>
            </a:avLst>
          </a:prstGeom>
          <a:solidFill>
            <a:srgbClr val="8B5CF6">
              <a:alpha val="10000"/>
            </a:srgbClr>
          </a:solidFill>
          <a:ln w="8890">
            <a:solidFill>
              <a:srgbClr val="8B5CF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926080" y="6172200"/>
            <a:ext cx="6309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パートナーの皆さまは「プロモード」でビジネスを展開いただけます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4" name="Shape 2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0" y="4572000"/>
            <a:ext cx="4572000" cy="4572000"/>
          </a:xfrm>
          <a:prstGeom prst="ellipse">
            <a:avLst/>
          </a:prstGeom>
          <a:solidFill>
            <a:srgbClr val="A78BFA">
              <a:alpha val="6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315200" y="-914400"/>
            <a:ext cx="2743200" cy="2743200"/>
          </a:xfrm>
          <a:prstGeom prst="ellipse">
            <a:avLst/>
          </a:prstGeom>
          <a:solidFill>
            <a:srgbClr val="3B82F6">
              <a:alpha val="4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31520" y="411480"/>
            <a:ext cx="2468880" cy="292608"/>
          </a:xfrm>
          <a:prstGeom prst="roundRect">
            <a:avLst>
              <a:gd name="adj" fmla="val 50000"/>
            </a:avLst>
          </a:prstGeom>
          <a:solidFill>
            <a:srgbClr val="3B82F6">
              <a:alpha val="8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41148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3B82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PARTNER PROGRAM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MS Studio上で、</a:t>
            </a:r>
            <a:endParaRPr lang="en-US" sz="2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アプリビジネスを始める。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31520" y="1600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5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制作会社、開発会社、デザイン会社、個人クリエイター、代理店は、</a:t>
            </a:r>
            <a:endParaRPr lang="en-US" sz="1200" dirty="0"/>
          </a:p>
          <a:p>
            <a:pPr indent="0" marL="0">
              <a:lnSpc>
                <a:spcPct val="175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MS Studioを活用してアプリ制作サービスを展開できます。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49808" y="3044952"/>
            <a:ext cx="5349240" cy="914400"/>
          </a:xfrm>
          <a:prstGeom prst="roundRect">
            <a:avLst>
              <a:gd name="adj" fmla="val 18000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0" y="3017520"/>
            <a:ext cx="5349240" cy="914400"/>
          </a:xfrm>
          <a:prstGeom prst="roundRect">
            <a:avLst>
              <a:gd name="adj" fmla="val 18000"/>
            </a:avLst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200400"/>
            <a:ext cx="502920" cy="502920"/>
          </a:xfrm>
          <a:prstGeom prst="roundRect">
            <a:avLst>
              <a:gd name="adj" fmla="val 25455"/>
            </a:avLst>
          </a:prstGeom>
          <a:solidFill>
            <a:srgbClr val="2563EB">
              <a:alpha val="1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200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🛠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554480" y="3017520"/>
            <a:ext cx="4297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自社クライアント向けにアプリ制作ができる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73368" y="3044952"/>
            <a:ext cx="5349240" cy="914400"/>
          </a:xfrm>
          <a:prstGeom prst="roundRect">
            <a:avLst>
              <a:gd name="adj" fmla="val 18000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355080" y="3017520"/>
            <a:ext cx="5349240" cy="914400"/>
          </a:xfrm>
          <a:prstGeom prst="roundRect">
            <a:avLst>
              <a:gd name="adj" fmla="val 18000"/>
            </a:avLst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37960" y="3200400"/>
            <a:ext cx="502920" cy="502920"/>
          </a:xfrm>
          <a:prstGeom prst="roundRect">
            <a:avLst>
              <a:gd name="adj" fmla="val 25455"/>
            </a:avLst>
          </a:prstGeom>
          <a:solidFill>
            <a:srgbClr val="2563EB">
              <a:alpha val="15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6537960" y="3200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💰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178040" y="3017520"/>
            <a:ext cx="4297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ライセンス利用料のレベニューシェアを受けられる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49808" y="4142232"/>
            <a:ext cx="5349240" cy="914400"/>
          </a:xfrm>
          <a:prstGeom prst="roundRect">
            <a:avLst>
              <a:gd name="adj" fmla="val 18000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31520" y="4114800"/>
            <a:ext cx="5349240" cy="914400"/>
          </a:xfrm>
          <a:prstGeom prst="roundRect">
            <a:avLst>
              <a:gd name="adj" fmla="val 18000"/>
            </a:avLst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400" y="4297680"/>
            <a:ext cx="502920" cy="502920"/>
          </a:xfrm>
          <a:prstGeom prst="roundRect">
            <a:avLst>
              <a:gd name="adj" fmla="val 25455"/>
            </a:avLst>
          </a:prstGeom>
          <a:solidFill>
            <a:srgbClr val="2563EB">
              <a:alpha val="1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4297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554480" y="4114800"/>
            <a:ext cx="4297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テンプレートやコンポーネントを販売できる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73368" y="4142232"/>
            <a:ext cx="5349240" cy="914400"/>
          </a:xfrm>
          <a:prstGeom prst="roundRect">
            <a:avLst>
              <a:gd name="adj" fmla="val 18000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6355080" y="4114800"/>
            <a:ext cx="5349240" cy="914400"/>
          </a:xfrm>
          <a:prstGeom prst="roundRect">
            <a:avLst>
              <a:gd name="adj" fmla="val 18000"/>
            </a:avLst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537960" y="4297680"/>
            <a:ext cx="502920" cy="502920"/>
          </a:xfrm>
          <a:prstGeom prst="roundRect">
            <a:avLst>
              <a:gd name="adj" fmla="val 25455"/>
            </a:avLst>
          </a:prstGeom>
          <a:solidFill>
            <a:srgbClr val="2563EB">
              <a:alpha val="15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6537960" y="4297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📈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178040" y="4114800"/>
            <a:ext cx="4297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パートナーランクに応じて還元率が上がる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49808" y="5239512"/>
            <a:ext cx="5349240" cy="914400"/>
          </a:xfrm>
          <a:prstGeom prst="roundRect">
            <a:avLst>
              <a:gd name="adj" fmla="val 18000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731520" y="5212080"/>
            <a:ext cx="5349240" cy="914400"/>
          </a:xfrm>
          <a:prstGeom prst="roundRect">
            <a:avLst>
              <a:gd name="adj" fmla="val 18000"/>
            </a:avLst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14400" y="5394960"/>
            <a:ext cx="502920" cy="502920"/>
          </a:xfrm>
          <a:prstGeom prst="roundRect">
            <a:avLst>
              <a:gd name="adj" fmla="val 25455"/>
            </a:avLst>
          </a:prstGeom>
          <a:solidFill>
            <a:srgbClr val="2563EB">
              <a:alpha val="15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914400" y="5394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🌐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554480" y="5212080"/>
            <a:ext cx="4297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エムスタ経済圏内で認知・信用力を獲得できる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373368" y="5239512"/>
            <a:ext cx="5349240" cy="914400"/>
          </a:xfrm>
          <a:prstGeom prst="roundRect">
            <a:avLst>
              <a:gd name="adj" fmla="val 18000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355080" y="5212080"/>
            <a:ext cx="5349240" cy="914400"/>
          </a:xfrm>
          <a:prstGeom prst="roundRect">
            <a:avLst>
              <a:gd name="adj" fmla="val 18000"/>
            </a:avLst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537960" y="5394960"/>
            <a:ext cx="502920" cy="502920"/>
          </a:xfrm>
          <a:prstGeom prst="roundRect">
            <a:avLst>
              <a:gd name="adj" fmla="val 25455"/>
            </a:avLst>
          </a:prstGeom>
          <a:solidFill>
            <a:srgbClr val="2563EB">
              <a:alpha val="15000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6537960" y="5394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🤖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7178040" y="5212080"/>
            <a:ext cx="4297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AI時代の新しい制作ビジネス環境として活用できる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2563EB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8B5CF6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2212848" cy="292608"/>
          </a:xfrm>
          <a:prstGeom prst="roundRect">
            <a:avLst>
              <a:gd name="adj" fmla="val 50000"/>
            </a:avLst>
          </a:prstGeom>
          <a:solidFill>
            <a:srgbClr val="2563EB">
              <a:alpha val="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21214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PARTNER TYPES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3つのパートナー種別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758952" y="1956816"/>
            <a:ext cx="3520440" cy="4572000"/>
          </a:xfrm>
          <a:prstGeom prst="roundRect">
            <a:avLst>
              <a:gd name="adj" fmla="val 4675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" y="1920240"/>
            <a:ext cx="3520440" cy="457200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740664" y="1929384"/>
            <a:ext cx="350215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3" name="Shape 11"/>
          <p:cNvSpPr/>
          <p:nvPr/>
        </p:nvSpPr>
        <p:spPr>
          <a:xfrm>
            <a:off x="2057400" y="2194560"/>
            <a:ext cx="868680" cy="868680"/>
          </a:xfrm>
          <a:prstGeom prst="ellipse">
            <a:avLst/>
          </a:prstGeom>
          <a:solidFill>
            <a:srgbClr val="2563EB">
              <a:alpha val="12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2057400" y="219456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90" dirty="0">
                <a:solidFill>
                  <a:srgbClr val="000000"/>
                </a:solidFill>
              </a:rPr>
              <a:t>🛠</a:t>
            </a:r>
            <a:endParaRPr lang="en-US" sz="2090" dirty="0"/>
          </a:p>
        </p:txBody>
      </p:sp>
      <p:sp>
        <p:nvSpPr>
          <p:cNvPr id="15" name="Text 13"/>
          <p:cNvSpPr/>
          <p:nvPr/>
        </p:nvSpPr>
        <p:spPr>
          <a:xfrm>
            <a:off x="1005840" y="32004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制作パートナー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05840" y="3611880"/>
            <a:ext cx="2971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制作会社 / 開発会社 / デザイナー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463040" y="3931920"/>
            <a:ext cx="205740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1051560" y="4023360"/>
            <a:ext cx="2880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プロモードでクライアント向けアプリを制作。自社メニューに「アプリ制作」を追加。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0120" y="4754880"/>
            <a:ext cx="3063240" cy="411480"/>
          </a:xfrm>
          <a:prstGeom prst="roundRect">
            <a:avLst>
              <a:gd name="adj" fmla="val 40000"/>
            </a:avLst>
          </a:prstGeom>
          <a:solidFill>
            <a:srgbClr val="2563EB">
              <a:alpha val="10000"/>
            </a:srgbClr>
          </a:solidFill>
          <a:ln w="8890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4754880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自社クライアント向けにアプリ制作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960120" y="5257800"/>
            <a:ext cx="3063240" cy="411480"/>
          </a:xfrm>
          <a:prstGeom prst="roundRect">
            <a:avLst>
              <a:gd name="adj" fmla="val 40000"/>
            </a:avLst>
          </a:prstGeom>
          <a:solidFill>
            <a:srgbClr val="2563EB">
              <a:alpha val="10000"/>
            </a:srgbClr>
          </a:solidFill>
          <a:ln w="889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5257800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プロモードで自由度の高い設計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960120" y="5760720"/>
            <a:ext cx="3063240" cy="411480"/>
          </a:xfrm>
          <a:prstGeom prst="roundRect">
            <a:avLst>
              <a:gd name="adj" fmla="val 40000"/>
            </a:avLst>
          </a:prstGeom>
          <a:solidFill>
            <a:srgbClr val="2563EB">
              <a:alpha val="10000"/>
            </a:srgbClr>
          </a:solidFill>
          <a:ln w="889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97280" y="5760720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完成後はクライアントがCMSで自走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53712" y="1956816"/>
            <a:ext cx="3520440" cy="4572000"/>
          </a:xfrm>
          <a:prstGeom prst="roundRect">
            <a:avLst>
              <a:gd name="adj" fmla="val 4675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526280" y="1920240"/>
            <a:ext cx="3520440" cy="457200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4535424" y="1929384"/>
            <a:ext cx="3502152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Shape 26"/>
          <p:cNvSpPr/>
          <p:nvPr/>
        </p:nvSpPr>
        <p:spPr>
          <a:xfrm>
            <a:off x="5852160" y="2194560"/>
            <a:ext cx="868680" cy="86868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5852160" y="219456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90" dirty="0">
                <a:solidFill>
                  <a:srgbClr val="000000"/>
                </a:solidFill>
              </a:rPr>
              <a:t>🤝</a:t>
            </a:r>
            <a:endParaRPr lang="en-US" sz="2090" dirty="0"/>
          </a:p>
        </p:txBody>
      </p:sp>
      <p:sp>
        <p:nvSpPr>
          <p:cNvPr id="30" name="Text 28"/>
          <p:cNvSpPr/>
          <p:nvPr/>
        </p:nvSpPr>
        <p:spPr>
          <a:xfrm>
            <a:off x="4800600" y="32004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紹介パートナー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800600" y="3611880"/>
            <a:ext cx="2971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広告代理店 / 営業会社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257800" y="3931920"/>
            <a:ext cx="205740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3" name="Text 31"/>
          <p:cNvSpPr/>
          <p:nvPr/>
        </p:nvSpPr>
        <p:spPr>
          <a:xfrm>
            <a:off x="4846320" y="4023360"/>
            <a:ext cx="2880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紹介・販売・アフィリエイトプログラムとして参加。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754880" y="4754880"/>
            <a:ext cx="3063240" cy="411480"/>
          </a:xfrm>
          <a:prstGeom prst="roundRect">
            <a:avLst>
              <a:gd name="adj" fmla="val 40000"/>
            </a:avLst>
          </a:prstGeom>
          <a:solidFill>
            <a:srgbClr val="8B5CF6">
              <a:alpha val="10000"/>
            </a:srgbClr>
          </a:solidFill>
          <a:ln w="8890">
            <a:solidFill>
              <a:srgbClr val="8B5CF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92040" y="4754880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紹介経由のアカウントから継続収益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754880" y="5257800"/>
            <a:ext cx="3063240" cy="411480"/>
          </a:xfrm>
          <a:prstGeom prst="roundRect">
            <a:avLst>
              <a:gd name="adj" fmla="val 40000"/>
            </a:avLst>
          </a:prstGeom>
          <a:solidFill>
            <a:srgbClr val="8B5CF6">
              <a:alpha val="10000"/>
            </a:srgbClr>
          </a:solidFill>
          <a:ln w="8890">
            <a:solidFill>
              <a:srgbClr val="8B5CF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92040" y="5257800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代理店としてレベニューシェア獲得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754880" y="5760720"/>
            <a:ext cx="3063240" cy="411480"/>
          </a:xfrm>
          <a:prstGeom prst="roundRect">
            <a:avLst>
              <a:gd name="adj" fmla="val 40000"/>
            </a:avLst>
          </a:prstGeom>
          <a:solidFill>
            <a:srgbClr val="8B5CF6">
              <a:alpha val="10000"/>
            </a:srgbClr>
          </a:solidFill>
          <a:ln w="8890">
            <a:solidFill>
              <a:srgbClr val="8B5CF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92040" y="5760720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アフィリエイト経由の獲得も対応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8348472" y="1956816"/>
            <a:ext cx="3520440" cy="4572000"/>
          </a:xfrm>
          <a:prstGeom prst="roundRect">
            <a:avLst>
              <a:gd name="adj" fmla="val 4675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8321040" y="1920240"/>
            <a:ext cx="3520440" cy="457200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8330184" y="1929384"/>
            <a:ext cx="3502152" cy="6400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3" name="Shape 41"/>
          <p:cNvSpPr/>
          <p:nvPr/>
        </p:nvSpPr>
        <p:spPr>
          <a:xfrm>
            <a:off x="9646920" y="2194560"/>
            <a:ext cx="868680" cy="868680"/>
          </a:xfrm>
          <a:prstGeom prst="ellipse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9646920" y="219456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90" dirty="0">
                <a:solidFill>
                  <a:srgbClr val="000000"/>
                </a:solidFill>
              </a:rPr>
              <a:t>🎨</a:t>
            </a:r>
            <a:endParaRPr lang="en-US" sz="2090" dirty="0"/>
          </a:p>
        </p:txBody>
      </p:sp>
      <p:sp>
        <p:nvSpPr>
          <p:cNvPr id="45" name="Text 43"/>
          <p:cNvSpPr/>
          <p:nvPr/>
        </p:nvSpPr>
        <p:spPr>
          <a:xfrm>
            <a:off x="8595360" y="32004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テンプレート販売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8595360" y="3611880"/>
            <a:ext cx="2971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デザイナー / クリエイター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9052560" y="3931920"/>
            <a:ext cx="205740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8" name="Text 46"/>
          <p:cNvSpPr/>
          <p:nvPr/>
        </p:nvSpPr>
        <p:spPr>
          <a:xfrm>
            <a:off x="8641080" y="4023360"/>
            <a:ext cx="2880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デザインパッケージ、コンポーネント、コンテンツの型を販売。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549640" y="4754880"/>
            <a:ext cx="3063240" cy="411480"/>
          </a:xfrm>
          <a:prstGeom prst="roundRect">
            <a:avLst>
              <a:gd name="adj" fmla="val 40000"/>
            </a:avLst>
          </a:prstGeom>
          <a:solidFill>
            <a:srgbClr val="0F172A">
              <a:alpha val="10000"/>
            </a:srgbClr>
          </a:solidFill>
          <a:ln w="8890">
            <a:solidFill>
              <a:srgbClr val="0F172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686800" y="4754880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テンプレート / コンポーネント販売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8549640" y="5257800"/>
            <a:ext cx="3063240" cy="411480"/>
          </a:xfrm>
          <a:prstGeom prst="roundRect">
            <a:avLst>
              <a:gd name="adj" fmla="val 40000"/>
            </a:avLst>
          </a:prstGeom>
          <a:solidFill>
            <a:srgbClr val="0F172A">
              <a:alpha val="10000"/>
            </a:srgbClr>
          </a:solidFill>
          <a:ln w="8890">
            <a:solidFill>
              <a:srgbClr val="0F172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686800" y="5257800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業界特化テンプレートも展開可能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549640" y="5760720"/>
            <a:ext cx="3063240" cy="411480"/>
          </a:xfrm>
          <a:prstGeom prst="roundRect">
            <a:avLst>
              <a:gd name="adj" fmla="val 40000"/>
            </a:avLst>
          </a:prstGeom>
          <a:solidFill>
            <a:srgbClr val="0F172A">
              <a:alpha val="10000"/>
            </a:srgbClr>
          </a:solidFill>
          <a:ln w="8890">
            <a:solidFill>
              <a:srgbClr val="0F172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686800" y="5760720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マーケットプレイス上での流通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6400800" cy="640080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0" y="-914400"/>
            <a:ext cx="2743200" cy="2743200"/>
          </a:xfrm>
          <a:prstGeom prst="ellipse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31520" y="411480"/>
            <a:ext cx="2212848" cy="292608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411480"/>
            <a:ext cx="21214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REVENUE MODEL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なぜ「ストック収益」が重要なのか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758952" y="2139696"/>
            <a:ext cx="5257800" cy="4206240"/>
          </a:xfrm>
          <a:prstGeom prst="roundRect">
            <a:avLst>
              <a:gd name="adj" fmla="val 3913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2103120"/>
            <a:ext cx="5257800" cy="420624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1005840" y="23317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23317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従来モデル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05840" y="27432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フロー型（売り切り）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188720" y="3337560"/>
            <a:ext cx="822960" cy="365760"/>
          </a:xfrm>
          <a:prstGeom prst="roundRect">
            <a:avLst>
              <a:gd name="adj" fmla="val 25000"/>
            </a:avLst>
          </a:prstGeom>
          <a:solidFill>
            <a:srgbClr val="F1F5F9"/>
          </a:solidFill>
          <a:ln/>
        </p:spPr>
      </p:sp>
      <p:sp>
        <p:nvSpPr>
          <p:cNvPr id="15" name="Text 13"/>
          <p:cNvSpPr/>
          <p:nvPr/>
        </p:nvSpPr>
        <p:spPr>
          <a:xfrm>
            <a:off x="1188720" y="333756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65960" y="333756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→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286000" y="3337560"/>
            <a:ext cx="822960" cy="365760"/>
          </a:xfrm>
          <a:prstGeom prst="roundRect">
            <a:avLst>
              <a:gd name="adj" fmla="val 25000"/>
            </a:avLst>
          </a:prstGeom>
          <a:solidFill>
            <a:srgbClr val="F1F5F9"/>
          </a:solidFill>
          <a:ln/>
        </p:spPr>
      </p:sp>
      <p:sp>
        <p:nvSpPr>
          <p:cNvPr id="18" name="Text 16"/>
          <p:cNvSpPr/>
          <p:nvPr/>
        </p:nvSpPr>
        <p:spPr>
          <a:xfrm>
            <a:off x="2286000" y="333756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63240" y="333756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→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383280" y="3337560"/>
            <a:ext cx="822960" cy="365760"/>
          </a:xfrm>
          <a:prstGeom prst="roundRect">
            <a:avLst>
              <a:gd name="adj" fmla="val 25000"/>
            </a:avLst>
          </a:prstGeom>
          <a:solidFill>
            <a:srgbClr val="F1F5F9"/>
          </a:solidFill>
          <a:ln/>
        </p:spPr>
      </p:sp>
      <p:sp>
        <p:nvSpPr>
          <p:cNvPr id="21" name="Text 19"/>
          <p:cNvSpPr/>
          <p:nvPr/>
        </p:nvSpPr>
        <p:spPr>
          <a:xfrm>
            <a:off x="3383280" y="333756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納品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160520" y="333756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→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480560" y="3337560"/>
            <a:ext cx="822960" cy="365760"/>
          </a:xfrm>
          <a:prstGeom prst="roundRect">
            <a:avLst>
              <a:gd name="adj" fmla="val 25000"/>
            </a:avLst>
          </a:prstGeom>
          <a:solidFill>
            <a:srgbClr val="F1F5F9"/>
          </a:solidFill>
          <a:ln/>
        </p:spPr>
      </p:sp>
      <p:sp>
        <p:nvSpPr>
          <p:cNvPr id="24" name="Text 22"/>
          <p:cNvSpPr/>
          <p:nvPr/>
        </p:nvSpPr>
        <p:spPr>
          <a:xfrm>
            <a:off x="4480560" y="333756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終了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88720" y="3977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3F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✗  案件が途切れると売上がゼロ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188720" y="44348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3F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✗  毎月ゼロからの営業が必要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188720" y="48920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3F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✗  運用フェーズの収益機会を逃す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45352" y="2139696"/>
            <a:ext cx="5257800" cy="4206240"/>
          </a:xfrm>
          <a:prstGeom prst="roundRect">
            <a:avLst>
              <a:gd name="adj" fmla="val 3913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217920" y="2103120"/>
            <a:ext cx="5257800" cy="420624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6492240" y="2331720"/>
            <a:ext cx="1883664" cy="27432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31" name="Text 29"/>
          <p:cNvSpPr/>
          <p:nvPr/>
        </p:nvSpPr>
        <p:spPr>
          <a:xfrm>
            <a:off x="6492240" y="2331720"/>
            <a:ext cx="1883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MS STUDIO モデル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492240" y="27432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フロー + ストックの二段構え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92240" y="3291840"/>
            <a:ext cx="4663440" cy="548640"/>
          </a:xfrm>
          <a:prstGeom prst="roundRect">
            <a:avLst>
              <a:gd name="adj" fmla="val 30000"/>
            </a:avLst>
          </a:prstGeom>
          <a:solidFill>
            <a:srgbClr val="0F172A">
              <a:alpha val="10000"/>
            </a:srgbClr>
          </a:solidFill>
          <a:ln w="8890">
            <a:solidFill>
              <a:srgbClr val="0F17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75120" y="329184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制作費（フロー収入）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492240" y="3977640"/>
            <a:ext cx="4663440" cy="548640"/>
          </a:xfrm>
          <a:prstGeom prst="roundRect">
            <a:avLst>
              <a:gd name="adj" fmla="val 30000"/>
            </a:avLst>
          </a:prstGeom>
          <a:solidFill>
            <a:srgbClr val="2563EB">
              <a:alpha val="10000"/>
            </a:srgbClr>
          </a:solidFill>
          <a:ln w="8890">
            <a:solidFill>
              <a:srgbClr val="2563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75120" y="379476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675120" y="397764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月額レベニューシェア（ストック収入）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492240" y="4663440"/>
            <a:ext cx="4663440" cy="548640"/>
          </a:xfrm>
          <a:prstGeom prst="roundRect">
            <a:avLst>
              <a:gd name="adj" fmla="val 30000"/>
            </a:avLst>
          </a:prstGeom>
          <a:solidFill>
            <a:srgbClr val="8B5CF6">
              <a:alpha val="10000"/>
            </a:srgbClr>
          </a:solidFill>
          <a:ln w="8890">
            <a:solidFill>
              <a:srgbClr val="8B5CF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75120" y="448056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675120" y="466344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テンプレート販売（販売収入）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92240" y="5349240"/>
            <a:ext cx="4663440" cy="731520"/>
          </a:xfrm>
          <a:prstGeom prst="roundRect">
            <a:avLst>
              <a:gd name="adj" fmla="val 15000"/>
            </a:avLst>
          </a:prstGeom>
          <a:solidFill>
            <a:srgbClr val="DBEAFE"/>
          </a:solidFill>
          <a:ln/>
        </p:spPr>
      </p:sp>
      <p:sp>
        <p:nvSpPr>
          <p:cNvPr id="42" name="Text 40"/>
          <p:cNvSpPr/>
          <p:nvPr/>
        </p:nvSpPr>
        <p:spPr>
          <a:xfrm>
            <a:off x="6492240" y="534924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1E40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案件を納品するたびに、</a:t>
            </a:r>
            <a:endParaRPr lang="en-US" sz="11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1E40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毎月の収益基盤が積み上がる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4" name="Shape 2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0" y="4572000"/>
            <a:ext cx="4572000" cy="4572000"/>
          </a:xfrm>
          <a:prstGeom prst="ellipse">
            <a:avLst/>
          </a:prstGeom>
          <a:solidFill>
            <a:srgbClr val="A78BFA">
              <a:alpha val="6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315200" y="-914400"/>
            <a:ext cx="2743200" cy="2743200"/>
          </a:xfrm>
          <a:prstGeom prst="ellipse">
            <a:avLst/>
          </a:prstGeom>
          <a:solidFill>
            <a:srgbClr val="3B82F6">
              <a:alpha val="4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31520" y="411480"/>
            <a:ext cx="2212848" cy="292608"/>
          </a:xfrm>
          <a:prstGeom prst="roundRect">
            <a:avLst>
              <a:gd name="adj" fmla="val 50000"/>
            </a:avLst>
          </a:prstGeom>
          <a:solidFill>
            <a:srgbClr val="3B82F6">
              <a:alpha val="8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411480"/>
            <a:ext cx="21214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3B82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REVENUE SHARE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レベニューシェア ランク制度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31520" y="1600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5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公開アプリ数や貢献度に応じてランクと還元率が自動向上。やればやるほど、還元率が上がります。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3044952"/>
            <a:ext cx="2057400" cy="2926080"/>
          </a:xfrm>
          <a:prstGeom prst="roundRect">
            <a:avLst>
              <a:gd name="adj" fmla="val 8000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3017520"/>
            <a:ext cx="2057400" cy="29260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7784" y="3026664"/>
            <a:ext cx="2039112" cy="54864"/>
          </a:xfrm>
          <a:prstGeom prst="rect">
            <a:avLst/>
          </a:prstGeom>
          <a:solidFill>
            <a:srgbClr val="92400E"/>
          </a:solidFill>
          <a:ln/>
        </p:spPr>
      </p:sp>
      <p:sp>
        <p:nvSpPr>
          <p:cNvPr id="15" name="Shape 13"/>
          <p:cNvSpPr/>
          <p:nvPr/>
        </p:nvSpPr>
        <p:spPr>
          <a:xfrm>
            <a:off x="1234440" y="3337560"/>
            <a:ext cx="685800" cy="685800"/>
          </a:xfrm>
          <a:prstGeom prst="ellipse">
            <a:avLst/>
          </a:prstGeom>
          <a:solidFill>
            <a:srgbClr val="92400E">
              <a:alpha val="15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1234440" y="333756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2400E"/>
                </a:solidFill>
              </a:rPr>
              <a:t>★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48640" y="411480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Bronze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448056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2400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15%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548640" y="516636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還元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468880" y="4434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2898648" y="3044952"/>
            <a:ext cx="2057400" cy="2926080"/>
          </a:xfrm>
          <a:prstGeom prst="roundRect">
            <a:avLst>
              <a:gd name="adj" fmla="val 8000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880360" y="3017520"/>
            <a:ext cx="2057400" cy="29260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89504" y="3026664"/>
            <a:ext cx="2039112" cy="54864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4" name="Shape 22"/>
          <p:cNvSpPr/>
          <p:nvPr/>
        </p:nvSpPr>
        <p:spPr>
          <a:xfrm>
            <a:off x="3566160" y="3337560"/>
            <a:ext cx="685800" cy="685800"/>
          </a:xfrm>
          <a:prstGeom prst="ellipse">
            <a:avLst/>
          </a:prstGeom>
          <a:solidFill>
            <a:srgbClr val="64748B">
              <a:alpha val="1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3566160" y="333756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4748B"/>
                </a:solidFill>
              </a:rPr>
              <a:t>★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2880360" y="411480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Silver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880360" y="448056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20%</a:t>
            </a:r>
            <a:endParaRPr lang="en-US" sz="3600" dirty="0"/>
          </a:p>
        </p:txBody>
      </p:sp>
      <p:sp>
        <p:nvSpPr>
          <p:cNvPr id="28" name="Text 26"/>
          <p:cNvSpPr/>
          <p:nvPr/>
        </p:nvSpPr>
        <p:spPr>
          <a:xfrm>
            <a:off x="2880360" y="516636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還元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00600" y="4434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→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5230368" y="3044952"/>
            <a:ext cx="2057400" cy="2926080"/>
          </a:xfrm>
          <a:prstGeom prst="roundRect">
            <a:avLst>
              <a:gd name="adj" fmla="val 8000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212080" y="3017520"/>
            <a:ext cx="2057400" cy="29260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21224" y="3026664"/>
            <a:ext cx="2039112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3" name="Shape 31"/>
          <p:cNvSpPr/>
          <p:nvPr/>
        </p:nvSpPr>
        <p:spPr>
          <a:xfrm>
            <a:off x="5897880" y="3337560"/>
            <a:ext cx="685800" cy="685800"/>
          </a:xfrm>
          <a:prstGeom prst="ellipse">
            <a:avLst/>
          </a:prstGeom>
          <a:solidFill>
            <a:srgbClr val="F59E0B">
              <a:alpha val="15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5897880" y="333756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59E0B"/>
                </a:solidFill>
              </a:rPr>
              <a:t>★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5212080" y="411480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Gold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212080" y="448056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25%</a:t>
            </a:r>
            <a:endParaRPr lang="en-US" sz="3600" dirty="0"/>
          </a:p>
        </p:txBody>
      </p:sp>
      <p:sp>
        <p:nvSpPr>
          <p:cNvPr id="37" name="Text 35"/>
          <p:cNvSpPr/>
          <p:nvPr/>
        </p:nvSpPr>
        <p:spPr>
          <a:xfrm>
            <a:off x="5212080" y="516636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還元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132320" y="4434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→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7562088" y="3044952"/>
            <a:ext cx="2057400" cy="2926080"/>
          </a:xfrm>
          <a:prstGeom prst="roundRect">
            <a:avLst>
              <a:gd name="adj" fmla="val 8000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7543800" y="3017520"/>
            <a:ext cx="2057400" cy="29260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52944" y="3026664"/>
            <a:ext cx="203911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2" name="Shape 40"/>
          <p:cNvSpPr/>
          <p:nvPr/>
        </p:nvSpPr>
        <p:spPr>
          <a:xfrm>
            <a:off x="8229600" y="3337560"/>
            <a:ext cx="685800" cy="685800"/>
          </a:xfrm>
          <a:prstGeom prst="ellipse">
            <a:avLst/>
          </a:prstGeom>
          <a:solidFill>
            <a:srgbClr val="0EA5E9">
              <a:alpha val="15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8229600" y="333756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EA5E9"/>
                </a:solidFill>
              </a:rPr>
              <a:t>★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7543800" y="411480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Platinum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543800" y="448056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30%</a:t>
            </a:r>
            <a:endParaRPr lang="en-US" sz="3600" dirty="0"/>
          </a:p>
        </p:txBody>
      </p:sp>
      <p:sp>
        <p:nvSpPr>
          <p:cNvPr id="46" name="Text 44"/>
          <p:cNvSpPr/>
          <p:nvPr/>
        </p:nvSpPr>
        <p:spPr>
          <a:xfrm>
            <a:off x="7543800" y="516636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還元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9464040" y="4434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→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9893808" y="3044952"/>
            <a:ext cx="2057400" cy="2926080"/>
          </a:xfrm>
          <a:prstGeom prst="roundRect">
            <a:avLst>
              <a:gd name="adj" fmla="val 8000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9875520" y="3017520"/>
            <a:ext cx="2057400" cy="29260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884664" y="3026664"/>
            <a:ext cx="2039112" cy="5486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51" name="Shape 49"/>
          <p:cNvSpPr/>
          <p:nvPr/>
        </p:nvSpPr>
        <p:spPr>
          <a:xfrm>
            <a:off x="10561320" y="3337560"/>
            <a:ext cx="685800" cy="685800"/>
          </a:xfrm>
          <a:prstGeom prst="ellipse">
            <a:avLst/>
          </a:prstGeom>
          <a:solidFill>
            <a:srgbClr val="A855F7">
              <a:alpha val="15000"/>
            </a:srgbClr>
          </a:solidFill>
          <a:ln/>
        </p:spPr>
      </p:sp>
      <p:sp>
        <p:nvSpPr>
          <p:cNvPr id="52" name="Text 50"/>
          <p:cNvSpPr/>
          <p:nvPr/>
        </p:nvSpPr>
        <p:spPr>
          <a:xfrm>
            <a:off x="10561320" y="333756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855F7"/>
                </a:solidFill>
              </a:rPr>
              <a:t>★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9875520" y="411480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Legend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9875520" y="448056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855F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35%</a:t>
            </a:r>
            <a:endParaRPr lang="en-US" sz="3600" dirty="0"/>
          </a:p>
        </p:txBody>
      </p:sp>
      <p:sp>
        <p:nvSpPr>
          <p:cNvPr id="55" name="Text 53"/>
          <p:cNvSpPr/>
          <p:nvPr/>
        </p:nvSpPr>
        <p:spPr>
          <a:xfrm>
            <a:off x="9875520" y="516636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還元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1371600" y="6172200"/>
            <a:ext cx="9418320" cy="411480"/>
          </a:xfrm>
          <a:prstGeom prst="roundRect">
            <a:avLst>
              <a:gd name="adj" fmla="val 48889"/>
            </a:avLst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371600" y="6172200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エンドクライアントの月額課金に対して、上記の還元率が毎月パートナーに支払われます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2563EB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8B5CF6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2563EB">
              <a:alpha val="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REVENUE CALCULATION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レベニューシェア 計算の仕組み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758952" y="1865376"/>
            <a:ext cx="6675120" cy="3657600"/>
          </a:xfrm>
          <a:prstGeom prst="roundRect">
            <a:avLst>
              <a:gd name="adj" fmla="val 4500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" y="1828800"/>
            <a:ext cx="6675120" cy="36576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2011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1アプリあたりの月額課金構造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005840" y="2514600"/>
            <a:ext cx="6126480" cy="530352"/>
          </a:xfrm>
          <a:prstGeom prst="roundRect">
            <a:avLst>
              <a:gd name="adj" fmla="val 13793"/>
            </a:avLst>
          </a:prstGeom>
          <a:solidFill>
            <a:srgbClr val="F8FAFC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3000" y="2651760"/>
            <a:ext cx="676656" cy="27432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5" name="Text 13"/>
          <p:cNvSpPr/>
          <p:nvPr/>
        </p:nvSpPr>
        <p:spPr>
          <a:xfrm>
            <a:off x="1143000" y="2651760"/>
            <a:ext cx="676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必須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194560" y="2514600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アカウント基本利用料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0" y="2514600"/>
            <a:ext cx="2103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¥3,000 / 月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05840" y="3154680"/>
            <a:ext cx="612648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1143000" y="3291840"/>
            <a:ext cx="786384" cy="27432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43000" y="3291840"/>
            <a:ext cx="7863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194560" y="3154680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Webアプリ公開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0" y="3154680"/>
            <a:ext cx="2103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¥2,000 / URL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005840" y="3794760"/>
            <a:ext cx="6126480" cy="530352"/>
          </a:xfrm>
          <a:prstGeom prst="roundRect">
            <a:avLst>
              <a:gd name="adj" fmla="val 13793"/>
            </a:avLst>
          </a:prstGeom>
          <a:solidFill>
            <a:srgbClr val="F8FAFC"/>
          </a:solidFill>
          <a:ln/>
        </p:spPr>
      </p:sp>
      <p:sp>
        <p:nvSpPr>
          <p:cNvPr id="24" name="Shape 22"/>
          <p:cNvSpPr/>
          <p:nvPr/>
        </p:nvSpPr>
        <p:spPr>
          <a:xfrm>
            <a:off x="1143000" y="3931920"/>
            <a:ext cx="786384" cy="27432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/>
        </p:spPr>
      </p:sp>
      <p:sp>
        <p:nvSpPr>
          <p:cNvPr id="25" name="Text 23"/>
          <p:cNvSpPr/>
          <p:nvPr/>
        </p:nvSpPr>
        <p:spPr>
          <a:xfrm>
            <a:off x="1143000" y="3931920"/>
            <a:ext cx="7863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iOS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194560" y="3794760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iOSアプリ公開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46320" y="3794760"/>
            <a:ext cx="2103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¥5,000 / 月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005840" y="4434840"/>
            <a:ext cx="612648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1143000" y="4572000"/>
            <a:ext cx="1225296" cy="27432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30" name="Text 28"/>
          <p:cNvSpPr/>
          <p:nvPr/>
        </p:nvSpPr>
        <p:spPr>
          <a:xfrm>
            <a:off x="1143000" y="4572000"/>
            <a:ext cx="1225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Android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194560" y="4434840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Androidアプリ公開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846320" y="4434840"/>
            <a:ext cx="2103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¥5,000 / 月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1005840" y="5074920"/>
            <a:ext cx="6126480" cy="320040"/>
          </a:xfrm>
          <a:prstGeom prst="roundRect">
            <a:avLst>
              <a:gd name="adj" fmla="val 51429"/>
            </a:avLst>
          </a:prstGeom>
          <a:solidFill>
            <a:srgbClr val="2563EB">
              <a:alpha val="10000"/>
            </a:srgbClr>
          </a:solidFill>
          <a:ln w="889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0" y="507492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例: Web + iOS → 月額 ¥10,000 / アプリ     Web + iOS + Android → 月額 ¥15,000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708392" y="1865376"/>
            <a:ext cx="3840480" cy="3657600"/>
          </a:xfrm>
          <a:prstGeom prst="roundRect">
            <a:avLst>
              <a:gd name="adj" fmla="val 4500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7680960" y="1828800"/>
            <a:ext cx="3840480" cy="3657600"/>
          </a:xfrm>
          <a:prstGeom prst="roundRect">
            <a:avLst>
              <a:gd name="adj" fmla="val 4500"/>
            </a:avLst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0" y="2057400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計算式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955280" y="2468880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月間レベニュー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955280" y="285292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82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7955280" y="3236976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公開アプリ数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955280" y="3621024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82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7955280" y="4005072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月額単価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955280" y="4389120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82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7955280" y="477316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還元率 %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731520" y="5760720"/>
            <a:ext cx="10698480" cy="502920"/>
          </a:xfrm>
          <a:prstGeom prst="roundRect">
            <a:avLst>
              <a:gd name="adj" fmla="val 32727"/>
            </a:avLst>
          </a:prstGeom>
          <a:solidFill>
            <a:srgbClr val="2563EB">
              <a:alpha val="10000"/>
            </a:srgbClr>
          </a:solidFill>
          <a:ln w="8890">
            <a:solidFill>
              <a:srgbClr val="2563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14400" y="5760720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 この月額課金に対して、パートナーランクの還元率%がレベニューシェアとして毎月支払われます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2563EB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8B5CF6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2852928" cy="292608"/>
          </a:xfrm>
          <a:prstGeom prst="roundRect">
            <a:avLst>
              <a:gd name="adj" fmla="val 50000"/>
            </a:avLst>
          </a:prstGeom>
          <a:solidFill>
            <a:srgbClr val="2563EB">
              <a:alpha val="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2761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REVENUE SIMULATION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収益例 :  Web制作会社 A社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1463040"/>
            <a:ext cx="1664208" cy="2743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463040"/>
            <a:ext cx="1664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Gold（25%還元）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31520" y="17830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月5件のクライアント案件をMS Studioで制作。アカウント基本利用料+アプリ公開料が継続課金されるため、制作後も毎月レベニューシェアが発生。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58952" y="2505456"/>
            <a:ext cx="6675120" cy="2377440"/>
          </a:xfrm>
          <a:prstGeom prst="roundRect">
            <a:avLst>
              <a:gd name="adj" fmla="val 6923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0" y="2468880"/>
            <a:ext cx="667512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26060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収益内訳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005840" y="2926080"/>
            <a:ext cx="612648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/>
        </p:spPr>
      </p:sp>
      <p:sp>
        <p:nvSpPr>
          <p:cNvPr id="17" name="Text 15"/>
          <p:cNvSpPr/>
          <p:nvPr/>
        </p:nvSpPr>
        <p:spPr>
          <a:xfrm>
            <a:off x="1188720" y="292608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制作売上 / 件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46320" y="29260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¥150,000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005840" y="3520440"/>
            <a:ext cx="61264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1188720" y="35204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継続レベニュー / 月（5件）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46320" y="352044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 ¥18,750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005840" y="4114800"/>
            <a:ext cx="6126480" cy="50292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/>
        </p:spPr>
      </p:sp>
      <p:sp>
        <p:nvSpPr>
          <p:cNvPr id="23" name="Text 21"/>
          <p:cNvSpPr/>
          <p:nvPr/>
        </p:nvSpPr>
        <p:spPr>
          <a:xfrm>
            <a:off x="1188720" y="411480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40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年間継続収益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411480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 ¥225,000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708392" y="2505456"/>
            <a:ext cx="3840480" cy="2377440"/>
          </a:xfrm>
          <a:prstGeom prst="roundRect">
            <a:avLst>
              <a:gd name="adj" fmla="val 6923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7680960" y="2468880"/>
            <a:ext cx="3840480" cy="2377440"/>
          </a:xfrm>
          <a:prstGeom prst="roundRect">
            <a:avLst>
              <a:gd name="adj" fmla="val 6923"/>
            </a:avLst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55280" y="2606040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ストック収益の積み上がり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955280" y="29260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869680" y="29260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月額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058400" y="29260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年間累計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955280" y="3657600"/>
            <a:ext cx="329184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2" name="Text 30"/>
          <p:cNvSpPr/>
          <p:nvPr/>
        </p:nvSpPr>
        <p:spPr>
          <a:xfrm>
            <a:off x="7955280" y="324612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869680" y="324612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B82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¥18,750/月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0058400" y="324612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¥225,000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7955280" y="4160520"/>
            <a:ext cx="329184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6" name="Text 34"/>
          <p:cNvSpPr/>
          <p:nvPr/>
        </p:nvSpPr>
        <p:spPr>
          <a:xfrm>
            <a:off x="7955280" y="374904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869680" y="37490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B82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¥37,500/月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0058400" y="37490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¥675,000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7955280" y="4663440"/>
            <a:ext cx="329184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0" name="Text 38"/>
          <p:cNvSpPr/>
          <p:nvPr/>
        </p:nvSpPr>
        <p:spPr>
          <a:xfrm>
            <a:off x="7955280" y="425196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3年目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869680" y="42519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B82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¥56,250/月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0058400" y="42519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¥1,350,000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1520" y="51663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1737360" y="5202936"/>
            <a:ext cx="1524000" cy="201168"/>
          </a:xfrm>
          <a:prstGeom prst="roundRect">
            <a:avLst>
              <a:gd name="adj" fmla="val 22727"/>
            </a:avLst>
          </a:prstGeom>
          <a:solidFill>
            <a:srgbClr val="F59E0B"/>
          </a:solidFill>
          <a:ln/>
        </p:spPr>
      </p:sp>
      <p:sp>
        <p:nvSpPr>
          <p:cNvPr id="45" name="Text 43"/>
          <p:cNvSpPr/>
          <p:nvPr/>
        </p:nvSpPr>
        <p:spPr>
          <a:xfrm>
            <a:off x="3398520" y="51663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¥225,000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31520" y="55321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1737360" y="5568696"/>
            <a:ext cx="4572000" cy="201168"/>
          </a:xfrm>
          <a:prstGeom prst="roundRect">
            <a:avLst>
              <a:gd name="adj" fmla="val 22727"/>
            </a:avLst>
          </a:prstGeom>
          <a:solidFill>
            <a:srgbClr val="F59E0B"/>
          </a:solidFill>
          <a:ln/>
        </p:spPr>
      </p:sp>
      <p:sp>
        <p:nvSpPr>
          <p:cNvPr id="48" name="Text 46"/>
          <p:cNvSpPr/>
          <p:nvPr/>
        </p:nvSpPr>
        <p:spPr>
          <a:xfrm>
            <a:off x="6446520" y="5532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¥675,000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31520" y="5897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3年目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1737360" y="5934456"/>
            <a:ext cx="9144000" cy="201168"/>
          </a:xfrm>
          <a:prstGeom prst="roundRect">
            <a:avLst>
              <a:gd name="adj" fmla="val 22727"/>
            </a:avLst>
          </a:prstGeom>
          <a:solidFill>
            <a:srgbClr val="F59E0B"/>
          </a:solidFill>
          <a:ln/>
        </p:spPr>
      </p:sp>
      <p:sp>
        <p:nvSpPr>
          <p:cNvPr id="51" name="Text 49"/>
          <p:cNvSpPr/>
          <p:nvPr/>
        </p:nvSpPr>
        <p:spPr>
          <a:xfrm>
            <a:off x="11018520" y="5897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¥1,350,000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31520" y="6309360"/>
            <a:ext cx="10698480" cy="411480"/>
          </a:xfrm>
          <a:prstGeom prst="roundRect">
            <a:avLst>
              <a:gd name="adj" fmla="val 48889"/>
            </a:avLst>
          </a:prstGeom>
          <a:solidFill>
            <a:srgbClr val="DBEAFE"/>
          </a:solidFill>
          <a:ln/>
        </p:spPr>
      </p:sp>
      <p:sp>
        <p:nvSpPr>
          <p:cNvPr id="53" name="Text 51"/>
          <p:cNvSpPr/>
          <p:nvPr/>
        </p:nvSpPr>
        <p:spPr>
          <a:xfrm>
            <a:off x="914400" y="630936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 制作単価に加えて、ストック型の継続収益が積み上がるモデル。1年後には月5万円超のストック収益に。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2563EB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8B5CF6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2852928" cy="292608"/>
          </a:xfrm>
          <a:prstGeom prst="roundRect">
            <a:avLst>
              <a:gd name="adj" fmla="val 50000"/>
            </a:avLst>
          </a:prstGeom>
          <a:solidFill>
            <a:srgbClr val="2563EB">
              <a:alpha val="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2761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REVENUE SIMULATION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収益例 :  フリーランスデザイナー Bさん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1463040"/>
            <a:ext cx="1883664" cy="27432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463040"/>
            <a:ext cx="1883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Silver（20%還元）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31520" y="17830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月2件のミニアプリ制作を受注。セルフ構築+3hパックを活用してスピード納品。テンプレートも2点販売中。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58952" y="2505456"/>
            <a:ext cx="6675120" cy="2377440"/>
          </a:xfrm>
          <a:prstGeom prst="roundRect">
            <a:avLst>
              <a:gd name="adj" fmla="val 6923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0" y="2468880"/>
            <a:ext cx="667512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26060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収益内訳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005840" y="2926080"/>
            <a:ext cx="612648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/>
        </p:spPr>
      </p:sp>
      <p:sp>
        <p:nvSpPr>
          <p:cNvPr id="17" name="Text 15"/>
          <p:cNvSpPr/>
          <p:nvPr/>
        </p:nvSpPr>
        <p:spPr>
          <a:xfrm>
            <a:off x="1188720" y="292608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制作売上 / 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46320" y="29260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¥100,000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005840" y="3520440"/>
            <a:ext cx="61264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1188720" y="35204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テンプレート販売 / 月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46320" y="352044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 ¥30,000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005840" y="4114800"/>
            <a:ext cx="6126480" cy="50292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/>
        </p:spPr>
      </p:sp>
      <p:sp>
        <p:nvSpPr>
          <p:cNvPr id="23" name="Text 21"/>
          <p:cNvSpPr/>
          <p:nvPr/>
        </p:nvSpPr>
        <p:spPr>
          <a:xfrm>
            <a:off x="1188720" y="411480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40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継続レベニュー / 月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411480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 ¥6,000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708392" y="2505456"/>
            <a:ext cx="3840480" cy="2377440"/>
          </a:xfrm>
          <a:prstGeom prst="roundRect">
            <a:avLst>
              <a:gd name="adj" fmla="val 6923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7680960" y="2468880"/>
            <a:ext cx="3840480" cy="2377440"/>
          </a:xfrm>
          <a:prstGeom prst="roundRect">
            <a:avLst>
              <a:gd name="adj" fmla="val 6923"/>
            </a:avLst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55280" y="2606040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ストック収益の積み上がり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955280" y="29260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869680" y="29260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月額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058400" y="29260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年間累計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955280" y="3657600"/>
            <a:ext cx="329184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2" name="Text 30"/>
          <p:cNvSpPr/>
          <p:nvPr/>
        </p:nvSpPr>
        <p:spPr>
          <a:xfrm>
            <a:off x="7955280" y="324612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869680" y="324612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B82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¥6,000/月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0058400" y="324612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¥72,000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7955280" y="4160520"/>
            <a:ext cx="329184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6" name="Text 34"/>
          <p:cNvSpPr/>
          <p:nvPr/>
        </p:nvSpPr>
        <p:spPr>
          <a:xfrm>
            <a:off x="7955280" y="374904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869680" y="37490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B82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¥12,000/月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0058400" y="37490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¥216,000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7955280" y="4663440"/>
            <a:ext cx="329184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0" name="Text 38"/>
          <p:cNvSpPr/>
          <p:nvPr/>
        </p:nvSpPr>
        <p:spPr>
          <a:xfrm>
            <a:off x="7955280" y="425196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3年目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869680" y="42519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B82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¥18,000/月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0058400" y="42519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¥432,000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1520" y="51663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1737360" y="5202936"/>
            <a:ext cx="1524000" cy="201168"/>
          </a:xfrm>
          <a:prstGeom prst="roundRect">
            <a:avLst>
              <a:gd name="adj" fmla="val 22727"/>
            </a:avLst>
          </a:prstGeom>
          <a:solidFill>
            <a:srgbClr val="64748B"/>
          </a:solidFill>
          <a:ln/>
        </p:spPr>
      </p:sp>
      <p:sp>
        <p:nvSpPr>
          <p:cNvPr id="45" name="Text 43"/>
          <p:cNvSpPr/>
          <p:nvPr/>
        </p:nvSpPr>
        <p:spPr>
          <a:xfrm>
            <a:off x="3398520" y="51663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¥72,000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31520" y="55321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1737360" y="5568696"/>
            <a:ext cx="4572000" cy="201168"/>
          </a:xfrm>
          <a:prstGeom prst="roundRect">
            <a:avLst>
              <a:gd name="adj" fmla="val 22727"/>
            </a:avLst>
          </a:prstGeom>
          <a:solidFill>
            <a:srgbClr val="64748B"/>
          </a:solidFill>
          <a:ln/>
        </p:spPr>
      </p:sp>
      <p:sp>
        <p:nvSpPr>
          <p:cNvPr id="48" name="Text 46"/>
          <p:cNvSpPr/>
          <p:nvPr/>
        </p:nvSpPr>
        <p:spPr>
          <a:xfrm>
            <a:off x="6446520" y="5532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¥216,000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31520" y="5897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3年目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1737360" y="5934456"/>
            <a:ext cx="9144000" cy="201168"/>
          </a:xfrm>
          <a:prstGeom prst="roundRect">
            <a:avLst>
              <a:gd name="adj" fmla="val 22727"/>
            </a:avLst>
          </a:prstGeom>
          <a:solidFill>
            <a:srgbClr val="64748B"/>
          </a:solidFill>
          <a:ln/>
        </p:spPr>
      </p:sp>
      <p:sp>
        <p:nvSpPr>
          <p:cNvPr id="51" name="Text 49"/>
          <p:cNvSpPr/>
          <p:nvPr/>
        </p:nvSpPr>
        <p:spPr>
          <a:xfrm>
            <a:off x="11018520" y="5897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¥432,000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31520" y="6309360"/>
            <a:ext cx="10698480" cy="411480"/>
          </a:xfrm>
          <a:prstGeom prst="roundRect">
            <a:avLst>
              <a:gd name="adj" fmla="val 48889"/>
            </a:avLst>
          </a:prstGeom>
          <a:solidFill>
            <a:srgbClr val="DBEAFE"/>
          </a:solidFill>
          <a:ln/>
        </p:spPr>
      </p:sp>
      <p:sp>
        <p:nvSpPr>
          <p:cNvPr id="53" name="Text 51"/>
          <p:cNvSpPr/>
          <p:nvPr/>
        </p:nvSpPr>
        <p:spPr>
          <a:xfrm>
            <a:off x="914400" y="630936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 テンプレート販売 × 継続シェアで、固定費をカバーする副収入源に。制作+販売+ストックの三本柱。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2563EB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8B5CF6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2852928" cy="292608"/>
          </a:xfrm>
          <a:prstGeom prst="roundRect">
            <a:avLst>
              <a:gd name="adj" fmla="val 50000"/>
            </a:avLst>
          </a:prstGeom>
          <a:solidFill>
            <a:srgbClr val="2563EB">
              <a:alpha val="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2761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REVENUE SIMULATION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収益例 :  アプリ開発会社 C社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1463040"/>
            <a:ext cx="2103120" cy="27432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463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Platinum（30%還元）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31520" y="17830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オフィシャル制作パートナーとして月10件以上を継続納品。エムスタFullでの大型案件も対応し、既存クライアントの運用も一括管理。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58952" y="2505456"/>
            <a:ext cx="6675120" cy="2377440"/>
          </a:xfrm>
          <a:prstGeom prst="roundRect">
            <a:avLst>
              <a:gd name="adj" fmla="val 6923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0" y="2468880"/>
            <a:ext cx="667512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26060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収益内訳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005840" y="2926080"/>
            <a:ext cx="612648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/>
        </p:spPr>
      </p:sp>
      <p:sp>
        <p:nvSpPr>
          <p:cNvPr id="17" name="Text 15"/>
          <p:cNvSpPr/>
          <p:nvPr/>
        </p:nvSpPr>
        <p:spPr>
          <a:xfrm>
            <a:off x="1188720" y="292608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制作売上 / 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46320" y="29260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¥1,500,000+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005840" y="3520440"/>
            <a:ext cx="61264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1188720" y="35204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継続レベニュー / 月（30件）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46320" y="352044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 ¥135,000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005840" y="4114800"/>
            <a:ext cx="6126480" cy="50292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/>
        </p:spPr>
      </p:sp>
      <p:sp>
        <p:nvSpPr>
          <p:cNvPr id="23" name="Text 21"/>
          <p:cNvSpPr/>
          <p:nvPr/>
        </p:nvSpPr>
        <p:spPr>
          <a:xfrm>
            <a:off x="1188720" y="411480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40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年間継続収益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411480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 ¥1,620,000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708392" y="2505456"/>
            <a:ext cx="3840480" cy="2377440"/>
          </a:xfrm>
          <a:prstGeom prst="roundRect">
            <a:avLst>
              <a:gd name="adj" fmla="val 6923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7680960" y="2468880"/>
            <a:ext cx="3840480" cy="2377440"/>
          </a:xfrm>
          <a:prstGeom prst="roundRect">
            <a:avLst>
              <a:gd name="adj" fmla="val 6923"/>
            </a:avLst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55280" y="2606040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ストック収益の積み上がり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955280" y="29260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869680" y="29260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月額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058400" y="29260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年間累計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955280" y="3657600"/>
            <a:ext cx="329184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2" name="Text 30"/>
          <p:cNvSpPr/>
          <p:nvPr/>
        </p:nvSpPr>
        <p:spPr>
          <a:xfrm>
            <a:off x="7955280" y="324612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869680" y="324612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B82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¥135,000/月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0058400" y="324612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¥1,620,000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7955280" y="4160520"/>
            <a:ext cx="329184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6" name="Text 34"/>
          <p:cNvSpPr/>
          <p:nvPr/>
        </p:nvSpPr>
        <p:spPr>
          <a:xfrm>
            <a:off x="7955280" y="374904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869680" y="37490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B82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¥270,000/月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0058400" y="37490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¥4,860,000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7955280" y="4663440"/>
            <a:ext cx="329184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0" name="Text 38"/>
          <p:cNvSpPr/>
          <p:nvPr/>
        </p:nvSpPr>
        <p:spPr>
          <a:xfrm>
            <a:off x="7955280" y="425196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3年目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869680" y="42519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B82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¥405,000/月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0058400" y="42519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¥9,720,000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1520" y="51663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1737360" y="5202936"/>
            <a:ext cx="1524000" cy="201168"/>
          </a:xfrm>
          <a:prstGeom prst="roundRect">
            <a:avLst>
              <a:gd name="adj" fmla="val 22727"/>
            </a:avLst>
          </a:prstGeom>
          <a:solidFill>
            <a:srgbClr val="0EA5E9"/>
          </a:solidFill>
          <a:ln/>
        </p:spPr>
      </p:sp>
      <p:sp>
        <p:nvSpPr>
          <p:cNvPr id="45" name="Text 43"/>
          <p:cNvSpPr/>
          <p:nvPr/>
        </p:nvSpPr>
        <p:spPr>
          <a:xfrm>
            <a:off x="3398520" y="51663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¥1,620,000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31520" y="55321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1737360" y="5568696"/>
            <a:ext cx="4572000" cy="201168"/>
          </a:xfrm>
          <a:prstGeom prst="roundRect">
            <a:avLst>
              <a:gd name="adj" fmla="val 22727"/>
            </a:avLst>
          </a:prstGeom>
          <a:solidFill>
            <a:srgbClr val="0EA5E9"/>
          </a:solidFill>
          <a:ln/>
        </p:spPr>
      </p:sp>
      <p:sp>
        <p:nvSpPr>
          <p:cNvPr id="48" name="Text 46"/>
          <p:cNvSpPr/>
          <p:nvPr/>
        </p:nvSpPr>
        <p:spPr>
          <a:xfrm>
            <a:off x="6446520" y="5532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¥4,860,000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31520" y="5897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3年目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1737360" y="5934456"/>
            <a:ext cx="9144000" cy="201168"/>
          </a:xfrm>
          <a:prstGeom prst="roundRect">
            <a:avLst>
              <a:gd name="adj" fmla="val 22727"/>
            </a:avLst>
          </a:prstGeom>
          <a:solidFill>
            <a:srgbClr val="0EA5E9"/>
          </a:solidFill>
          <a:ln/>
        </p:spPr>
      </p:sp>
      <p:sp>
        <p:nvSpPr>
          <p:cNvPr id="51" name="Text 49"/>
          <p:cNvSpPr/>
          <p:nvPr/>
        </p:nvSpPr>
        <p:spPr>
          <a:xfrm>
            <a:off x="11018520" y="5897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¥9,720,000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31520" y="6309360"/>
            <a:ext cx="10698480" cy="411480"/>
          </a:xfrm>
          <a:prstGeom prst="roundRect">
            <a:avLst>
              <a:gd name="adj" fmla="val 48889"/>
            </a:avLst>
          </a:prstGeom>
          <a:solidFill>
            <a:srgbClr val="DBEAFE"/>
          </a:solidFill>
          <a:ln/>
        </p:spPr>
      </p:sp>
      <p:sp>
        <p:nvSpPr>
          <p:cNvPr id="53" name="Text 51"/>
          <p:cNvSpPr/>
          <p:nvPr/>
        </p:nvSpPr>
        <p:spPr>
          <a:xfrm>
            <a:off x="914400" y="630936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 制作実績の積み上げに比例して、ストック収益が事業の安定基盤に。3年目には月40万円超の安定収入。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2563EB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8B5CF6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1956816" cy="292608"/>
          </a:xfrm>
          <a:prstGeom prst="roundRect">
            <a:avLst>
              <a:gd name="adj" fmla="val 50000"/>
            </a:avLst>
          </a:prstGeom>
          <a:solidFill>
            <a:srgbClr val="2563EB">
              <a:alpha val="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18653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MARKETPLACE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テンプレート販売で、さらなる収益機会。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31520" y="1600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制作費 + ストック + 販売収入の3つの収益源を実現。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58952" y="2779776"/>
            <a:ext cx="2606040" cy="868680"/>
          </a:xfrm>
          <a:prstGeom prst="roundRect">
            <a:avLst>
              <a:gd name="adj" fmla="val 18947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2743200"/>
            <a:ext cx="2606040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880360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🔌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25880" y="2743200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有償アドオン機能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593592" y="2779776"/>
            <a:ext cx="2606040" cy="868680"/>
          </a:xfrm>
          <a:prstGeom prst="roundRect">
            <a:avLst>
              <a:gd name="adj" fmla="val 18947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566160" y="2743200"/>
            <a:ext cx="2606040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3703320" y="2880360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🎨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60520" y="2743200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UIテンプレート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28232" y="2779776"/>
            <a:ext cx="2606040" cy="868680"/>
          </a:xfrm>
          <a:prstGeom prst="roundRect">
            <a:avLst>
              <a:gd name="adj" fmla="val 18947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2743200"/>
            <a:ext cx="2606040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2880360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✨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995160" y="2743200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デザインテンプレート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262872" y="2779776"/>
            <a:ext cx="2606040" cy="868680"/>
          </a:xfrm>
          <a:prstGeom prst="roundRect">
            <a:avLst>
              <a:gd name="adj" fmla="val 18947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9235440" y="2743200"/>
            <a:ext cx="2606040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9372600" y="2880360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📝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829800" y="2743200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コンテンツテンプレート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58952" y="3877056"/>
            <a:ext cx="2606040" cy="868680"/>
          </a:xfrm>
          <a:prstGeom prst="roundRect">
            <a:avLst>
              <a:gd name="adj" fmla="val 18947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731520" y="3840480"/>
            <a:ext cx="2606040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3977640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🏢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325880" y="3840480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業界特化テンプレート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593592" y="3877056"/>
            <a:ext cx="2606040" cy="868680"/>
          </a:xfrm>
          <a:prstGeom prst="roundRect">
            <a:avLst>
              <a:gd name="adj" fmla="val 18947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566160" y="3840480"/>
            <a:ext cx="2606040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3703320" y="3977640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🛠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160520" y="3840480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パートナー独自機能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28232" y="3877056"/>
            <a:ext cx="2606040" cy="868680"/>
          </a:xfrm>
          <a:prstGeom prst="roundRect">
            <a:avLst>
              <a:gd name="adj" fmla="val 18947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6400800" y="3840480"/>
            <a:ext cx="2606040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6537960" y="3977640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6995160" y="3840480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API連携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58952" y="5157216"/>
            <a:ext cx="5349240" cy="1097280"/>
          </a:xfrm>
          <a:prstGeom prst="roundRect">
            <a:avLst>
              <a:gd name="adj" fmla="val 15000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731520" y="5120640"/>
            <a:ext cx="5349240" cy="10972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740664" y="5129784"/>
            <a:ext cx="533095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2" name="Text 40"/>
          <p:cNvSpPr/>
          <p:nvPr/>
        </p:nvSpPr>
        <p:spPr>
          <a:xfrm>
            <a:off x="960120" y="525780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👤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1463040" y="52120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ユーザー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463040" y="55321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必要な機能を、必要なタイミングで追加できる。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6382512" y="5157216"/>
            <a:ext cx="5349240" cy="1097280"/>
          </a:xfrm>
          <a:prstGeom prst="roundRect">
            <a:avLst>
              <a:gd name="adj" fmla="val 15000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355080" y="5120640"/>
            <a:ext cx="5349240" cy="10972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47" name="Shape 45"/>
          <p:cNvSpPr/>
          <p:nvPr/>
        </p:nvSpPr>
        <p:spPr>
          <a:xfrm>
            <a:off x="6364224" y="5129784"/>
            <a:ext cx="5330952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8" name="Text 46"/>
          <p:cNvSpPr/>
          <p:nvPr/>
        </p:nvSpPr>
        <p:spPr>
          <a:xfrm>
            <a:off x="6583680" y="525780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🤝</a:t>
            </a:r>
            <a:endParaRPr lang="en-US" sz="2000" dirty="0"/>
          </a:p>
        </p:txBody>
      </p:sp>
      <p:sp>
        <p:nvSpPr>
          <p:cNvPr id="49" name="Text 47"/>
          <p:cNvSpPr/>
          <p:nvPr/>
        </p:nvSpPr>
        <p:spPr>
          <a:xfrm>
            <a:off x="7086600" y="52120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パートナー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086600" y="55321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自社の技術やデザインを、エムスタ上で販売できる。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2563EB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8B5CF6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2563EB">
              <a:alpha val="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 SUPPORT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AIが、制作と運用を支援する。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31520" y="1600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制作効率を上げる = 同じ時間でより多くの案件を回せる = 収益増に直結。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58952" y="2779776"/>
            <a:ext cx="3520440" cy="3657600"/>
          </a:xfrm>
          <a:prstGeom prst="roundRect">
            <a:avLst>
              <a:gd name="adj" fmla="val 4675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2743200"/>
            <a:ext cx="3520440" cy="365760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740664" y="2752344"/>
            <a:ext cx="350215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Shape 12"/>
          <p:cNvSpPr/>
          <p:nvPr/>
        </p:nvSpPr>
        <p:spPr>
          <a:xfrm>
            <a:off x="2057400" y="3017520"/>
            <a:ext cx="822960" cy="822960"/>
          </a:xfrm>
          <a:prstGeom prst="ellipse">
            <a:avLst/>
          </a:prstGeom>
          <a:solidFill>
            <a:srgbClr val="2563EB">
              <a:alpha val="12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2057400" y="30175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🛠</a:t>
            </a:r>
            <a:endParaRPr lang="en-US" sz="1980" dirty="0"/>
          </a:p>
        </p:txBody>
      </p:sp>
      <p:sp>
        <p:nvSpPr>
          <p:cNvPr id="16" name="Text 14"/>
          <p:cNvSpPr/>
          <p:nvPr/>
        </p:nvSpPr>
        <p:spPr>
          <a:xfrm>
            <a:off x="1005840" y="393192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制作支援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60120" y="4434840"/>
            <a:ext cx="3063240" cy="384048"/>
          </a:xfrm>
          <a:prstGeom prst="roundRect">
            <a:avLst>
              <a:gd name="adj" fmla="val 42857"/>
            </a:avLst>
          </a:prstGeom>
          <a:solidFill>
            <a:srgbClr val="2563EB">
              <a:alpha val="10000"/>
            </a:srgbClr>
          </a:solidFill>
          <a:ln w="889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4434840"/>
            <a:ext cx="2788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企画整理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0120" y="4892040"/>
            <a:ext cx="3063240" cy="384048"/>
          </a:xfrm>
          <a:prstGeom prst="roundRect">
            <a:avLst>
              <a:gd name="adj" fmla="val 42857"/>
            </a:avLst>
          </a:prstGeom>
          <a:solidFill>
            <a:srgbClr val="2563EB">
              <a:alpha val="10000"/>
            </a:srgbClr>
          </a:solidFill>
          <a:ln w="8890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4892040"/>
            <a:ext cx="2788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画面構成提案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60120" y="5349240"/>
            <a:ext cx="3063240" cy="384048"/>
          </a:xfrm>
          <a:prstGeom prst="roundRect">
            <a:avLst>
              <a:gd name="adj" fmla="val 42857"/>
            </a:avLst>
          </a:prstGeom>
          <a:solidFill>
            <a:srgbClr val="2563EB">
              <a:alpha val="10000"/>
            </a:srgbClr>
          </a:solidFill>
          <a:ln w="889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5349240"/>
            <a:ext cx="2788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コンテンツ構成提案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60120" y="5806440"/>
            <a:ext cx="3063240" cy="384048"/>
          </a:xfrm>
          <a:prstGeom prst="roundRect">
            <a:avLst>
              <a:gd name="adj" fmla="val 42857"/>
            </a:avLst>
          </a:prstGeom>
          <a:solidFill>
            <a:srgbClr val="2563EB">
              <a:alpha val="10000"/>
            </a:srgbClr>
          </a:solidFill>
          <a:ln w="889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97280" y="5806440"/>
            <a:ext cx="2788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UI生成支援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53712" y="2779776"/>
            <a:ext cx="3520440" cy="3657600"/>
          </a:xfrm>
          <a:prstGeom prst="roundRect">
            <a:avLst>
              <a:gd name="adj" fmla="val 4675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526280" y="2743200"/>
            <a:ext cx="3520440" cy="365760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4535424" y="2752344"/>
            <a:ext cx="3502152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Shape 26"/>
          <p:cNvSpPr/>
          <p:nvPr/>
        </p:nvSpPr>
        <p:spPr>
          <a:xfrm>
            <a:off x="5852160" y="3017520"/>
            <a:ext cx="822960" cy="82296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5852160" y="30175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⚙️</a:t>
            </a:r>
            <a:endParaRPr lang="en-US" sz="1980" dirty="0"/>
          </a:p>
        </p:txBody>
      </p:sp>
      <p:sp>
        <p:nvSpPr>
          <p:cNvPr id="30" name="Text 28"/>
          <p:cNvSpPr/>
          <p:nvPr/>
        </p:nvSpPr>
        <p:spPr>
          <a:xfrm>
            <a:off x="4800600" y="393192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運用支援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4754880" y="4434840"/>
            <a:ext cx="3063240" cy="384048"/>
          </a:xfrm>
          <a:prstGeom prst="roundRect">
            <a:avLst>
              <a:gd name="adj" fmla="val 42857"/>
            </a:avLst>
          </a:prstGeom>
          <a:solidFill>
            <a:srgbClr val="8B5CF6">
              <a:alpha val="10000"/>
            </a:srgbClr>
          </a:solidFill>
          <a:ln w="8890">
            <a:solidFill>
              <a:srgbClr val="8B5CF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92040" y="4434840"/>
            <a:ext cx="2788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投稿内容の整理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754880" y="4892040"/>
            <a:ext cx="3063240" cy="384048"/>
          </a:xfrm>
          <a:prstGeom prst="roundRect">
            <a:avLst>
              <a:gd name="adj" fmla="val 42857"/>
            </a:avLst>
          </a:prstGeom>
          <a:solidFill>
            <a:srgbClr val="8B5CF6">
              <a:alpha val="10000"/>
            </a:srgbClr>
          </a:solidFill>
          <a:ln w="8890">
            <a:solidFill>
              <a:srgbClr val="8B5CF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92040" y="4892040"/>
            <a:ext cx="2788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プッシュ通知文面作成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754880" y="5349240"/>
            <a:ext cx="3063240" cy="384048"/>
          </a:xfrm>
          <a:prstGeom prst="roundRect">
            <a:avLst>
              <a:gd name="adj" fmla="val 42857"/>
            </a:avLst>
          </a:prstGeom>
          <a:solidFill>
            <a:srgbClr val="8B5CF6">
              <a:alpha val="10000"/>
            </a:srgbClr>
          </a:solidFill>
          <a:ln w="8890">
            <a:solidFill>
              <a:srgbClr val="8B5CF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5349240"/>
            <a:ext cx="2788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FAQ生成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754880" y="5806440"/>
            <a:ext cx="3063240" cy="384048"/>
          </a:xfrm>
          <a:prstGeom prst="roundRect">
            <a:avLst>
              <a:gd name="adj" fmla="val 42857"/>
            </a:avLst>
          </a:prstGeom>
          <a:solidFill>
            <a:srgbClr val="8B5CF6">
              <a:alpha val="10000"/>
            </a:srgbClr>
          </a:solidFill>
          <a:ln w="8890">
            <a:solidFill>
              <a:srgbClr val="8B5CF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92040" y="5806440"/>
            <a:ext cx="2788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運用改善提案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348472" y="2779776"/>
            <a:ext cx="3520440" cy="3657600"/>
          </a:xfrm>
          <a:prstGeom prst="roundRect">
            <a:avLst>
              <a:gd name="adj" fmla="val 4675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321040" y="2743200"/>
            <a:ext cx="3520440" cy="365760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8330184" y="2752344"/>
            <a:ext cx="3502152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2" name="Shape 40"/>
          <p:cNvSpPr/>
          <p:nvPr/>
        </p:nvSpPr>
        <p:spPr>
          <a:xfrm>
            <a:off x="9646920" y="3017520"/>
            <a:ext cx="822960" cy="822960"/>
          </a:xfrm>
          <a:prstGeom prst="ellipse">
            <a:avLst/>
          </a:prstGeom>
          <a:solidFill>
            <a:srgbClr val="10B981">
              <a:alpha val="12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9646920" y="30175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🎧</a:t>
            </a:r>
            <a:endParaRPr lang="en-US" sz="1980" dirty="0"/>
          </a:p>
        </p:txBody>
      </p:sp>
      <p:sp>
        <p:nvSpPr>
          <p:cNvPr id="44" name="Text 42"/>
          <p:cNvSpPr/>
          <p:nvPr/>
        </p:nvSpPr>
        <p:spPr>
          <a:xfrm>
            <a:off x="8595360" y="393192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サポート支援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549640" y="4434840"/>
            <a:ext cx="3063240" cy="384048"/>
          </a:xfrm>
          <a:prstGeom prst="roundRect">
            <a:avLst>
              <a:gd name="adj" fmla="val 42857"/>
            </a:avLst>
          </a:prstGeom>
          <a:solidFill>
            <a:srgbClr val="10B981">
              <a:alpha val="10000"/>
            </a:srgbClr>
          </a:solidFill>
          <a:ln w="8890">
            <a:solidFill>
              <a:srgbClr val="10B98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686800" y="4434840"/>
            <a:ext cx="2788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運用・操作マニュアル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8549640" y="4892040"/>
            <a:ext cx="3063240" cy="384048"/>
          </a:xfrm>
          <a:prstGeom prst="roundRect">
            <a:avLst>
              <a:gd name="adj" fmla="val 42857"/>
            </a:avLst>
          </a:prstGeom>
          <a:solidFill>
            <a:srgbClr val="10B981">
              <a:alpha val="10000"/>
            </a:srgbClr>
          </a:solidFill>
          <a:ln w="8890">
            <a:solidFill>
              <a:srgbClr val="10B98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686800" y="4892040"/>
            <a:ext cx="2788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申請準備サポート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549640" y="5349240"/>
            <a:ext cx="3063240" cy="384048"/>
          </a:xfrm>
          <a:prstGeom prst="roundRect">
            <a:avLst>
              <a:gd name="adj" fmla="val 42857"/>
            </a:avLst>
          </a:prstGeom>
          <a:solidFill>
            <a:srgbClr val="10B981">
              <a:alpha val="10000"/>
            </a:srgbClr>
          </a:solidFill>
          <a:ln w="8890">
            <a:solidFill>
              <a:srgbClr val="10B98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686800" y="5349240"/>
            <a:ext cx="2788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初期設定ガイド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8549640" y="5806440"/>
            <a:ext cx="3063240" cy="384048"/>
          </a:xfrm>
          <a:prstGeom prst="roundRect">
            <a:avLst>
              <a:gd name="adj" fmla="val 42857"/>
            </a:avLst>
          </a:prstGeom>
          <a:solidFill>
            <a:srgbClr val="10B981">
              <a:alpha val="10000"/>
            </a:srgbClr>
          </a:solidFill>
          <a:ln w="8890">
            <a:solidFill>
              <a:srgbClr val="10B98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686800" y="5806440"/>
            <a:ext cx="2788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AIエージェント（予定）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2563EB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8B5CF6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2468880" cy="292608"/>
          </a:xfrm>
          <a:prstGeom prst="roundRect">
            <a:avLst>
              <a:gd name="adj" fmla="val 50000"/>
            </a:avLst>
          </a:prstGeom>
          <a:solidFill>
            <a:srgbClr val="2563EB">
              <a:alpha val="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TEAM MANAGEMENT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チームでも、組織でも、安全に運用できる。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31520" y="1600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クライアント納品後も安全に運用委譲。外部パートナーを巻き込んだ運用にも対応。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84632" y="2962656"/>
            <a:ext cx="2057400" cy="2560320"/>
          </a:xfrm>
          <a:prstGeom prst="roundRect">
            <a:avLst>
              <a:gd name="adj" fmla="val 8000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2926080"/>
            <a:ext cx="205740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97280" y="3108960"/>
            <a:ext cx="777240" cy="777240"/>
          </a:xfrm>
          <a:prstGeom prst="ellipse">
            <a:avLst/>
          </a:prstGeom>
          <a:solidFill>
            <a:srgbClr val="2563EB">
              <a:alpha val="12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31089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👑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57200" y="402336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" y="4389120"/>
            <a:ext cx="1783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すべての機能に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アクセス可能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816352" y="2962656"/>
            <a:ext cx="2057400" cy="2560320"/>
          </a:xfrm>
          <a:prstGeom prst="roundRect">
            <a:avLst>
              <a:gd name="adj" fmla="val 8000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788920" y="2926080"/>
            <a:ext cx="205740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3429000" y="3108960"/>
            <a:ext cx="777240" cy="77724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31089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✏️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2788920" y="402336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編集者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926080" y="4389120"/>
            <a:ext cx="1783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コンテンツ・画面の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編集が可能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148072" y="2962656"/>
            <a:ext cx="2057400" cy="2560320"/>
          </a:xfrm>
          <a:prstGeom prst="roundRect">
            <a:avLst>
              <a:gd name="adj" fmla="val 8000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20640" y="2926080"/>
            <a:ext cx="205740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5760720" y="3108960"/>
            <a:ext cx="777240" cy="777240"/>
          </a:xfrm>
          <a:prstGeom prst="ellipse">
            <a:avLst/>
          </a:prstGeom>
          <a:solidFill>
            <a:srgbClr val="10B981">
              <a:alpha val="12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0" y="31089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5120640" y="402336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投稿者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257800" y="4389120"/>
            <a:ext cx="1783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投稿のみ可能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479792" y="2962656"/>
            <a:ext cx="2057400" cy="2560320"/>
          </a:xfrm>
          <a:prstGeom prst="roundRect">
            <a:avLst>
              <a:gd name="adj" fmla="val 8000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7452360" y="2926080"/>
            <a:ext cx="205740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8092440" y="3108960"/>
            <a:ext cx="777240" cy="777240"/>
          </a:xfrm>
          <a:prstGeom prst="ellipse">
            <a:avLst/>
          </a:prstGeom>
          <a:solidFill>
            <a:srgbClr val="64748B">
              <a:alpha val="12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8092440" y="31089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👁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7452360" y="402336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閲覧者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589520" y="4389120"/>
            <a:ext cx="1783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閲覧のみ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811512" y="2962656"/>
            <a:ext cx="2057400" cy="2560320"/>
          </a:xfrm>
          <a:prstGeom prst="roundRect">
            <a:avLst>
              <a:gd name="adj" fmla="val 8000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9784080" y="2926080"/>
            <a:ext cx="205740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10424160" y="3108960"/>
            <a:ext cx="777240" cy="777240"/>
          </a:xfrm>
          <a:prstGeom prst="ellipse">
            <a:avLst/>
          </a:prstGeom>
          <a:solidFill>
            <a:srgbClr val="F59E0B">
              <a:alpha val="12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10424160" y="31089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🤝</a:t>
            </a:r>
            <a:endParaRPr lang="en-US" sz="2400" dirty="0"/>
          </a:p>
        </p:txBody>
      </p:sp>
      <p:sp>
        <p:nvSpPr>
          <p:cNvPr id="39" name="Text 37"/>
          <p:cNvSpPr/>
          <p:nvPr/>
        </p:nvSpPr>
        <p:spPr>
          <a:xfrm>
            <a:off x="9784080" y="402336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外部パートナー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921240" y="4389120"/>
            <a:ext cx="1783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制作パートナー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向け権限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286000" y="5760720"/>
            <a:ext cx="7589520" cy="411480"/>
          </a:xfrm>
          <a:prstGeom prst="roundRect">
            <a:avLst>
              <a:gd name="adj" fmla="val 40000"/>
            </a:avLst>
          </a:prstGeom>
          <a:solidFill>
            <a:srgbClr val="2563EB">
              <a:alpha val="10000"/>
            </a:srgbClr>
          </a:solidFill>
          <a:ln w="8890">
            <a:solidFill>
              <a:srgbClr val="2563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286000" y="5760720"/>
            <a:ext cx="7589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40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アカウント内に複数アプリを作成でき、アプリごとに権限を付与することも可能です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2563EB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8B5CF6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1700784" cy="292608"/>
          </a:xfrm>
          <a:prstGeom prst="roundRect">
            <a:avLst>
              <a:gd name="adj" fmla="val 50000"/>
            </a:avLst>
          </a:prstGeom>
          <a:solidFill>
            <a:srgbClr val="2563EB">
              <a:alpha val="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160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USE CASES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パートナーが提案できる案件例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758952" y="1865376"/>
            <a:ext cx="10698480" cy="804672"/>
          </a:xfrm>
          <a:prstGeom prst="roundRect">
            <a:avLst>
              <a:gd name="adj" fmla="val 20455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" y="1828800"/>
            <a:ext cx="10698480" cy="804672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740664" y="1837944"/>
            <a:ext cx="54864" cy="7863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1828800"/>
            <a:ext cx="457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1828800"/>
            <a:ext cx="1645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店舗・施設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91840" y="1828800"/>
            <a:ext cx="41148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会員アプリ / 予約 / クーポン / 来店管理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589520" y="1993392"/>
            <a:ext cx="3566160" cy="475488"/>
          </a:xfrm>
          <a:prstGeom prst="roundRect">
            <a:avLst>
              <a:gd name="adj" fmla="val 34615"/>
            </a:avLst>
          </a:prstGeom>
          <a:solidFill>
            <a:srgbClr val="2563EB">
              <a:alpha val="10000"/>
            </a:srgbClr>
          </a:solidFill>
          <a:ln w="8890">
            <a:solidFill>
              <a:srgbClr val="2563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0" y="1993392"/>
            <a:ext cx="3200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会員アプリで来店促進したい店舗に最適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58952" y="2825496"/>
            <a:ext cx="10698480" cy="804672"/>
          </a:xfrm>
          <a:prstGeom prst="roundRect">
            <a:avLst>
              <a:gd name="adj" fmla="val 20455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731520" y="2788920"/>
            <a:ext cx="10698480" cy="804672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740664" y="2798064"/>
            <a:ext cx="54864" cy="78638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2788920"/>
            <a:ext cx="457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🎓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554480" y="2788920"/>
            <a:ext cx="1645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教育・スクール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291840" y="2788920"/>
            <a:ext cx="41148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学習アプリ / お知らせ / 資料共有 / 出欠管理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589520" y="2953512"/>
            <a:ext cx="3566160" cy="475488"/>
          </a:xfrm>
          <a:prstGeom prst="roundRect">
            <a:avLst>
              <a:gd name="adj" fmla="val 34615"/>
            </a:avLst>
          </a:prstGeom>
          <a:solidFill>
            <a:srgbClr val="8B5CF6">
              <a:alpha val="10000"/>
            </a:srgbClr>
          </a:solidFill>
          <a:ln w="8890">
            <a:solidFill>
              <a:srgbClr val="8B5C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0" y="2953512"/>
            <a:ext cx="3200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保護者への情報発信を効率化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58952" y="3785616"/>
            <a:ext cx="10698480" cy="804672"/>
          </a:xfrm>
          <a:prstGeom prst="roundRect">
            <a:avLst>
              <a:gd name="adj" fmla="val 20455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731520" y="3749040"/>
            <a:ext cx="10698480" cy="804672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740664" y="3758184"/>
            <a:ext cx="54864" cy="78638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" y="3749040"/>
            <a:ext cx="457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🏥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554480" y="3749040"/>
            <a:ext cx="1645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医療・団体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291840" y="3749040"/>
            <a:ext cx="41148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情報インフラ / 災害時連絡 / アンケート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589520" y="3913632"/>
            <a:ext cx="3566160" cy="475488"/>
          </a:xfrm>
          <a:prstGeom prst="roundRect">
            <a:avLst>
              <a:gd name="adj" fmla="val 34615"/>
            </a:avLst>
          </a:prstGeom>
          <a:solidFill>
            <a:srgbClr val="10B981">
              <a:alpha val="10000"/>
            </a:srgbClr>
          </a:solidFill>
          <a:ln w="8890">
            <a:solidFill>
              <a:srgbClr val="10B98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0" y="3913632"/>
            <a:ext cx="3200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会員への確実な情報伝達手段として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58952" y="4745736"/>
            <a:ext cx="10698480" cy="804672"/>
          </a:xfrm>
          <a:prstGeom prst="roundRect">
            <a:avLst>
              <a:gd name="adj" fmla="val 20455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31520" y="4709160"/>
            <a:ext cx="10698480" cy="804672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740664" y="4718304"/>
            <a:ext cx="54864" cy="78638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7" name="Text 35"/>
          <p:cNvSpPr/>
          <p:nvPr/>
        </p:nvSpPr>
        <p:spPr>
          <a:xfrm>
            <a:off x="1005840" y="4709160"/>
            <a:ext cx="457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🎨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1554480" y="4709160"/>
            <a:ext cx="1645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クリエイター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291840" y="4709160"/>
            <a:ext cx="41148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ファンコミュニティ / 限定情報 / イベント告知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589520" y="4873752"/>
            <a:ext cx="3566160" cy="475488"/>
          </a:xfrm>
          <a:prstGeom prst="roundRect">
            <a:avLst>
              <a:gd name="adj" fmla="val 34615"/>
            </a:avLst>
          </a:prstGeom>
          <a:solidFill>
            <a:srgbClr val="F59E0B">
              <a:alpha val="10000"/>
            </a:srgbClr>
          </a:solidFill>
          <a:ln w="8890">
            <a:solidFill>
              <a:srgbClr val="F59E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772400" y="4873752"/>
            <a:ext cx="3200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ファンとの接点をアプリで構築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58952" y="5705856"/>
            <a:ext cx="10698480" cy="804672"/>
          </a:xfrm>
          <a:prstGeom prst="roundRect">
            <a:avLst>
              <a:gd name="adj" fmla="val 20455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31520" y="5669280"/>
            <a:ext cx="10698480" cy="804672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/>
        </p:spPr>
      </p:sp>
      <p:sp>
        <p:nvSpPr>
          <p:cNvPr id="44" name="Shape 42"/>
          <p:cNvSpPr/>
          <p:nvPr/>
        </p:nvSpPr>
        <p:spPr>
          <a:xfrm>
            <a:off x="740664" y="5678424"/>
            <a:ext cx="54864" cy="786384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5" name="Text 43"/>
          <p:cNvSpPr/>
          <p:nvPr/>
        </p:nvSpPr>
        <p:spPr>
          <a:xfrm>
            <a:off x="1005840" y="5669280"/>
            <a:ext cx="457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🏢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554480" y="5669280"/>
            <a:ext cx="1645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企業・社内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291840" y="5669280"/>
            <a:ext cx="41148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社内ポータル / ナレッジ共有 / 業務連絡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589520" y="5833872"/>
            <a:ext cx="3566160" cy="475488"/>
          </a:xfrm>
          <a:prstGeom prst="roundRect">
            <a:avLst>
              <a:gd name="adj" fmla="val 34615"/>
            </a:avLst>
          </a:prstGeom>
          <a:solidFill>
            <a:srgbClr val="0F172A">
              <a:alpha val="10000"/>
            </a:srgbClr>
          </a:solidFill>
          <a:ln w="8890">
            <a:solidFill>
              <a:srgbClr val="0F172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72400" y="5833872"/>
            <a:ext cx="3200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社内情報の集約と効率化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2563EB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8B5CF6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2340864" cy="292608"/>
          </a:xfrm>
          <a:prstGeom prst="roundRect">
            <a:avLst>
              <a:gd name="adj" fmla="val 50000"/>
            </a:avLst>
          </a:prstGeom>
          <a:solidFill>
            <a:srgbClr val="2563EB">
              <a:alpha val="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22494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CASES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導入事例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758952" y="1865376"/>
            <a:ext cx="3520440" cy="2240280"/>
          </a:xfrm>
          <a:prstGeom prst="roundRect">
            <a:avLst>
              <a:gd name="adj" fmla="val 7347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" y="1828800"/>
            <a:ext cx="3520440" cy="2240280"/>
          </a:xfrm>
          <a:prstGeom prst="roundRect">
            <a:avLst>
              <a:gd name="adj" fmla="val 7347"/>
            </a:avLst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2011680"/>
            <a:ext cx="676656" cy="27432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2011680"/>
            <a:ext cx="676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960120" y="23317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鳥取県歯科医師会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App歯っ鳥くん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0120" y="2971800"/>
            <a:ext cx="30632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3063240"/>
            <a:ext cx="3063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活用機能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60120" y="324612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会員管理 / 通知 / ファイル共有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60120" y="3566160"/>
            <a:ext cx="3063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60120" y="374904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情報共有スピード・到達率向上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53712" y="1865376"/>
            <a:ext cx="3520440" cy="2240280"/>
          </a:xfrm>
          <a:prstGeom prst="roundRect">
            <a:avLst>
              <a:gd name="adj" fmla="val 7347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526280" y="1828800"/>
            <a:ext cx="3520440" cy="2240280"/>
          </a:xfrm>
          <a:prstGeom prst="roundRect">
            <a:avLst>
              <a:gd name="adj" fmla="val 7347"/>
            </a:avLst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4709160" y="2011680"/>
            <a:ext cx="676656" cy="27432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/>
        </p:spPr>
      </p:sp>
      <p:sp>
        <p:nvSpPr>
          <p:cNvPr id="23" name="Text 21"/>
          <p:cNvSpPr/>
          <p:nvPr/>
        </p:nvSpPr>
        <p:spPr>
          <a:xfrm>
            <a:off x="4709160" y="2011680"/>
            <a:ext cx="676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54880" y="23317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パンチョ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診断コンテンツ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54880" y="2971800"/>
            <a:ext cx="30632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6" name="Text 24"/>
          <p:cNvSpPr/>
          <p:nvPr/>
        </p:nvSpPr>
        <p:spPr>
          <a:xfrm>
            <a:off x="4754880" y="3063240"/>
            <a:ext cx="3063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活用機能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754880" y="324612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ポップアップ / アンケート / クーポン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54880" y="3566160"/>
            <a:ext cx="3063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754880" y="374904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来店動機創出・ファン層の見える化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348472" y="1865376"/>
            <a:ext cx="3520440" cy="2240280"/>
          </a:xfrm>
          <a:prstGeom prst="roundRect">
            <a:avLst>
              <a:gd name="adj" fmla="val 7347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321040" y="1828800"/>
            <a:ext cx="3520440" cy="2240280"/>
          </a:xfrm>
          <a:prstGeom prst="roundRect">
            <a:avLst>
              <a:gd name="adj" fmla="val 7347"/>
            </a:avLst>
          </a:prstGeom>
          <a:solidFill>
            <a:srgbClr val="FFFFFF"/>
          </a:solidFill>
          <a:ln/>
        </p:spPr>
      </p:sp>
      <p:sp>
        <p:nvSpPr>
          <p:cNvPr id="32" name="Shape 30"/>
          <p:cNvSpPr/>
          <p:nvPr/>
        </p:nvSpPr>
        <p:spPr>
          <a:xfrm>
            <a:off x="8503920" y="2011680"/>
            <a:ext cx="676656" cy="27432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/>
        </p:spPr>
      </p:sp>
      <p:sp>
        <p:nvSpPr>
          <p:cNvPr id="33" name="Text 31"/>
          <p:cNvSpPr/>
          <p:nvPr/>
        </p:nvSpPr>
        <p:spPr>
          <a:xfrm>
            <a:off x="8503920" y="2011680"/>
            <a:ext cx="676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教育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549640" y="23317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天天中文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549640" y="2971800"/>
            <a:ext cx="30632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6" name="Text 34"/>
          <p:cNvSpPr/>
          <p:nvPr/>
        </p:nvSpPr>
        <p:spPr>
          <a:xfrm>
            <a:off x="8549640" y="3063240"/>
            <a:ext cx="3063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活用機能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549640" y="324612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会員管理 / コンテンツ配信 / 通知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549640" y="3566160"/>
            <a:ext cx="3063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8549640" y="374904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学習継続率向上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58952" y="4334256"/>
            <a:ext cx="3520440" cy="2240280"/>
          </a:xfrm>
          <a:prstGeom prst="roundRect">
            <a:avLst>
              <a:gd name="adj" fmla="val 7347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31520" y="4297680"/>
            <a:ext cx="3520440" cy="2240280"/>
          </a:xfrm>
          <a:prstGeom prst="roundRect">
            <a:avLst>
              <a:gd name="adj" fmla="val 7347"/>
            </a:avLst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914400" y="4480560"/>
            <a:ext cx="676656" cy="27432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/>
        </p:spPr>
      </p:sp>
      <p:sp>
        <p:nvSpPr>
          <p:cNvPr id="43" name="Text 41"/>
          <p:cNvSpPr/>
          <p:nvPr/>
        </p:nvSpPr>
        <p:spPr>
          <a:xfrm>
            <a:off x="914400" y="4480560"/>
            <a:ext cx="676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960120" y="480060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トラスポMAP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960120" y="5440680"/>
            <a:ext cx="30632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6" name="Text 44"/>
          <p:cNvSpPr/>
          <p:nvPr/>
        </p:nvSpPr>
        <p:spPr>
          <a:xfrm>
            <a:off x="960120" y="5532120"/>
            <a:ext cx="3063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活用機能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960120" y="571500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マップ / 投稿 / 通知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960120" y="6035040"/>
            <a:ext cx="3063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960120" y="621792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現場情報共有スピード改善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4553712" y="4334256"/>
            <a:ext cx="3520440" cy="2240280"/>
          </a:xfrm>
          <a:prstGeom prst="roundRect">
            <a:avLst>
              <a:gd name="adj" fmla="val 7347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4526280" y="4297680"/>
            <a:ext cx="3520440" cy="2240280"/>
          </a:xfrm>
          <a:prstGeom prst="roundRect">
            <a:avLst>
              <a:gd name="adj" fmla="val 7347"/>
            </a:avLst>
          </a:prstGeom>
          <a:solidFill>
            <a:srgbClr val="FFFFFF"/>
          </a:solidFill>
          <a:ln/>
        </p:spPr>
      </p:sp>
      <p:sp>
        <p:nvSpPr>
          <p:cNvPr id="52" name="Shape 50"/>
          <p:cNvSpPr/>
          <p:nvPr/>
        </p:nvSpPr>
        <p:spPr>
          <a:xfrm>
            <a:off x="4709160" y="4480560"/>
            <a:ext cx="676656" cy="27432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/>
        </p:spPr>
      </p:sp>
      <p:sp>
        <p:nvSpPr>
          <p:cNvPr id="53" name="Text 51"/>
          <p:cNvSpPr/>
          <p:nvPr/>
        </p:nvSpPr>
        <p:spPr>
          <a:xfrm>
            <a:off x="4709160" y="4480560"/>
            <a:ext cx="676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企業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4754880" y="480060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FBスカウト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公式アプリ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4754880" y="5440680"/>
            <a:ext cx="30632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6" name="Text 54"/>
          <p:cNvSpPr/>
          <p:nvPr/>
        </p:nvSpPr>
        <p:spPr>
          <a:xfrm>
            <a:off x="4754880" y="5532120"/>
            <a:ext cx="3063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活用機能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754880" y="571500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会員管理 / 通知 / コンテンツ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4754880" y="6035040"/>
            <a:ext cx="3063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754880" y="621792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案件流通の透明性向上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8348472" y="4334256"/>
            <a:ext cx="3520440" cy="2240280"/>
          </a:xfrm>
          <a:prstGeom prst="roundRect">
            <a:avLst>
              <a:gd name="adj" fmla="val 7347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321040" y="4297680"/>
            <a:ext cx="3520440" cy="2240280"/>
          </a:xfrm>
          <a:prstGeom prst="roundRect">
            <a:avLst>
              <a:gd name="adj" fmla="val 7347"/>
            </a:avLst>
          </a:prstGeom>
          <a:solidFill>
            <a:srgbClr val="FFFFFF"/>
          </a:solidFill>
          <a:ln/>
        </p:spPr>
      </p:sp>
      <p:sp>
        <p:nvSpPr>
          <p:cNvPr id="62" name="Shape 60"/>
          <p:cNvSpPr/>
          <p:nvPr/>
        </p:nvSpPr>
        <p:spPr>
          <a:xfrm>
            <a:off x="8503920" y="4480560"/>
            <a:ext cx="1115568" cy="27432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/>
        </p:spPr>
      </p:sp>
      <p:sp>
        <p:nvSpPr>
          <p:cNvPr id="63" name="Text 61"/>
          <p:cNvSpPr/>
          <p:nvPr/>
        </p:nvSpPr>
        <p:spPr>
          <a:xfrm>
            <a:off x="8503920" y="4480560"/>
            <a:ext cx="11155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コミュニティ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8549640" y="480060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たるファミ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公式アプリ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8549640" y="5440680"/>
            <a:ext cx="30632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6" name="Text 64"/>
          <p:cNvSpPr/>
          <p:nvPr/>
        </p:nvSpPr>
        <p:spPr>
          <a:xfrm>
            <a:off x="8549640" y="5532120"/>
            <a:ext cx="3063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活用機能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8549640" y="571500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会員限定 / 投稿 / 通知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8549640" y="6035040"/>
            <a:ext cx="3063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8549640" y="621792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コアファン満足度向上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2563EB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8B5CF6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1444752" cy="292608"/>
          </a:xfrm>
          <a:prstGeom prst="roundRect">
            <a:avLst>
              <a:gd name="adj" fmla="val 50000"/>
            </a:avLst>
          </a:prstGeom>
          <a:solidFill>
            <a:srgbClr val="2563EB">
              <a:alpha val="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13533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PRICING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エンドクライアントへの提案価格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758952" y="1956816"/>
            <a:ext cx="5349240" cy="4114800"/>
          </a:xfrm>
          <a:prstGeom prst="roundRect">
            <a:avLst>
              <a:gd name="adj" fmla="val 4000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" y="1920240"/>
            <a:ext cx="534924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21031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利用料金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05840" y="2606040"/>
            <a:ext cx="4800600" cy="512064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/>
        </p:spPr>
      </p:sp>
      <p:sp>
        <p:nvSpPr>
          <p:cNvPr id="14" name="Text 12"/>
          <p:cNvSpPr/>
          <p:nvPr/>
        </p:nvSpPr>
        <p:spPr>
          <a:xfrm>
            <a:off x="1188720" y="2606040"/>
            <a:ext cx="2743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2週間無料トライアル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931920" y="2606040"/>
            <a:ext cx="1737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¥0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005840" y="3227832"/>
            <a:ext cx="48006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1188720" y="3227832"/>
            <a:ext cx="2743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アカウント基本利用料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31920" y="3227832"/>
            <a:ext cx="1737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¥3,000/月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005840" y="3849624"/>
            <a:ext cx="4800600" cy="512064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/>
        </p:spPr>
      </p:sp>
      <p:sp>
        <p:nvSpPr>
          <p:cNvPr id="20" name="Text 18"/>
          <p:cNvSpPr/>
          <p:nvPr/>
        </p:nvSpPr>
        <p:spPr>
          <a:xfrm>
            <a:off x="1188720" y="3849624"/>
            <a:ext cx="2743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Webアプリ公開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931920" y="3849624"/>
            <a:ext cx="1737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¥2,000/URL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05840" y="4471416"/>
            <a:ext cx="48006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1188720" y="4471416"/>
            <a:ext cx="2743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iOSアプリ公開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931920" y="4471416"/>
            <a:ext cx="1737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¥5,000/月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005840" y="5093208"/>
            <a:ext cx="4800600" cy="512064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/>
        </p:spPr>
      </p:sp>
      <p:sp>
        <p:nvSpPr>
          <p:cNvPr id="26" name="Text 24"/>
          <p:cNvSpPr/>
          <p:nvPr/>
        </p:nvSpPr>
        <p:spPr>
          <a:xfrm>
            <a:off x="1188720" y="5093208"/>
            <a:ext cx="2743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Androidアプリ公開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931920" y="5093208"/>
            <a:ext cx="1737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¥5,000/月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36792" y="1956816"/>
            <a:ext cx="5349240" cy="4114800"/>
          </a:xfrm>
          <a:prstGeom prst="roundRect">
            <a:avLst>
              <a:gd name="adj" fmla="val 4000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309360" y="1920240"/>
            <a:ext cx="534924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0" y="21031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制作サービス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611112" y="2642616"/>
            <a:ext cx="4800600" cy="1051560"/>
          </a:xfrm>
          <a:prstGeom prst="roundRect">
            <a:avLst>
              <a:gd name="adj" fmla="val 15652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6583680" y="2606040"/>
            <a:ext cx="4800600" cy="1051560"/>
          </a:xfrm>
          <a:prstGeom prst="roundRect">
            <a:avLst>
              <a:gd name="adj" fmla="val 15652"/>
            </a:avLst>
          </a:prstGeom>
          <a:solidFill>
            <a:srgbClr val="FFFFFF"/>
          </a:solidFill>
          <a:ln/>
        </p:spPr>
      </p:sp>
      <p:sp>
        <p:nvSpPr>
          <p:cNvPr id="33" name="Shape 31"/>
          <p:cNvSpPr/>
          <p:nvPr/>
        </p:nvSpPr>
        <p:spPr>
          <a:xfrm>
            <a:off x="6592824" y="2615184"/>
            <a:ext cx="478231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4" name="Text 32"/>
          <p:cNvSpPr/>
          <p:nvPr/>
        </p:nvSpPr>
        <p:spPr>
          <a:xfrm>
            <a:off x="6766560" y="27432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オフィシャル制作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326880" y="27432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¥100,000〜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66560" y="30632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企画〜構築を公式チームが代行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611112" y="3877056"/>
            <a:ext cx="4800600" cy="1051560"/>
          </a:xfrm>
          <a:prstGeom prst="roundRect">
            <a:avLst>
              <a:gd name="adj" fmla="val 15652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583680" y="3840480"/>
            <a:ext cx="4800600" cy="1051560"/>
          </a:xfrm>
          <a:prstGeom prst="roundRect">
            <a:avLst>
              <a:gd name="adj" fmla="val 15652"/>
            </a:avLst>
          </a:prstGeom>
          <a:solidFill>
            <a:srgbClr val="FFFFFF"/>
          </a:solidFill>
          <a:ln/>
        </p:spPr>
      </p:sp>
      <p:sp>
        <p:nvSpPr>
          <p:cNvPr id="39" name="Shape 37"/>
          <p:cNvSpPr/>
          <p:nvPr/>
        </p:nvSpPr>
        <p:spPr>
          <a:xfrm>
            <a:off x="6592824" y="3849624"/>
            <a:ext cx="4782312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0" name="Text 38"/>
          <p:cNvSpPr/>
          <p:nvPr/>
        </p:nvSpPr>
        <p:spPr>
          <a:xfrm>
            <a:off x="6766560" y="39776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3hパック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9326880" y="39776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¥35,000/回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766560" y="42976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ローンチ記念半額（通常¥70,000）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オンライン3時間リアルタイム制作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11112" y="5111496"/>
            <a:ext cx="4800600" cy="1051560"/>
          </a:xfrm>
          <a:prstGeom prst="roundRect">
            <a:avLst>
              <a:gd name="adj" fmla="val 15652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583680" y="5074920"/>
            <a:ext cx="4800600" cy="1051560"/>
          </a:xfrm>
          <a:prstGeom prst="roundRect">
            <a:avLst>
              <a:gd name="adj" fmla="val 15652"/>
            </a:avLst>
          </a:prstGeom>
          <a:solidFill>
            <a:srgbClr val="FFFFFF"/>
          </a:solidFill>
          <a:ln/>
        </p:spPr>
      </p:sp>
      <p:sp>
        <p:nvSpPr>
          <p:cNvPr id="45" name="Shape 43"/>
          <p:cNvSpPr/>
          <p:nvPr/>
        </p:nvSpPr>
        <p:spPr>
          <a:xfrm>
            <a:off x="6592824" y="5084064"/>
            <a:ext cx="4782312" cy="6400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6" name="Text 44"/>
          <p:cNvSpPr/>
          <p:nvPr/>
        </p:nvSpPr>
        <p:spPr>
          <a:xfrm>
            <a:off x="6766560" y="521208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エムスタFull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9326880" y="52120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個別見積り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6766560" y="553212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独自機能開発・高度UI/UX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既存アプリリプレイスに対応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31520" y="6263640"/>
            <a:ext cx="10698480" cy="411480"/>
          </a:xfrm>
          <a:prstGeom prst="roundRect">
            <a:avLst>
              <a:gd name="adj" fmla="val 48889"/>
            </a:avLst>
          </a:prstGeom>
          <a:solidFill>
            <a:srgbClr val="DBEAFE"/>
          </a:solidFill>
          <a:ln/>
        </p:spPr>
      </p:sp>
      <p:sp>
        <p:nvSpPr>
          <p:cNvPr id="50" name="Text 48"/>
          <p:cNvSpPr/>
          <p:nvPr/>
        </p:nvSpPr>
        <p:spPr>
          <a:xfrm>
            <a:off x="914400" y="626364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 この月額課金に対してレベニューシェアが発生 → パートナーの継続収益に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2563EB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8B5CF6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2468880" cy="292608"/>
          </a:xfrm>
          <a:prstGeom prst="roundRect">
            <a:avLst>
              <a:gd name="adj" fmla="val 50000"/>
            </a:avLst>
          </a:prstGeom>
          <a:solidFill>
            <a:srgbClr val="2563EB">
              <a:alpha val="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GETTING STARTED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パートナー導入の流れ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31520" y="1600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最短即日でパートナー登録し、すぐに制作を開始できます。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3192" y="2779776"/>
            <a:ext cx="1737360" cy="3200400"/>
          </a:xfrm>
          <a:prstGeom prst="roundRect">
            <a:avLst>
              <a:gd name="adj" fmla="val 9474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365760" y="2743200"/>
            <a:ext cx="1737360" cy="320040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868680" y="2926080"/>
            <a:ext cx="731520" cy="731520"/>
          </a:xfrm>
          <a:prstGeom prst="ellipse">
            <a:avLst/>
          </a:prstGeom>
          <a:solidFill>
            <a:srgbClr val="2563EB">
              <a:alpha val="12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29260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65760" y="37947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5760" y="406908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お問い合わせ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443484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資料DLまたは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オンライン相談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965960" y="3154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331720" y="2779776"/>
            <a:ext cx="1737360" cy="3200400"/>
          </a:xfrm>
          <a:prstGeom prst="roundRect">
            <a:avLst>
              <a:gd name="adj" fmla="val 9474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304288" y="2743200"/>
            <a:ext cx="1737360" cy="320040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2807208" y="2926080"/>
            <a:ext cx="731520" cy="73152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2807208" y="29260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304288" y="37947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304288" y="406908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ヒアリング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395728" y="443484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事業内容と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活用方針を確認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904488" y="3154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270248" y="2779776"/>
            <a:ext cx="1737360" cy="3200400"/>
          </a:xfrm>
          <a:prstGeom prst="roundRect">
            <a:avLst>
              <a:gd name="adj" fmla="val 9474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242816" y="2743200"/>
            <a:ext cx="1737360" cy="320040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4745736" y="2926080"/>
            <a:ext cx="731520" cy="731520"/>
          </a:xfrm>
          <a:prstGeom prst="ellipse">
            <a:avLst/>
          </a:prstGeom>
          <a:solidFill>
            <a:srgbClr val="10B981">
              <a:alpha val="12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4745736" y="29260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4242816" y="37947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242816" y="406908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契約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334256" y="443484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パートナー契約の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締結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843016" y="3154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208776" y="2779776"/>
            <a:ext cx="1737360" cy="3200400"/>
          </a:xfrm>
          <a:prstGeom prst="roundRect">
            <a:avLst>
              <a:gd name="adj" fmla="val 9474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6181344" y="2743200"/>
            <a:ext cx="1737360" cy="320040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6684264" y="2926080"/>
            <a:ext cx="731520" cy="731520"/>
          </a:xfrm>
          <a:prstGeom prst="ellipse">
            <a:avLst/>
          </a:prstGeom>
          <a:solidFill>
            <a:srgbClr val="F59E0B">
              <a:alpha val="12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6684264" y="29260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181344" y="37947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181344" y="406908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アカウント発行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272784" y="443484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プロモード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アカウント発行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781544" y="3154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8147304" y="2779776"/>
            <a:ext cx="1737360" cy="3200400"/>
          </a:xfrm>
          <a:prstGeom prst="roundRect">
            <a:avLst>
              <a:gd name="adj" fmla="val 9474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119872" y="2743200"/>
            <a:ext cx="1737360" cy="320040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/>
        </p:spPr>
      </p:sp>
      <p:sp>
        <p:nvSpPr>
          <p:cNvPr id="45" name="Shape 43"/>
          <p:cNvSpPr/>
          <p:nvPr/>
        </p:nvSpPr>
        <p:spPr>
          <a:xfrm>
            <a:off x="8622792" y="2926080"/>
            <a:ext cx="731520" cy="731520"/>
          </a:xfrm>
          <a:prstGeom prst="ellipse">
            <a:avLst/>
          </a:prstGeom>
          <a:solidFill>
            <a:srgbClr val="0EA5E9">
              <a:alpha val="12000"/>
            </a:srgbClr>
          </a:solidFill>
          <a:ln/>
        </p:spPr>
      </p:sp>
      <p:sp>
        <p:nvSpPr>
          <p:cNvPr id="46" name="Text 44"/>
          <p:cNvSpPr/>
          <p:nvPr/>
        </p:nvSpPr>
        <p:spPr>
          <a:xfrm>
            <a:off x="8622792" y="29260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🛠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8119872" y="37947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119872" y="406908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制作開始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211312" y="443484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クライアント案件の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制作スタート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9720072" y="3154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10085832" y="2779776"/>
            <a:ext cx="1737360" cy="3200400"/>
          </a:xfrm>
          <a:prstGeom prst="roundRect">
            <a:avLst>
              <a:gd name="adj" fmla="val 9474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10058400" y="2743200"/>
            <a:ext cx="1737360" cy="320040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/>
        </p:spPr>
      </p:sp>
      <p:sp>
        <p:nvSpPr>
          <p:cNvPr id="53" name="Shape 51"/>
          <p:cNvSpPr/>
          <p:nvPr/>
        </p:nvSpPr>
        <p:spPr>
          <a:xfrm>
            <a:off x="10561320" y="2926080"/>
            <a:ext cx="731520" cy="731520"/>
          </a:xfrm>
          <a:prstGeom prst="ellipse">
            <a:avLst/>
          </a:prstGeom>
          <a:solidFill>
            <a:srgbClr val="2563EB">
              <a:alpha val="12000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10561320" y="29260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💰</a:t>
            </a:r>
            <a:endParaRPr lang="en-US" sz="2200" dirty="0"/>
          </a:p>
        </p:txBody>
      </p:sp>
      <p:sp>
        <p:nvSpPr>
          <p:cNvPr id="55" name="Text 53"/>
          <p:cNvSpPr/>
          <p:nvPr/>
        </p:nvSpPr>
        <p:spPr>
          <a:xfrm>
            <a:off x="10058400" y="37947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10058400" y="406908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収益化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10149840" y="443484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レベニューシェアで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継続収益を獲得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2563EB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8B5CF6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932688" cy="292608"/>
          </a:xfrm>
          <a:prstGeom prst="roundRect">
            <a:avLst>
              <a:gd name="adj" fmla="val 50000"/>
            </a:avLst>
          </a:prstGeom>
          <a:solidFill>
            <a:srgbClr val="2563EB">
              <a:alpha val="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8412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FAQ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よくある質問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758952" y="1865376"/>
            <a:ext cx="10698480" cy="804672"/>
          </a:xfrm>
          <a:prstGeom prst="roundRect">
            <a:avLst>
              <a:gd name="adj" fmla="val 20455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" y="1828800"/>
            <a:ext cx="10698480" cy="804672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0120" y="196596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19659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08760" y="187452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代理店として利用できますか？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508760" y="221284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はい。パートナー制度およびレベニューシェア制度をご用意しています。紹介パートナーとしての参加も可能です。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58952" y="2825496"/>
            <a:ext cx="10698480" cy="804672"/>
          </a:xfrm>
          <a:prstGeom prst="roundRect">
            <a:avLst>
              <a:gd name="adj" fmla="val 20455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731520" y="2788920"/>
            <a:ext cx="10698480" cy="804672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960120" y="292608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2926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508760" y="283464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パートナー登録に費用はかかりますか？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508760" y="317296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パートナー登録は無料です。まずはオンライン相談で詳細をご確認ください。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58952" y="3785616"/>
            <a:ext cx="10698480" cy="804672"/>
          </a:xfrm>
          <a:prstGeom prst="roundRect">
            <a:avLst>
              <a:gd name="adj" fmla="val 20455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31520" y="3749040"/>
            <a:ext cx="10698480" cy="804672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960120" y="388620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/>
        </p:spPr>
      </p:sp>
      <p:sp>
        <p:nvSpPr>
          <p:cNvPr id="25" name="Text 23"/>
          <p:cNvSpPr/>
          <p:nvPr/>
        </p:nvSpPr>
        <p:spPr>
          <a:xfrm>
            <a:off x="960120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508760" y="379476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制作を依頼することもできますか？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508760" y="413308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はい。オフィシャル制作（¥100,000〜）、即日3hパック（¥35,000）、エムスタFullをご用意しています。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58952" y="4745736"/>
            <a:ext cx="10698480" cy="804672"/>
          </a:xfrm>
          <a:prstGeom prst="roundRect">
            <a:avLst>
              <a:gd name="adj" fmla="val 20455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731520" y="4709160"/>
            <a:ext cx="10698480" cy="804672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960120" y="484632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/>
        </p:spPr>
      </p:sp>
      <p:sp>
        <p:nvSpPr>
          <p:cNvPr id="31" name="Text 29"/>
          <p:cNvSpPr/>
          <p:nvPr/>
        </p:nvSpPr>
        <p:spPr>
          <a:xfrm>
            <a:off x="960120" y="4846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508760" y="475488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独自機能の開発はできますか？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508760" y="50932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はい。エムスタFullにて個別要件に対応可能です。既存アプリのリプレイスにも対応します。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58952" y="5705856"/>
            <a:ext cx="10698480" cy="804672"/>
          </a:xfrm>
          <a:prstGeom prst="roundRect">
            <a:avLst>
              <a:gd name="adj" fmla="val 20455"/>
            </a:avLst>
          </a:prstGeom>
          <a:solidFill>
            <a:srgbClr val="000000">
              <a:alpha val="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31520" y="5669280"/>
            <a:ext cx="10698480" cy="804672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960120" y="580644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/>
        </p:spPr>
      </p:sp>
      <p:sp>
        <p:nvSpPr>
          <p:cNvPr id="37" name="Text 35"/>
          <p:cNvSpPr/>
          <p:nvPr/>
        </p:nvSpPr>
        <p:spPr>
          <a:xfrm>
            <a:off x="960120" y="5806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508760" y="571500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クライアントへの請求はどうなりますか？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508760" y="605332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利用料金はエンドクライアントに直接請求。パートナーには月額課金に対するレベニューシェアが還元されます。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4" name="Shape 2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0" y="4572000"/>
            <a:ext cx="4572000" cy="4572000"/>
          </a:xfrm>
          <a:prstGeom prst="ellipse">
            <a:avLst/>
          </a:prstGeom>
          <a:solidFill>
            <a:srgbClr val="A78BFA">
              <a:alpha val="6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315200" y="-914400"/>
            <a:ext cx="2743200" cy="2743200"/>
          </a:xfrm>
          <a:prstGeom prst="ellipse">
            <a:avLst/>
          </a:prstGeom>
          <a:solidFill>
            <a:srgbClr val="3B82F6">
              <a:alpha val="4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-2743200" y="-2743200"/>
            <a:ext cx="9144000" cy="9144000"/>
          </a:xfrm>
          <a:prstGeom prst="ellipse">
            <a:avLst/>
          </a:prstGeom>
          <a:solidFill>
            <a:srgbClr val="2563EB">
              <a:alpha val="1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8229600" y="2743200"/>
            <a:ext cx="8229600" cy="8229600"/>
          </a:xfrm>
          <a:prstGeom prst="ellipse">
            <a:avLst/>
          </a:prstGeom>
          <a:solidFill>
            <a:srgbClr val="8B5CF6">
              <a:alpha val="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0" y="0"/>
            <a:ext cx="6095848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Shape 8"/>
          <p:cNvSpPr/>
          <p:nvPr/>
        </p:nvSpPr>
        <p:spPr>
          <a:xfrm>
            <a:off x="6095848" y="0"/>
            <a:ext cx="6095848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097280"/>
            <a:ext cx="9144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まずは、</a:t>
            </a:r>
            <a:endParaRPr lang="en-US" sz="3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お気軽にご相談ください。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731520" y="26517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パートナーになる最初のステップは、オンライン相談から。</a:t>
            </a:r>
            <a:endParaRPr lang="en-US" sz="12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制度の詳細、収益モデル、貴社での活用方法など、何でもお気軽にご質問ください。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49808" y="3776472"/>
            <a:ext cx="3520440" cy="1920240"/>
          </a:xfrm>
          <a:prstGeom prst="roundRect">
            <a:avLst>
              <a:gd name="adj" fmla="val 8571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0" y="3749040"/>
            <a:ext cx="3520440" cy="1920240"/>
          </a:xfrm>
          <a:prstGeom prst="roundRect">
            <a:avLst>
              <a:gd name="adj" fmla="val 8571"/>
            </a:avLst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0664" y="3758184"/>
            <a:ext cx="3502152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6" name="Shape 14"/>
          <p:cNvSpPr/>
          <p:nvPr/>
        </p:nvSpPr>
        <p:spPr>
          <a:xfrm>
            <a:off x="1005840" y="4023360"/>
            <a:ext cx="548640" cy="548640"/>
          </a:xfrm>
          <a:prstGeom prst="ellipse">
            <a:avLst/>
          </a:prstGeom>
          <a:solidFill>
            <a:srgbClr val="2563EB">
              <a:alpha val="18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4023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691640" y="40233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オンライン相談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691640" y="43891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Spirカレンダーから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日程を選んで予約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3776472"/>
            <a:ext cx="3520440" cy="1920240"/>
          </a:xfrm>
          <a:prstGeom prst="roundRect">
            <a:avLst>
              <a:gd name="adj" fmla="val 8571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526280" y="3749040"/>
            <a:ext cx="3520440" cy="1920240"/>
          </a:xfrm>
          <a:prstGeom prst="roundRect">
            <a:avLst>
              <a:gd name="adj" fmla="val 8571"/>
            </a:avLst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35424" y="3758184"/>
            <a:ext cx="3502152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3" name="Shape 21"/>
          <p:cNvSpPr/>
          <p:nvPr/>
        </p:nvSpPr>
        <p:spPr>
          <a:xfrm>
            <a:off x="4800600" y="4023360"/>
            <a:ext cx="548640" cy="548640"/>
          </a:xfrm>
          <a:prstGeom prst="ellipse">
            <a:avLst/>
          </a:prstGeom>
          <a:solidFill>
            <a:srgbClr val="8B5CF6">
              <a:alpha val="18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4800600" y="4023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📄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486400" y="40233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パートナー資料DL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486400" y="43891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制度概要・収益モデルを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まとめたPDF資料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339328" y="3776472"/>
            <a:ext cx="3520440" cy="1920240"/>
          </a:xfrm>
          <a:prstGeom prst="roundRect">
            <a:avLst>
              <a:gd name="adj" fmla="val 8571"/>
            </a:avLst>
          </a:prstGeom>
          <a:solidFill>
            <a:srgbClr val="000000">
              <a:alpha val="1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8321040" y="3749040"/>
            <a:ext cx="3520440" cy="1920240"/>
          </a:xfrm>
          <a:prstGeom prst="roundRect">
            <a:avLst>
              <a:gd name="adj" fmla="val 8571"/>
            </a:avLst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30184" y="3758184"/>
            <a:ext cx="3502152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0" name="Shape 28"/>
          <p:cNvSpPr/>
          <p:nvPr/>
        </p:nvSpPr>
        <p:spPr>
          <a:xfrm>
            <a:off x="8595360" y="4023360"/>
            <a:ext cx="548640" cy="548640"/>
          </a:xfrm>
          <a:prstGeom prst="ellipse">
            <a:avLst/>
          </a:prstGeom>
          <a:solidFill>
            <a:srgbClr val="10B981">
              <a:alpha val="18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8595360" y="4023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🚀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281160" y="40233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無料トライアル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281160" y="43891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2週間無料で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MS Studioを体験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31520" y="58521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https://msta.app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1520" y="6126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https://msta.app/partners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3152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R117 Inc.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R117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MS Studio パートナー向け資料</dc:title>
  <dc:subject>MS Studio Partner Program</dc:subject>
  <dc:creator>R117 Inc.</dc:creator>
  <cp:lastModifiedBy>R117 Inc.</cp:lastModifiedBy>
  <cp:revision>1</cp:revision>
  <dcterms:created xsi:type="dcterms:W3CDTF">2026-05-25T10:54:33Z</dcterms:created>
  <dcterms:modified xsi:type="dcterms:W3CDTF">2026-05-25T10:54:33Z</dcterms:modified>
</cp:coreProperties>
</file>